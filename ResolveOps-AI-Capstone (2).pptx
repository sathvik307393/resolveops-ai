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I'm presenting ResolveOps AI — my cloud native DevOps capstone project. It's an AI-powered SRE / AIOps platform deployed on Azure AKS using microservices, Terraform IaC, GitHub Actions CI/CD, and Azure managed services. I'll walk through the problem, the architecture, CI/CD, security, and a live demo 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Modern engineering teams face a crisis of signal overload. GitHub CI/CD failures, Azure alerts, AWS anomalies, and Kubernetes pod crashes all need triage simultaneously. Manual root cause analysis is too slow. Teams need an intelligent platform that correlates signals, surfaces root causes, and recommends fixes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ResolveOps AI ingests data from GitHub CI/CD pipelines, Azure resources, and AWS resources. It applies AI-driven root cause analysis, sends intelligent notifications, and presents everything in a unified dashboard showing incidents, costs, health scores, and recommendations.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service has a single responsibility. The frontend calls only the API Gateway, which routes requests to the correct intelligence service. Auth is centralized. The AI RCA service aggregates findings. The notification service decouples alert delivery from business logic. All services communicate via internal Kubernetes ClusterIP.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actual Azure architecture diagram for ResolveOps AI. The VNet (172.16.0.0/16) contains four subnets: Application Gateway subnet with WAF, AzureBastion subnet, AKS Private subnet with Dev and Prod namespaces, Private Endpoint subnet for ACR, Key Vault, OpenAI, Storage, and Service Bus. All PaaS services use private endpoints. Microsoft Entra ID handles user authentication for Devs and Stakeholders.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two pipelines. The service pipeline runs on every push to main: unit tests, SonarQube SAST, Snyk dependency scan, Docker build, Trivy image scan, push to ACR, then deploy via Kustomize overlays to AKS. The infrastructure pipeline runs Terraform with security scanning (tfsec, Checkov), plan review, manual approval, then apply. All credentials are stored in GitHub Secrets.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AKS cluster hosts two namespaces: resolveops-dev and resolveops-prod. Each namespace contains all 8 services deployed as Kubernetes Deployments with liveness and readiness probes, resource requests and limits, and multiple replicas. Backend services use ClusterIP. The frontend and API Gateway are exposed through an NGINX Ingress Controller. Namespace isolation prevents cross-environment traffic.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Authentication uses Microsoft Entra ID with OAuth2 and app registration. Users receive a JWT token which is validated by the auth-service. Kubernetes RBAC ClusterRoleBindings map Entra ID groups to namespaces — ResolveOps-Dev-Users can only access the dev namespace, ResolveOps-Prod-Users can only access prod. No service account has cluster-admin privileges.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Workload Identity eliminates static credentials entirely. Each pod has a Kubernetes ServiceAccount annotated with an Azure Managed Identity client ID. AKS issues an OIDC token to the pod, which Azure AD validates via a Federated Credential. The pod then receives a short-lived Azure access token scoped to the exact resources it needs — Storage, Key Vault, Service Bus, or OpenAI.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user opens the dashboard, which calls the API Gateway. The gateway validates the JWT via auth-service, then routes to the requested intelligence service. For example, a GitHub failure triggers the github-intelligence-service, which passes findings to ai-rca-service. The AI generates a root cause and remediation steps, which are sent via notification-service as email or Slack alerts, and displayed in the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is applied at every layer. In the pipeline: SonarQube, Snyk, and Trivy scan before any image reaches ACR. Terraform is scanned with Checkov and tfsec. At runtime: Workload Identity means no credentials in pods. Kubernetes Secrets hold config values. Reliability is built-in via probes, replicas, and resource limits. Observability uses Azure Monitor, Log Analytics, and Application Insights.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During implementation, the biggest challenge was balancing enterprise architecture with the actual capstone requirement. Initially, we moved toward a full 12-repo microservice organization, but later aligned the project with the required 3-repo structure. We also improved the security model by moving application secrets into Azure Key Vault instead of Kubernetes Secrets. Another key challenge was private AKS deployment, because GitHub-hosted runners cannot directly reach a private AKS API server. For Terraform, we kept the design modular but simple, with optional toggles to control cost. Finally, all security scans were made mandatory so that vulnerable code, images, or infrastructure cannot move forward in the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demo starts with the Terraform pipeline creating infrastructure. Then the service pipeline builds and pushes the image. The config repo deploys to AKS. We verify the frontend loads, the API is healthy, pods access Azure Storage via Workload Identity (no credentials!), and the AI RCA works end-to-end with notification delivery. Future work includes Argo CD for GitOps, Prometheus/Grafana for metrics, Helm umbrella chart, network policies, and multi-region DR.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slideLayout" Target="../slideLayouts/slideLayout1.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slideLayout" Target="../slideLayouts/slideLayout1.xml"/><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image" Target="../media/image-6-11.png"/><Relationship Id="rId12" Type="http://schemas.openxmlformats.org/officeDocument/2006/relationships/image" Target="../media/image-6-12.png"/><Relationship Id="rId13" Type="http://schemas.openxmlformats.org/officeDocument/2006/relationships/image" Target="../media/image-6-13.png"/><Relationship Id="rId14" Type="http://schemas.openxmlformats.org/officeDocument/2006/relationships/slideLayout" Target="../slideLayouts/slideLayout1.xml"/><Relationship Id="rId1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slideLayout" Target="../slideLayouts/slideLayout1.xml"/><Relationship Id="rId10"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1.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slideLayout" Target="../slideLayouts/slideLayout1.xml"/><Relationship Id="rId9"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60E1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78D4"/>
          </a:solidFill>
          <a:ln/>
        </p:spPr>
      </p:sp>
      <p:sp>
        <p:nvSpPr>
          <p:cNvPr id="3" name="Shape 1"/>
          <p:cNvSpPr/>
          <p:nvPr/>
        </p:nvSpPr>
        <p:spPr>
          <a:xfrm>
            <a:off x="6217920" y="-457200"/>
            <a:ext cx="3657600" cy="3657600"/>
          </a:xfrm>
          <a:prstGeom prst="ellipse">
            <a:avLst/>
          </a:prstGeom>
          <a:solidFill>
            <a:srgbClr val="0077B6">
              <a:alpha val="15000"/>
            </a:srgbClr>
          </a:solidFill>
          <a:ln/>
        </p:spPr>
      </p:sp>
      <p:sp>
        <p:nvSpPr>
          <p:cNvPr id="4" name="Shape 2"/>
          <p:cNvSpPr/>
          <p:nvPr/>
        </p:nvSpPr>
        <p:spPr>
          <a:xfrm>
            <a:off x="6583680" y="-182880"/>
            <a:ext cx="2743200" cy="2743200"/>
          </a:xfrm>
          <a:prstGeom prst="ellipse">
            <a:avLst/>
          </a:prstGeom>
          <a:solidFill>
            <a:srgbClr val="0078D4">
              <a:alpha val="22000"/>
            </a:srgbClr>
          </a:solidFill>
          <a:ln/>
        </p:spPr>
      </p:sp>
      <p:pic>
        <p:nvPicPr>
          <p:cNvPr id="5" name="Image 0" descr="preencoded.png">    </p:cNvPr>
          <p:cNvPicPr>
            <a:picLocks noChangeAspect="1"/>
          </p:cNvPicPr>
          <p:nvPr/>
        </p:nvPicPr>
        <p:blipFill>
          <a:blip r:embed="rId1"/>
          <a:stretch>
            <a:fillRect/>
          </a:stretch>
        </p:blipFill>
        <p:spPr>
          <a:xfrm>
            <a:off x="365760" y="274320"/>
            <a:ext cx="502920" cy="502920"/>
          </a:xfrm>
          <a:prstGeom prst="rect">
            <a:avLst/>
          </a:prstGeom>
        </p:spPr>
      </p:pic>
      <p:sp>
        <p:nvSpPr>
          <p:cNvPr id="6" name="Text 3"/>
          <p:cNvSpPr/>
          <p:nvPr/>
        </p:nvSpPr>
        <p:spPr>
          <a:xfrm>
            <a:off x="960120" y="292608"/>
            <a:ext cx="4572000" cy="457200"/>
          </a:xfrm>
          <a:prstGeom prst="rect">
            <a:avLst/>
          </a:prstGeom>
          <a:noFill/>
          <a:ln/>
        </p:spPr>
        <p:txBody>
          <a:bodyPr wrap="square" lIns="0" tIns="0" rIns="0" bIns="0" rtlCol="0" anchor="ctr"/>
          <a:lstStyle/>
          <a:p>
            <a:pPr indent="0" marL="0">
              <a:buNone/>
            </a:pPr>
            <a:r>
              <a:rPr lang="en-US" sz="1600" b="1" dirty="0">
                <a:solidFill>
                  <a:srgbClr val="00B4D8"/>
                </a:solidFill>
                <a:latin typeface="Calibri" pitchFamily="34" charset="0"/>
                <a:ea typeface="Calibri" pitchFamily="34" charset="-122"/>
                <a:cs typeface="Calibri" pitchFamily="34" charset="-120"/>
              </a:rPr>
              <a:t>ResolveOps AI</a:t>
            </a:r>
            <a:endParaRPr lang="en-US" sz="1600" dirty="0"/>
          </a:p>
        </p:txBody>
      </p:sp>
      <p:sp>
        <p:nvSpPr>
          <p:cNvPr id="7" name="Text 4"/>
          <p:cNvSpPr/>
          <p:nvPr/>
        </p:nvSpPr>
        <p:spPr>
          <a:xfrm>
            <a:off x="365760" y="1005840"/>
            <a:ext cx="5486400" cy="146304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Cloud Native DevOps</a:t>
            </a:r>
            <a:endParaRPr lang="en-US" sz="4200" dirty="0"/>
          </a:p>
          <a:p>
            <a:pPr indent="0" marL="0">
              <a:buNone/>
            </a:pPr>
            <a:r>
              <a:rPr lang="en-US" sz="4200" b="1" dirty="0">
                <a:solidFill>
                  <a:srgbClr val="FFFFFF"/>
                </a:solidFill>
                <a:latin typeface="Cambria" pitchFamily="34" charset="0"/>
                <a:ea typeface="Cambria" pitchFamily="34" charset="-122"/>
                <a:cs typeface="Cambria" pitchFamily="34" charset="-120"/>
              </a:rPr>
              <a:t>Capstone</a:t>
            </a:r>
            <a:endParaRPr lang="en-US" sz="4200" dirty="0"/>
          </a:p>
        </p:txBody>
      </p:sp>
      <p:sp>
        <p:nvSpPr>
          <p:cNvPr id="8" name="Text 5"/>
          <p:cNvSpPr/>
          <p:nvPr/>
        </p:nvSpPr>
        <p:spPr>
          <a:xfrm>
            <a:off x="365760" y="2514600"/>
            <a:ext cx="5943600" cy="365760"/>
          </a:xfrm>
          <a:prstGeom prst="rect">
            <a:avLst/>
          </a:prstGeom>
          <a:noFill/>
          <a:ln/>
        </p:spPr>
        <p:txBody>
          <a:bodyPr wrap="square" lIns="0" tIns="0" rIns="0" bIns="0" rtlCol="0" anchor="ctr"/>
          <a:lstStyle/>
          <a:p>
            <a:pPr indent="0" marL="0">
              <a:buNone/>
            </a:pPr>
            <a:r>
              <a:rPr lang="en-US" sz="1400" i="1" dirty="0">
                <a:solidFill>
                  <a:srgbClr val="00B4D8"/>
                </a:solidFill>
                <a:latin typeface="Calibri" pitchFamily="34" charset="0"/>
                <a:ea typeface="Calibri" pitchFamily="34" charset="-122"/>
                <a:cs typeface="Calibri" pitchFamily="34" charset="-120"/>
              </a:rPr>
              <a:t>AI-Powered SRE / AIOps Platform on Azure AKS</a:t>
            </a:r>
            <a:endParaRPr lang="en-US" sz="1400" dirty="0"/>
          </a:p>
        </p:txBody>
      </p:sp>
      <p:sp>
        <p:nvSpPr>
          <p:cNvPr id="9" name="Shape 6"/>
          <p:cNvSpPr/>
          <p:nvPr/>
        </p:nvSpPr>
        <p:spPr>
          <a:xfrm>
            <a:off x="365760" y="3017520"/>
            <a:ext cx="1920240" cy="502920"/>
          </a:xfrm>
          <a:prstGeom prst="roundRect">
            <a:avLst>
              <a:gd name="adj" fmla="val 14545"/>
            </a:avLst>
          </a:prstGeom>
          <a:solidFill>
            <a:srgbClr val="0F2240"/>
          </a:solidFill>
          <a:ln w="12700">
            <a:solidFill>
              <a:srgbClr val="00B4D8"/>
            </a:solidFill>
            <a:prstDash val="solid"/>
          </a:ln>
          <a:effectLst>
            <a:outerShdw sx="100000" sy="100000" kx="0" ky="0" algn="bl" rotWithShape="0" blurRad="127000" dist="38100" dir="2700000">
              <a:srgbClr val="000000">
                <a:alpha val="25000"/>
              </a:srgbClr>
            </a:outerShdw>
          </a:effectLst>
        </p:spPr>
      </p:sp>
      <p:pic>
        <p:nvPicPr>
          <p:cNvPr id="10" name="Image 1" descr="preencoded.png">    </p:cNvPr>
          <p:cNvPicPr>
            <a:picLocks noChangeAspect="1"/>
          </p:cNvPicPr>
          <p:nvPr/>
        </p:nvPicPr>
        <p:blipFill>
          <a:blip r:embed="rId2"/>
          <a:stretch>
            <a:fillRect/>
          </a:stretch>
        </p:blipFill>
        <p:spPr>
          <a:xfrm>
            <a:off x="438912" y="3081528"/>
            <a:ext cx="347472" cy="347472"/>
          </a:xfrm>
          <a:prstGeom prst="rect">
            <a:avLst/>
          </a:prstGeom>
        </p:spPr>
      </p:pic>
      <p:sp>
        <p:nvSpPr>
          <p:cNvPr id="11" name="Text 7"/>
          <p:cNvSpPr/>
          <p:nvPr/>
        </p:nvSpPr>
        <p:spPr>
          <a:xfrm>
            <a:off x="841248" y="3072384"/>
            <a:ext cx="1371600" cy="347472"/>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AKS</a:t>
            </a:r>
            <a:endParaRPr lang="en-US" sz="1100" dirty="0"/>
          </a:p>
        </p:txBody>
      </p:sp>
      <p:sp>
        <p:nvSpPr>
          <p:cNvPr id="12" name="Shape 8"/>
          <p:cNvSpPr/>
          <p:nvPr/>
        </p:nvSpPr>
        <p:spPr>
          <a:xfrm>
            <a:off x="2514600" y="3017520"/>
            <a:ext cx="1920240" cy="502920"/>
          </a:xfrm>
          <a:prstGeom prst="roundRect">
            <a:avLst>
              <a:gd name="adj" fmla="val 14545"/>
            </a:avLst>
          </a:prstGeom>
          <a:solidFill>
            <a:srgbClr val="0F2240"/>
          </a:solidFill>
          <a:ln w="12700">
            <a:solidFill>
              <a:srgbClr val="00B4D8"/>
            </a:solidFill>
            <a:prstDash val="solid"/>
          </a:ln>
          <a:effectLst>
            <a:outerShdw sx="100000" sy="100000" kx="0" ky="0" algn="bl" rotWithShape="0" blurRad="127000" dist="38100" dir="2700000">
              <a:srgbClr val="000000">
                <a:alpha val="25000"/>
              </a:srgbClr>
            </a:outerShdw>
          </a:effectLst>
        </p:spPr>
      </p:sp>
      <p:pic>
        <p:nvPicPr>
          <p:cNvPr id="13" name="Image 2" descr="preencoded.png">    </p:cNvPr>
          <p:cNvPicPr>
            <a:picLocks noChangeAspect="1"/>
          </p:cNvPicPr>
          <p:nvPr/>
        </p:nvPicPr>
        <p:blipFill>
          <a:blip r:embed="rId3"/>
          <a:stretch>
            <a:fillRect/>
          </a:stretch>
        </p:blipFill>
        <p:spPr>
          <a:xfrm>
            <a:off x="2587752" y="3081528"/>
            <a:ext cx="347472" cy="347472"/>
          </a:xfrm>
          <a:prstGeom prst="rect">
            <a:avLst/>
          </a:prstGeom>
        </p:spPr>
      </p:pic>
      <p:sp>
        <p:nvSpPr>
          <p:cNvPr id="14" name="Text 9"/>
          <p:cNvSpPr/>
          <p:nvPr/>
        </p:nvSpPr>
        <p:spPr>
          <a:xfrm>
            <a:off x="2990088" y="3072384"/>
            <a:ext cx="1371600" cy="347472"/>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Terraform</a:t>
            </a:r>
            <a:endParaRPr lang="en-US" sz="1100" dirty="0"/>
          </a:p>
        </p:txBody>
      </p:sp>
      <p:sp>
        <p:nvSpPr>
          <p:cNvPr id="15" name="Shape 10"/>
          <p:cNvSpPr/>
          <p:nvPr/>
        </p:nvSpPr>
        <p:spPr>
          <a:xfrm>
            <a:off x="4663440" y="3017520"/>
            <a:ext cx="1920240" cy="502920"/>
          </a:xfrm>
          <a:prstGeom prst="roundRect">
            <a:avLst>
              <a:gd name="adj" fmla="val 14545"/>
            </a:avLst>
          </a:prstGeom>
          <a:solidFill>
            <a:srgbClr val="0F2240"/>
          </a:solidFill>
          <a:ln w="12700">
            <a:solidFill>
              <a:srgbClr val="00B4D8"/>
            </a:solidFill>
            <a:prstDash val="solid"/>
          </a:ln>
          <a:effectLst>
            <a:outerShdw sx="100000" sy="100000" kx="0" ky="0" algn="bl" rotWithShape="0" blurRad="127000" dist="38100" dir="2700000">
              <a:srgbClr val="000000">
                <a:alpha val="25000"/>
              </a:srgbClr>
            </a:outerShdw>
          </a:effectLst>
        </p:spPr>
      </p:sp>
      <p:pic>
        <p:nvPicPr>
          <p:cNvPr id="16" name="Image 3" descr="preencoded.png">    </p:cNvPr>
          <p:cNvPicPr>
            <a:picLocks noChangeAspect="1"/>
          </p:cNvPicPr>
          <p:nvPr/>
        </p:nvPicPr>
        <p:blipFill>
          <a:blip r:embed="rId4"/>
          <a:stretch>
            <a:fillRect/>
          </a:stretch>
        </p:blipFill>
        <p:spPr>
          <a:xfrm>
            <a:off x="4736592" y="3081528"/>
            <a:ext cx="347472" cy="347472"/>
          </a:xfrm>
          <a:prstGeom prst="rect">
            <a:avLst/>
          </a:prstGeom>
        </p:spPr>
      </p:pic>
      <p:sp>
        <p:nvSpPr>
          <p:cNvPr id="17" name="Text 11"/>
          <p:cNvSpPr/>
          <p:nvPr/>
        </p:nvSpPr>
        <p:spPr>
          <a:xfrm>
            <a:off x="5138928" y="3072384"/>
            <a:ext cx="1371600" cy="347472"/>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GitHub Actions</a:t>
            </a:r>
            <a:endParaRPr lang="en-US" sz="1100" dirty="0"/>
          </a:p>
        </p:txBody>
      </p:sp>
      <p:sp>
        <p:nvSpPr>
          <p:cNvPr id="18" name="Shape 12"/>
          <p:cNvSpPr/>
          <p:nvPr/>
        </p:nvSpPr>
        <p:spPr>
          <a:xfrm>
            <a:off x="6812280" y="3017520"/>
            <a:ext cx="1920240" cy="502920"/>
          </a:xfrm>
          <a:prstGeom prst="roundRect">
            <a:avLst>
              <a:gd name="adj" fmla="val 14545"/>
            </a:avLst>
          </a:prstGeom>
          <a:solidFill>
            <a:srgbClr val="0F2240"/>
          </a:solidFill>
          <a:ln w="12700">
            <a:solidFill>
              <a:srgbClr val="00B4D8"/>
            </a:solidFill>
            <a:prstDash val="solid"/>
          </a:ln>
          <a:effectLst>
            <a:outerShdw sx="100000" sy="100000" kx="0" ky="0" algn="bl" rotWithShape="0" blurRad="127000" dist="38100" dir="2700000">
              <a:srgbClr val="000000">
                <a:alpha val="25000"/>
              </a:srgbClr>
            </a:outerShdw>
          </a:effectLst>
        </p:spPr>
      </p:sp>
      <p:pic>
        <p:nvPicPr>
          <p:cNvPr id="19" name="Image 4" descr="preencoded.png">    </p:cNvPr>
          <p:cNvPicPr>
            <a:picLocks noChangeAspect="1"/>
          </p:cNvPicPr>
          <p:nvPr/>
        </p:nvPicPr>
        <p:blipFill>
          <a:blip r:embed="rId5"/>
          <a:stretch>
            <a:fillRect/>
          </a:stretch>
        </p:blipFill>
        <p:spPr>
          <a:xfrm>
            <a:off x="6885432" y="3081528"/>
            <a:ext cx="347472" cy="347472"/>
          </a:xfrm>
          <a:prstGeom prst="rect">
            <a:avLst/>
          </a:prstGeom>
        </p:spPr>
      </p:pic>
      <p:sp>
        <p:nvSpPr>
          <p:cNvPr id="20" name="Text 13"/>
          <p:cNvSpPr/>
          <p:nvPr/>
        </p:nvSpPr>
        <p:spPr>
          <a:xfrm>
            <a:off x="7287768" y="3072384"/>
            <a:ext cx="1371600" cy="347472"/>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Azure AI</a:t>
            </a:r>
            <a:endParaRPr lang="en-US" sz="1100" dirty="0"/>
          </a:p>
        </p:txBody>
      </p:sp>
      <p:sp>
        <p:nvSpPr>
          <p:cNvPr id="21" name="Text 14"/>
          <p:cNvSpPr/>
          <p:nvPr/>
        </p:nvSpPr>
        <p:spPr>
          <a:xfrm>
            <a:off x="365760" y="3749040"/>
            <a:ext cx="8412480" cy="274320"/>
          </a:xfrm>
          <a:prstGeom prst="rect">
            <a:avLst/>
          </a:prstGeom>
          <a:noFill/>
          <a:ln/>
        </p:spPr>
        <p:txBody>
          <a:bodyPr wrap="square" lIns="0" tIns="0" rIns="0" bIns="0" rtlCol="0" anchor="ctr"/>
          <a:lstStyle/>
          <a:p>
            <a:pPr indent="0" marL="0">
              <a:buNone/>
            </a:pPr>
            <a:r>
              <a:rPr lang="en-US" sz="1000" dirty="0">
                <a:solidFill>
                  <a:srgbClr val="7B9AB5"/>
                </a:solidFill>
                <a:latin typeface="Calibri" pitchFamily="34" charset="0"/>
                <a:ea typeface="Calibri" pitchFamily="34" charset="-122"/>
                <a:cs typeface="Calibri" pitchFamily="34" charset="-120"/>
              </a:rPr>
              <a:t>Sathvik  •  Cloud Native DevOps Capstone  •  2024</a:t>
            </a:r>
            <a:endParaRPr lang="en-US" sz="1000" dirty="0"/>
          </a:p>
        </p:txBody>
      </p:sp>
      <p:sp>
        <p:nvSpPr>
          <p:cNvPr id="22" name="Shape 15"/>
          <p:cNvSpPr/>
          <p:nvPr/>
        </p:nvSpPr>
        <p:spPr>
          <a:xfrm>
            <a:off x="6858000" y="914400"/>
            <a:ext cx="2011680" cy="566928"/>
          </a:xfrm>
          <a:prstGeom prst="roundRect">
            <a:avLst>
              <a:gd name="adj" fmla="val 12903"/>
            </a:avLst>
          </a:prstGeom>
          <a:solidFill>
            <a:srgbClr val="112652"/>
          </a:solidFill>
          <a:ln w="12700">
            <a:solidFill>
              <a:srgbClr val="0077B6"/>
            </a:solidFill>
            <a:prstDash val="solid"/>
          </a:ln>
          <a:effectLst>
            <a:outerShdw sx="100000" sy="100000" kx="0" ky="0" algn="bl" rotWithShape="0" blurRad="127000" dist="38100" dir="2700000">
              <a:srgbClr val="000000">
                <a:alpha val="25000"/>
              </a:srgbClr>
            </a:outerShdw>
          </a:effectLst>
        </p:spPr>
      </p:sp>
      <p:sp>
        <p:nvSpPr>
          <p:cNvPr id="23" name="Text 16"/>
          <p:cNvSpPr/>
          <p:nvPr/>
        </p:nvSpPr>
        <p:spPr>
          <a:xfrm>
            <a:off x="6858000" y="914400"/>
            <a:ext cx="2011680" cy="566928"/>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Azure AKS</a:t>
            </a:r>
            <a:endParaRPr lang="en-US" sz="1200" dirty="0"/>
          </a:p>
        </p:txBody>
      </p:sp>
      <p:sp>
        <p:nvSpPr>
          <p:cNvPr id="24" name="Shape 17"/>
          <p:cNvSpPr/>
          <p:nvPr/>
        </p:nvSpPr>
        <p:spPr>
          <a:xfrm>
            <a:off x="6858000" y="1737360"/>
            <a:ext cx="2011680" cy="566928"/>
          </a:xfrm>
          <a:prstGeom prst="roundRect">
            <a:avLst>
              <a:gd name="adj" fmla="val 12903"/>
            </a:avLst>
          </a:prstGeom>
          <a:solidFill>
            <a:srgbClr val="112652"/>
          </a:solidFill>
          <a:ln w="12700">
            <a:solidFill>
              <a:srgbClr val="0077B6"/>
            </a:solidFill>
            <a:prstDash val="solid"/>
          </a:ln>
          <a:effectLst>
            <a:outerShdw sx="100000" sy="100000" kx="0" ky="0" algn="bl" rotWithShape="0" blurRad="127000" dist="38100" dir="2700000">
              <a:srgbClr val="000000">
                <a:alpha val="25000"/>
              </a:srgbClr>
            </a:outerShdw>
          </a:effectLst>
        </p:spPr>
      </p:sp>
      <p:sp>
        <p:nvSpPr>
          <p:cNvPr id="25" name="Text 18"/>
          <p:cNvSpPr/>
          <p:nvPr/>
        </p:nvSpPr>
        <p:spPr>
          <a:xfrm>
            <a:off x="6858000" y="1737360"/>
            <a:ext cx="2011680" cy="566928"/>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Microservices</a:t>
            </a:r>
            <a:endParaRPr lang="en-US" sz="1200" dirty="0"/>
          </a:p>
        </p:txBody>
      </p:sp>
      <p:sp>
        <p:nvSpPr>
          <p:cNvPr id="26" name="Shape 19"/>
          <p:cNvSpPr/>
          <p:nvPr/>
        </p:nvSpPr>
        <p:spPr>
          <a:xfrm>
            <a:off x="6858000" y="2560320"/>
            <a:ext cx="2011680" cy="566928"/>
          </a:xfrm>
          <a:prstGeom prst="roundRect">
            <a:avLst>
              <a:gd name="adj" fmla="val 12903"/>
            </a:avLst>
          </a:prstGeom>
          <a:solidFill>
            <a:srgbClr val="112652"/>
          </a:solidFill>
          <a:ln w="12700">
            <a:solidFill>
              <a:srgbClr val="0077B6"/>
            </a:solidFill>
            <a:prstDash val="solid"/>
          </a:ln>
          <a:effectLst>
            <a:outerShdw sx="100000" sy="100000" kx="0" ky="0" algn="bl" rotWithShape="0" blurRad="127000" dist="38100" dir="2700000">
              <a:srgbClr val="000000">
                <a:alpha val="25000"/>
              </a:srgbClr>
            </a:outerShdw>
          </a:effectLst>
        </p:spPr>
      </p:sp>
      <p:sp>
        <p:nvSpPr>
          <p:cNvPr id="27" name="Text 20"/>
          <p:cNvSpPr/>
          <p:nvPr/>
        </p:nvSpPr>
        <p:spPr>
          <a:xfrm>
            <a:off x="6858000" y="2560320"/>
            <a:ext cx="2011680" cy="566928"/>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AI / LLM</a:t>
            </a:r>
            <a:endParaRPr lang="en-US" sz="1200" dirty="0"/>
          </a:p>
        </p:txBody>
      </p:sp>
      <p:sp>
        <p:nvSpPr>
          <p:cNvPr id="28" name="Shape 21"/>
          <p:cNvSpPr/>
          <p:nvPr/>
        </p:nvSpPr>
        <p:spPr>
          <a:xfrm>
            <a:off x="6858000" y="3383280"/>
            <a:ext cx="2011680" cy="566928"/>
          </a:xfrm>
          <a:prstGeom prst="roundRect">
            <a:avLst>
              <a:gd name="adj" fmla="val 12903"/>
            </a:avLst>
          </a:prstGeom>
          <a:solidFill>
            <a:srgbClr val="112652"/>
          </a:solidFill>
          <a:ln w="12700">
            <a:solidFill>
              <a:srgbClr val="0077B6"/>
            </a:solidFill>
            <a:prstDash val="solid"/>
          </a:ln>
          <a:effectLst>
            <a:outerShdw sx="100000" sy="100000" kx="0" ky="0" algn="bl" rotWithShape="0" blurRad="127000" dist="38100" dir="2700000">
              <a:srgbClr val="000000">
                <a:alpha val="25000"/>
              </a:srgbClr>
            </a:outerShdw>
          </a:effectLst>
        </p:spPr>
      </p:sp>
      <p:sp>
        <p:nvSpPr>
          <p:cNvPr id="29" name="Text 22"/>
          <p:cNvSpPr/>
          <p:nvPr/>
        </p:nvSpPr>
        <p:spPr>
          <a:xfrm>
            <a:off x="6858000" y="3383280"/>
            <a:ext cx="2011680" cy="566928"/>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GitOps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F2240"/>
          </a:solidFill>
          <a:ln/>
        </p:spPr>
      </p:sp>
      <p:sp>
        <p:nvSpPr>
          <p:cNvPr id="3" name="Text 1"/>
          <p:cNvSpPr/>
          <p:nvPr/>
        </p:nvSpPr>
        <p:spPr>
          <a:xfrm>
            <a:off x="274320" y="73152"/>
            <a:ext cx="8595360" cy="54864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The Problem</a:t>
            </a:r>
            <a:endParaRPr lang="en-US" sz="2200" dirty="0"/>
          </a:p>
        </p:txBody>
      </p:sp>
      <p:sp>
        <p:nvSpPr>
          <p:cNvPr id="4" name="Text 2"/>
          <p:cNvSpPr/>
          <p:nvPr/>
        </p:nvSpPr>
        <p:spPr>
          <a:xfrm>
            <a:off x="274320" y="548640"/>
            <a:ext cx="8595360" cy="256032"/>
          </a:xfrm>
          <a:prstGeom prst="rect">
            <a:avLst/>
          </a:prstGeom>
          <a:noFill/>
          <a:ln/>
        </p:spPr>
        <p:txBody>
          <a:bodyPr wrap="square" lIns="0" tIns="0" rIns="0" bIns="0" rtlCol="0" anchor="ctr"/>
          <a:lstStyle/>
          <a:p>
            <a:pPr indent="0" marL="0">
              <a:buNone/>
            </a:pPr>
            <a:r>
              <a:rPr lang="en-US" sz="1100" dirty="0">
                <a:solidFill>
                  <a:srgbClr val="00B4D8"/>
                </a:solidFill>
                <a:latin typeface="Calibri" pitchFamily="34" charset="0"/>
                <a:ea typeface="Calibri" pitchFamily="34" charset="-122"/>
                <a:cs typeface="Calibri" pitchFamily="34" charset="-120"/>
              </a:rPr>
              <a:t>Modern cloud operations are overwhelming teams</a:t>
            </a:r>
            <a:endParaRPr lang="en-US" sz="1100" dirty="0"/>
          </a:p>
        </p:txBody>
      </p:sp>
      <p:sp>
        <p:nvSpPr>
          <p:cNvPr id="5" name="Shape 3"/>
          <p:cNvSpPr/>
          <p:nvPr/>
        </p:nvSpPr>
        <p:spPr>
          <a:xfrm>
            <a:off x="274320" y="914400"/>
            <a:ext cx="8595360" cy="1005840"/>
          </a:xfrm>
          <a:prstGeom prst="roundRect">
            <a:avLst>
              <a:gd name="adj" fmla="val 7273"/>
            </a:avLst>
          </a:prstGeom>
          <a:solidFill>
            <a:srgbClr val="112652"/>
          </a:solidFill>
          <a:ln w="25400">
            <a:solidFill>
              <a:srgbClr val="EF4444"/>
            </a:solidFill>
            <a:prstDash val="solid"/>
          </a:ln>
          <a:effectLst>
            <a:outerShdw sx="100000" sy="100000" kx="0" ky="0" algn="bl" rotWithShape="0" blurRad="127000" dist="38100" dir="2700000">
              <a:srgbClr val="000000">
                <a:alpha val="25000"/>
              </a:srgbClr>
            </a:outerShdw>
          </a:effectLst>
        </p:spPr>
      </p:sp>
      <p:sp>
        <p:nvSpPr>
          <p:cNvPr id="6" name="Text 4"/>
          <p:cNvSpPr/>
          <p:nvPr/>
        </p:nvSpPr>
        <p:spPr>
          <a:xfrm>
            <a:off x="411480" y="960120"/>
            <a:ext cx="8321040" cy="91440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Modern cloud systems generate thousands of signals, incidents, logs, and pipeline failures — teams cannot keep up.</a:t>
            </a:r>
            <a:endParaRPr lang="en-US" sz="1300" dirty="0"/>
          </a:p>
        </p:txBody>
      </p:sp>
      <p:sp>
        <p:nvSpPr>
          <p:cNvPr id="7" name="Shape 5"/>
          <p:cNvSpPr/>
          <p:nvPr/>
        </p:nvSpPr>
        <p:spPr>
          <a:xfrm>
            <a:off x="274320" y="2057400"/>
            <a:ext cx="2743200" cy="1143000"/>
          </a:xfrm>
          <a:prstGeom prst="roundRect">
            <a:avLst>
              <a:gd name="adj" fmla="val 6400"/>
            </a:avLst>
          </a:prstGeom>
          <a:solidFill>
            <a:srgbClr val="0F2240"/>
          </a:solidFill>
          <a:ln w="12700">
            <a:solidFill>
              <a:srgbClr val="0077B6"/>
            </a:solidFill>
            <a:prstDash val="solid"/>
          </a:ln>
          <a:effectLst>
            <a:outerShdw sx="100000" sy="100000" kx="0" ky="0" algn="bl" rotWithShape="0" blurRad="127000" dist="38100" dir="2700000">
              <a:srgbClr val="000000">
                <a:alpha val="25000"/>
              </a:srgbClr>
            </a:outerShdw>
          </a:effectLst>
        </p:spPr>
      </p:sp>
      <p:pic>
        <p:nvPicPr>
          <p:cNvPr id="8" name="Image 0" descr="preencoded.png">    </p:cNvPr>
          <p:cNvPicPr>
            <a:picLocks noChangeAspect="1"/>
          </p:cNvPicPr>
          <p:nvPr/>
        </p:nvPicPr>
        <p:blipFill>
          <a:blip r:embed="rId1"/>
          <a:stretch>
            <a:fillRect/>
          </a:stretch>
        </p:blipFill>
        <p:spPr>
          <a:xfrm>
            <a:off x="384048" y="2167128"/>
            <a:ext cx="347472" cy="347472"/>
          </a:xfrm>
          <a:prstGeom prst="rect">
            <a:avLst/>
          </a:prstGeom>
        </p:spPr>
      </p:pic>
      <p:sp>
        <p:nvSpPr>
          <p:cNvPr id="9" name="Text 6"/>
          <p:cNvSpPr/>
          <p:nvPr/>
        </p:nvSpPr>
        <p:spPr>
          <a:xfrm>
            <a:off x="786384" y="2148840"/>
            <a:ext cx="2148840" cy="274320"/>
          </a:xfrm>
          <a:prstGeom prst="rect">
            <a:avLst/>
          </a:prstGeom>
          <a:noFill/>
          <a:ln/>
        </p:spPr>
        <p:txBody>
          <a:bodyPr wrap="square" lIns="0" tIns="0" rIns="0" bIns="0" rtlCol="0" anchor="ctr"/>
          <a:lstStyle/>
          <a:p>
            <a:pPr indent="0" marL="0">
              <a:buNone/>
            </a:pPr>
            <a:r>
              <a:rPr lang="en-US" sz="1100" b="1" dirty="0">
                <a:solidFill>
                  <a:srgbClr val="00B4D8"/>
                </a:solidFill>
                <a:latin typeface="Calibri" pitchFamily="34" charset="0"/>
                <a:ea typeface="Calibri" pitchFamily="34" charset="-122"/>
                <a:cs typeface="Calibri" pitchFamily="34" charset="-120"/>
              </a:rPr>
              <a:t>Siloed Observability</a:t>
            </a:r>
            <a:endParaRPr lang="en-US" sz="1100" dirty="0"/>
          </a:p>
        </p:txBody>
      </p:sp>
      <p:sp>
        <p:nvSpPr>
          <p:cNvPr id="10" name="Text 7"/>
          <p:cNvSpPr/>
          <p:nvPr/>
        </p:nvSpPr>
        <p:spPr>
          <a:xfrm>
            <a:off x="365760" y="2496312"/>
            <a:ext cx="2542032" cy="658368"/>
          </a:xfrm>
          <a:prstGeom prst="rect">
            <a:avLst/>
          </a:prstGeom>
          <a:noFill/>
          <a:ln/>
        </p:spPr>
        <p:txBody>
          <a:bodyPr wrap="square" lIns="0" tIns="0" rIns="0" bIns="0" rtlCol="0" anchor="ctr"/>
          <a:lstStyle/>
          <a:p>
            <a:pPr indent="0" marL="0">
              <a:buNone/>
            </a:pPr>
            <a:r>
              <a:rPr lang="en-US" sz="950" dirty="0">
                <a:solidFill>
                  <a:srgbClr val="CBD5E1"/>
                </a:solidFill>
                <a:latin typeface="Calibri" pitchFamily="34" charset="0"/>
                <a:ea typeface="Calibri" pitchFamily="34" charset="-122"/>
                <a:cs typeface="Calibri" pitchFamily="34" charset="-120"/>
              </a:rPr>
              <a:t>Metrics, logs, traces scattered across Azure, AWS, GitHub with no unified view</a:t>
            </a:r>
            <a:endParaRPr lang="en-US" sz="950" dirty="0"/>
          </a:p>
        </p:txBody>
      </p:sp>
      <p:sp>
        <p:nvSpPr>
          <p:cNvPr id="11" name="Shape 8"/>
          <p:cNvSpPr/>
          <p:nvPr/>
        </p:nvSpPr>
        <p:spPr>
          <a:xfrm>
            <a:off x="3154680" y="2057400"/>
            <a:ext cx="2743200" cy="1143000"/>
          </a:xfrm>
          <a:prstGeom prst="roundRect">
            <a:avLst>
              <a:gd name="adj" fmla="val 6400"/>
            </a:avLst>
          </a:prstGeom>
          <a:solidFill>
            <a:srgbClr val="0F2240"/>
          </a:solidFill>
          <a:ln w="12700">
            <a:solidFill>
              <a:srgbClr val="0077B6"/>
            </a:solidFill>
            <a:prstDash val="solid"/>
          </a:ln>
          <a:effectLst>
            <a:outerShdw sx="100000" sy="100000" kx="0" ky="0" algn="bl" rotWithShape="0" blurRad="127000" dist="38100" dir="2700000">
              <a:srgbClr val="000000">
                <a:alpha val="25000"/>
              </a:srgbClr>
            </a:outerShdw>
          </a:effectLst>
        </p:spPr>
      </p:sp>
      <p:pic>
        <p:nvPicPr>
          <p:cNvPr id="12" name="Image 1" descr="preencoded.png">    </p:cNvPr>
          <p:cNvPicPr>
            <a:picLocks noChangeAspect="1"/>
          </p:cNvPicPr>
          <p:nvPr/>
        </p:nvPicPr>
        <p:blipFill>
          <a:blip r:embed="rId2"/>
          <a:stretch>
            <a:fillRect/>
          </a:stretch>
        </p:blipFill>
        <p:spPr>
          <a:xfrm>
            <a:off x="3264408" y="2167128"/>
            <a:ext cx="347472" cy="347472"/>
          </a:xfrm>
          <a:prstGeom prst="rect">
            <a:avLst/>
          </a:prstGeom>
        </p:spPr>
      </p:pic>
      <p:sp>
        <p:nvSpPr>
          <p:cNvPr id="13" name="Text 9"/>
          <p:cNvSpPr/>
          <p:nvPr/>
        </p:nvSpPr>
        <p:spPr>
          <a:xfrm>
            <a:off x="3666744" y="2148840"/>
            <a:ext cx="2148840" cy="274320"/>
          </a:xfrm>
          <a:prstGeom prst="rect">
            <a:avLst/>
          </a:prstGeom>
          <a:noFill/>
          <a:ln/>
        </p:spPr>
        <p:txBody>
          <a:bodyPr wrap="square" lIns="0" tIns="0" rIns="0" bIns="0" rtlCol="0" anchor="ctr"/>
          <a:lstStyle/>
          <a:p>
            <a:pPr indent="0" marL="0">
              <a:buNone/>
            </a:pPr>
            <a:r>
              <a:rPr lang="en-US" sz="1100" b="1" dirty="0">
                <a:solidFill>
                  <a:srgbClr val="00B4D8"/>
                </a:solidFill>
                <a:latin typeface="Calibri" pitchFamily="34" charset="0"/>
                <a:ea typeface="Calibri" pitchFamily="34" charset="-122"/>
                <a:cs typeface="Calibri" pitchFamily="34" charset="-120"/>
              </a:rPr>
              <a:t>Pipeline Blindness</a:t>
            </a:r>
            <a:endParaRPr lang="en-US" sz="1100" dirty="0"/>
          </a:p>
        </p:txBody>
      </p:sp>
      <p:sp>
        <p:nvSpPr>
          <p:cNvPr id="14" name="Text 10"/>
          <p:cNvSpPr/>
          <p:nvPr/>
        </p:nvSpPr>
        <p:spPr>
          <a:xfrm>
            <a:off x="3246120" y="2496312"/>
            <a:ext cx="2542032" cy="658368"/>
          </a:xfrm>
          <a:prstGeom prst="rect">
            <a:avLst/>
          </a:prstGeom>
          <a:noFill/>
          <a:ln/>
        </p:spPr>
        <p:txBody>
          <a:bodyPr wrap="square" lIns="0" tIns="0" rIns="0" bIns="0" rtlCol="0" anchor="ctr"/>
          <a:lstStyle/>
          <a:p>
            <a:pPr indent="0" marL="0">
              <a:buNone/>
            </a:pPr>
            <a:r>
              <a:rPr lang="en-US" sz="950" dirty="0">
                <a:solidFill>
                  <a:srgbClr val="CBD5E1"/>
                </a:solidFill>
                <a:latin typeface="Calibri" pitchFamily="34" charset="0"/>
                <a:ea typeface="Calibri" pitchFamily="34" charset="-122"/>
                <a:cs typeface="Calibri" pitchFamily="34" charset="-120"/>
              </a:rPr>
              <a:t>CI/CD failures require manual log diving — no intelligent root cause analysis</a:t>
            </a:r>
            <a:endParaRPr lang="en-US" sz="950" dirty="0"/>
          </a:p>
        </p:txBody>
      </p:sp>
      <p:sp>
        <p:nvSpPr>
          <p:cNvPr id="15" name="Shape 11"/>
          <p:cNvSpPr/>
          <p:nvPr/>
        </p:nvSpPr>
        <p:spPr>
          <a:xfrm>
            <a:off x="6035040" y="2057400"/>
            <a:ext cx="2743200" cy="1143000"/>
          </a:xfrm>
          <a:prstGeom prst="roundRect">
            <a:avLst>
              <a:gd name="adj" fmla="val 6400"/>
            </a:avLst>
          </a:prstGeom>
          <a:solidFill>
            <a:srgbClr val="0F2240"/>
          </a:solidFill>
          <a:ln w="12700">
            <a:solidFill>
              <a:srgbClr val="0077B6"/>
            </a:solidFill>
            <a:prstDash val="solid"/>
          </a:ln>
          <a:effectLst>
            <a:outerShdw sx="100000" sy="100000" kx="0" ky="0" algn="bl" rotWithShape="0" blurRad="127000" dist="38100" dir="2700000">
              <a:srgbClr val="000000">
                <a:alpha val="25000"/>
              </a:srgbClr>
            </a:outerShdw>
          </a:effectLst>
        </p:spPr>
      </p:sp>
      <p:pic>
        <p:nvPicPr>
          <p:cNvPr id="16" name="Image 2" descr="preencoded.png">    </p:cNvPr>
          <p:cNvPicPr>
            <a:picLocks noChangeAspect="1"/>
          </p:cNvPicPr>
          <p:nvPr/>
        </p:nvPicPr>
        <p:blipFill>
          <a:blip r:embed="rId3"/>
          <a:stretch>
            <a:fillRect/>
          </a:stretch>
        </p:blipFill>
        <p:spPr>
          <a:xfrm>
            <a:off x="6144768" y="2167128"/>
            <a:ext cx="347472" cy="347472"/>
          </a:xfrm>
          <a:prstGeom prst="rect">
            <a:avLst/>
          </a:prstGeom>
        </p:spPr>
      </p:pic>
      <p:sp>
        <p:nvSpPr>
          <p:cNvPr id="17" name="Text 12"/>
          <p:cNvSpPr/>
          <p:nvPr/>
        </p:nvSpPr>
        <p:spPr>
          <a:xfrm>
            <a:off x="6547104" y="2148840"/>
            <a:ext cx="2148840" cy="274320"/>
          </a:xfrm>
          <a:prstGeom prst="rect">
            <a:avLst/>
          </a:prstGeom>
          <a:noFill/>
          <a:ln/>
        </p:spPr>
        <p:txBody>
          <a:bodyPr wrap="square" lIns="0" tIns="0" rIns="0" bIns="0" rtlCol="0" anchor="ctr"/>
          <a:lstStyle/>
          <a:p>
            <a:pPr indent="0" marL="0">
              <a:buNone/>
            </a:pPr>
            <a:r>
              <a:rPr lang="en-US" sz="1100" b="1" dirty="0">
                <a:solidFill>
                  <a:srgbClr val="00B4D8"/>
                </a:solidFill>
                <a:latin typeface="Calibri" pitchFamily="34" charset="0"/>
                <a:ea typeface="Calibri" pitchFamily="34" charset="-122"/>
                <a:cs typeface="Calibri" pitchFamily="34" charset="-120"/>
              </a:rPr>
              <a:t>Multi-Cloud Complexity</a:t>
            </a:r>
            <a:endParaRPr lang="en-US" sz="1100" dirty="0"/>
          </a:p>
        </p:txBody>
      </p:sp>
      <p:sp>
        <p:nvSpPr>
          <p:cNvPr id="18" name="Text 13"/>
          <p:cNvSpPr/>
          <p:nvPr/>
        </p:nvSpPr>
        <p:spPr>
          <a:xfrm>
            <a:off x="6126480" y="2496312"/>
            <a:ext cx="2542032" cy="658368"/>
          </a:xfrm>
          <a:prstGeom prst="rect">
            <a:avLst/>
          </a:prstGeom>
          <a:noFill/>
          <a:ln/>
        </p:spPr>
        <p:txBody>
          <a:bodyPr wrap="square" lIns="0" tIns="0" rIns="0" bIns="0" rtlCol="0" anchor="ctr"/>
          <a:lstStyle/>
          <a:p>
            <a:pPr indent="0" marL="0">
              <a:buNone/>
            </a:pPr>
            <a:r>
              <a:rPr lang="en-US" sz="950" dirty="0">
                <a:solidFill>
                  <a:srgbClr val="CBD5E1"/>
                </a:solidFill>
                <a:latin typeface="Calibri" pitchFamily="34" charset="0"/>
                <a:ea typeface="Calibri" pitchFamily="34" charset="-122"/>
                <a:cs typeface="Calibri" pitchFamily="34" charset="-120"/>
              </a:rPr>
              <a:t>Teams manage Azure and AWS resources independently without correlation</a:t>
            </a:r>
            <a:endParaRPr lang="en-US" sz="950" dirty="0"/>
          </a:p>
        </p:txBody>
      </p:sp>
      <p:sp>
        <p:nvSpPr>
          <p:cNvPr id="19" name="Shape 14"/>
          <p:cNvSpPr/>
          <p:nvPr/>
        </p:nvSpPr>
        <p:spPr>
          <a:xfrm>
            <a:off x="274320" y="3337560"/>
            <a:ext cx="2743200" cy="1143000"/>
          </a:xfrm>
          <a:prstGeom prst="roundRect">
            <a:avLst>
              <a:gd name="adj" fmla="val 6400"/>
            </a:avLst>
          </a:prstGeom>
          <a:solidFill>
            <a:srgbClr val="0F2240"/>
          </a:solidFill>
          <a:ln w="12700">
            <a:solidFill>
              <a:srgbClr val="0077B6"/>
            </a:solidFill>
            <a:prstDash val="solid"/>
          </a:ln>
          <a:effectLst>
            <a:outerShdw sx="100000" sy="100000" kx="0" ky="0" algn="bl" rotWithShape="0" blurRad="127000" dist="38100" dir="2700000">
              <a:srgbClr val="000000">
                <a:alpha val="25000"/>
              </a:srgbClr>
            </a:outerShdw>
          </a:effectLst>
        </p:spPr>
      </p:sp>
      <p:pic>
        <p:nvPicPr>
          <p:cNvPr id="20" name="Image 3" descr="preencoded.png">    </p:cNvPr>
          <p:cNvPicPr>
            <a:picLocks noChangeAspect="1"/>
          </p:cNvPicPr>
          <p:nvPr/>
        </p:nvPicPr>
        <p:blipFill>
          <a:blip r:embed="rId4"/>
          <a:stretch>
            <a:fillRect/>
          </a:stretch>
        </p:blipFill>
        <p:spPr>
          <a:xfrm>
            <a:off x="384048" y="3447288"/>
            <a:ext cx="347472" cy="347472"/>
          </a:xfrm>
          <a:prstGeom prst="rect">
            <a:avLst/>
          </a:prstGeom>
        </p:spPr>
      </p:pic>
      <p:sp>
        <p:nvSpPr>
          <p:cNvPr id="21" name="Text 15"/>
          <p:cNvSpPr/>
          <p:nvPr/>
        </p:nvSpPr>
        <p:spPr>
          <a:xfrm>
            <a:off x="786384" y="3429000"/>
            <a:ext cx="2148840" cy="274320"/>
          </a:xfrm>
          <a:prstGeom prst="rect">
            <a:avLst/>
          </a:prstGeom>
          <a:noFill/>
          <a:ln/>
        </p:spPr>
        <p:txBody>
          <a:bodyPr wrap="square" lIns="0" tIns="0" rIns="0" bIns="0" rtlCol="0" anchor="ctr"/>
          <a:lstStyle/>
          <a:p>
            <a:pPr indent="0" marL="0">
              <a:buNone/>
            </a:pPr>
            <a:r>
              <a:rPr lang="en-US" sz="1100" b="1" dirty="0">
                <a:solidFill>
                  <a:srgbClr val="00B4D8"/>
                </a:solidFill>
                <a:latin typeface="Calibri" pitchFamily="34" charset="0"/>
                <a:ea typeface="Calibri" pitchFamily="34" charset="-122"/>
                <a:cs typeface="Calibri" pitchFamily="34" charset="-120"/>
              </a:rPr>
              <a:t>Alert Fatigue</a:t>
            </a:r>
            <a:endParaRPr lang="en-US" sz="1100" dirty="0"/>
          </a:p>
        </p:txBody>
      </p:sp>
      <p:sp>
        <p:nvSpPr>
          <p:cNvPr id="22" name="Text 16"/>
          <p:cNvSpPr/>
          <p:nvPr/>
        </p:nvSpPr>
        <p:spPr>
          <a:xfrm>
            <a:off x="365760" y="3776472"/>
            <a:ext cx="2542032" cy="658368"/>
          </a:xfrm>
          <a:prstGeom prst="rect">
            <a:avLst/>
          </a:prstGeom>
          <a:noFill/>
          <a:ln/>
        </p:spPr>
        <p:txBody>
          <a:bodyPr wrap="square" lIns="0" tIns="0" rIns="0" bIns="0" rtlCol="0" anchor="ctr"/>
          <a:lstStyle/>
          <a:p>
            <a:pPr indent="0" marL="0">
              <a:buNone/>
            </a:pPr>
            <a:r>
              <a:rPr lang="en-US" sz="950" dirty="0">
                <a:solidFill>
                  <a:srgbClr val="CBD5E1"/>
                </a:solidFill>
                <a:latin typeface="Calibri" pitchFamily="34" charset="0"/>
                <a:ea typeface="Calibri" pitchFamily="34" charset="-122"/>
                <a:cs typeface="Calibri" pitchFamily="34" charset="-120"/>
              </a:rPr>
              <a:t>Engineers receive hundreds of low-context alerts with no remediation guidance</a:t>
            </a:r>
            <a:endParaRPr lang="en-US" sz="950" dirty="0"/>
          </a:p>
        </p:txBody>
      </p:sp>
      <p:sp>
        <p:nvSpPr>
          <p:cNvPr id="23" name="Shape 17"/>
          <p:cNvSpPr/>
          <p:nvPr/>
        </p:nvSpPr>
        <p:spPr>
          <a:xfrm>
            <a:off x="3154680" y="3337560"/>
            <a:ext cx="2743200" cy="1143000"/>
          </a:xfrm>
          <a:prstGeom prst="roundRect">
            <a:avLst>
              <a:gd name="adj" fmla="val 6400"/>
            </a:avLst>
          </a:prstGeom>
          <a:solidFill>
            <a:srgbClr val="0F2240"/>
          </a:solidFill>
          <a:ln w="12700">
            <a:solidFill>
              <a:srgbClr val="0077B6"/>
            </a:solidFill>
            <a:prstDash val="solid"/>
          </a:ln>
          <a:effectLst>
            <a:outerShdw sx="100000" sy="100000" kx="0" ky="0" algn="bl" rotWithShape="0" blurRad="127000" dist="38100" dir="2700000">
              <a:srgbClr val="000000">
                <a:alpha val="25000"/>
              </a:srgbClr>
            </a:outerShdw>
          </a:effectLst>
        </p:spPr>
      </p:sp>
      <p:pic>
        <p:nvPicPr>
          <p:cNvPr id="24" name="Image 4" descr="preencoded.png">    </p:cNvPr>
          <p:cNvPicPr>
            <a:picLocks noChangeAspect="1"/>
          </p:cNvPicPr>
          <p:nvPr/>
        </p:nvPicPr>
        <p:blipFill>
          <a:blip r:embed="rId5"/>
          <a:stretch>
            <a:fillRect/>
          </a:stretch>
        </p:blipFill>
        <p:spPr>
          <a:xfrm>
            <a:off x="3264408" y="3447288"/>
            <a:ext cx="347472" cy="347472"/>
          </a:xfrm>
          <a:prstGeom prst="rect">
            <a:avLst/>
          </a:prstGeom>
        </p:spPr>
      </p:pic>
      <p:sp>
        <p:nvSpPr>
          <p:cNvPr id="25" name="Text 18"/>
          <p:cNvSpPr/>
          <p:nvPr/>
        </p:nvSpPr>
        <p:spPr>
          <a:xfrm>
            <a:off x="3666744" y="3429000"/>
            <a:ext cx="2148840" cy="274320"/>
          </a:xfrm>
          <a:prstGeom prst="rect">
            <a:avLst/>
          </a:prstGeom>
          <a:noFill/>
          <a:ln/>
        </p:spPr>
        <p:txBody>
          <a:bodyPr wrap="square" lIns="0" tIns="0" rIns="0" bIns="0" rtlCol="0" anchor="ctr"/>
          <a:lstStyle/>
          <a:p>
            <a:pPr indent="0" marL="0">
              <a:buNone/>
            </a:pPr>
            <a:r>
              <a:rPr lang="en-US" sz="1100" b="1" dirty="0">
                <a:solidFill>
                  <a:srgbClr val="00B4D8"/>
                </a:solidFill>
                <a:latin typeface="Calibri" pitchFamily="34" charset="0"/>
                <a:ea typeface="Calibri" pitchFamily="34" charset="-122"/>
                <a:cs typeface="Calibri" pitchFamily="34" charset="-120"/>
              </a:rPr>
              <a:t>Manual RCA</a:t>
            </a:r>
            <a:endParaRPr lang="en-US" sz="1100" dirty="0"/>
          </a:p>
        </p:txBody>
      </p:sp>
      <p:sp>
        <p:nvSpPr>
          <p:cNvPr id="26" name="Text 19"/>
          <p:cNvSpPr/>
          <p:nvPr/>
        </p:nvSpPr>
        <p:spPr>
          <a:xfrm>
            <a:off x="3246120" y="3776472"/>
            <a:ext cx="2542032" cy="658368"/>
          </a:xfrm>
          <a:prstGeom prst="rect">
            <a:avLst/>
          </a:prstGeom>
          <a:noFill/>
          <a:ln/>
        </p:spPr>
        <p:txBody>
          <a:bodyPr wrap="square" lIns="0" tIns="0" rIns="0" bIns="0" rtlCol="0" anchor="ctr"/>
          <a:lstStyle/>
          <a:p>
            <a:pPr indent="0" marL="0">
              <a:buNone/>
            </a:pPr>
            <a:r>
              <a:rPr lang="en-US" sz="950" dirty="0">
                <a:solidFill>
                  <a:srgbClr val="CBD5E1"/>
                </a:solidFill>
                <a:latin typeface="Calibri" pitchFamily="34" charset="0"/>
                <a:ea typeface="Calibri" pitchFamily="34" charset="-122"/>
                <a:cs typeface="Calibri" pitchFamily="34" charset="-120"/>
              </a:rPr>
              <a:t>Root cause analysis takes hours — incidents stay open while revenue is lost</a:t>
            </a:r>
            <a:endParaRPr lang="en-US" sz="950" dirty="0"/>
          </a:p>
        </p:txBody>
      </p:sp>
      <p:sp>
        <p:nvSpPr>
          <p:cNvPr id="27" name="Shape 20"/>
          <p:cNvSpPr/>
          <p:nvPr/>
        </p:nvSpPr>
        <p:spPr>
          <a:xfrm>
            <a:off x="6035040" y="3337560"/>
            <a:ext cx="2743200" cy="1143000"/>
          </a:xfrm>
          <a:prstGeom prst="roundRect">
            <a:avLst>
              <a:gd name="adj" fmla="val 6400"/>
            </a:avLst>
          </a:prstGeom>
          <a:solidFill>
            <a:srgbClr val="0F2240"/>
          </a:solidFill>
          <a:ln w="12700">
            <a:solidFill>
              <a:srgbClr val="0077B6"/>
            </a:solidFill>
            <a:prstDash val="solid"/>
          </a:ln>
          <a:effectLst>
            <a:outerShdw sx="100000" sy="100000" kx="0" ky="0" algn="bl" rotWithShape="0" blurRad="127000" dist="38100" dir="2700000">
              <a:srgbClr val="000000">
                <a:alpha val="25000"/>
              </a:srgbClr>
            </a:outerShdw>
          </a:effectLst>
        </p:spPr>
      </p:sp>
      <p:pic>
        <p:nvPicPr>
          <p:cNvPr id="28" name="Image 5" descr="preencoded.png">    </p:cNvPr>
          <p:cNvPicPr>
            <a:picLocks noChangeAspect="1"/>
          </p:cNvPicPr>
          <p:nvPr/>
        </p:nvPicPr>
        <p:blipFill>
          <a:blip r:embed="rId6"/>
          <a:stretch>
            <a:fillRect/>
          </a:stretch>
        </p:blipFill>
        <p:spPr>
          <a:xfrm>
            <a:off x="6144768" y="3447288"/>
            <a:ext cx="347472" cy="347472"/>
          </a:xfrm>
          <a:prstGeom prst="rect">
            <a:avLst/>
          </a:prstGeom>
        </p:spPr>
      </p:pic>
      <p:sp>
        <p:nvSpPr>
          <p:cNvPr id="29" name="Text 21"/>
          <p:cNvSpPr/>
          <p:nvPr/>
        </p:nvSpPr>
        <p:spPr>
          <a:xfrm>
            <a:off x="6547104" y="3429000"/>
            <a:ext cx="2148840" cy="274320"/>
          </a:xfrm>
          <a:prstGeom prst="rect">
            <a:avLst/>
          </a:prstGeom>
          <a:noFill/>
          <a:ln/>
        </p:spPr>
        <p:txBody>
          <a:bodyPr wrap="square" lIns="0" tIns="0" rIns="0" bIns="0" rtlCol="0" anchor="ctr"/>
          <a:lstStyle/>
          <a:p>
            <a:pPr indent="0" marL="0">
              <a:buNone/>
            </a:pPr>
            <a:r>
              <a:rPr lang="en-US" sz="1100" b="1" dirty="0">
                <a:solidFill>
                  <a:srgbClr val="00B4D8"/>
                </a:solidFill>
                <a:latin typeface="Calibri" pitchFamily="34" charset="0"/>
                <a:ea typeface="Calibri" pitchFamily="34" charset="-122"/>
                <a:cs typeface="Calibri" pitchFamily="34" charset="-120"/>
              </a:rPr>
              <a:t>No Cost Visibility</a:t>
            </a:r>
            <a:endParaRPr lang="en-US" sz="1100" dirty="0"/>
          </a:p>
        </p:txBody>
      </p:sp>
      <p:sp>
        <p:nvSpPr>
          <p:cNvPr id="30" name="Text 22"/>
          <p:cNvSpPr/>
          <p:nvPr/>
        </p:nvSpPr>
        <p:spPr>
          <a:xfrm>
            <a:off x="6126480" y="3776472"/>
            <a:ext cx="2542032" cy="658368"/>
          </a:xfrm>
          <a:prstGeom prst="rect">
            <a:avLst/>
          </a:prstGeom>
          <a:noFill/>
          <a:ln/>
        </p:spPr>
        <p:txBody>
          <a:bodyPr wrap="square" lIns="0" tIns="0" rIns="0" bIns="0" rtlCol="0" anchor="ctr"/>
          <a:lstStyle/>
          <a:p>
            <a:pPr indent="0" marL="0">
              <a:buNone/>
            </a:pPr>
            <a:r>
              <a:rPr lang="en-US" sz="950" dirty="0">
                <a:solidFill>
                  <a:srgbClr val="CBD5E1"/>
                </a:solidFill>
                <a:latin typeface="Calibri" pitchFamily="34" charset="0"/>
                <a:ea typeface="Calibri" pitchFamily="34" charset="-122"/>
                <a:cs typeface="Calibri" pitchFamily="34" charset="-120"/>
              </a:rPr>
              <a:t>Cloud spend anomalies go undetected until the monthly bill arrives</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F2240"/>
          </a:solidFill>
          <a:ln/>
        </p:spPr>
      </p:sp>
      <p:sp>
        <p:nvSpPr>
          <p:cNvPr id="3" name="Text 1"/>
          <p:cNvSpPr/>
          <p:nvPr/>
        </p:nvSpPr>
        <p:spPr>
          <a:xfrm>
            <a:off x="274320" y="73152"/>
            <a:ext cx="8595360" cy="54864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ResolveOps AI — Solution Overview</a:t>
            </a:r>
            <a:endParaRPr lang="en-US" sz="2200" dirty="0"/>
          </a:p>
        </p:txBody>
      </p:sp>
      <p:sp>
        <p:nvSpPr>
          <p:cNvPr id="4" name="Text 2"/>
          <p:cNvSpPr/>
          <p:nvPr/>
        </p:nvSpPr>
        <p:spPr>
          <a:xfrm>
            <a:off x="274320" y="548640"/>
            <a:ext cx="8595360" cy="256032"/>
          </a:xfrm>
          <a:prstGeom prst="rect">
            <a:avLst/>
          </a:prstGeom>
          <a:noFill/>
          <a:ln/>
        </p:spPr>
        <p:txBody>
          <a:bodyPr wrap="square" lIns="0" tIns="0" rIns="0" bIns="0" rtlCol="0" anchor="ctr"/>
          <a:lstStyle/>
          <a:p>
            <a:pPr indent="0" marL="0">
              <a:buNone/>
            </a:pPr>
            <a:r>
              <a:rPr lang="en-US" sz="1100" dirty="0">
                <a:solidFill>
                  <a:srgbClr val="00B4D8"/>
                </a:solidFill>
                <a:latin typeface="Calibri" pitchFamily="34" charset="0"/>
                <a:ea typeface="Calibri" pitchFamily="34" charset="-122"/>
                <a:cs typeface="Calibri" pitchFamily="34" charset="-120"/>
              </a:rPr>
              <a:t>One intelligent platform for SRE, incident intelligence, and cloud health</a:t>
            </a:r>
            <a:endParaRPr lang="en-US" sz="1100" dirty="0"/>
          </a:p>
        </p:txBody>
      </p:sp>
      <p:sp>
        <p:nvSpPr>
          <p:cNvPr id="5" name="Shape 3"/>
          <p:cNvSpPr/>
          <p:nvPr/>
        </p:nvSpPr>
        <p:spPr>
          <a:xfrm>
            <a:off x="3108960" y="1280160"/>
            <a:ext cx="2926080" cy="1097280"/>
          </a:xfrm>
          <a:prstGeom prst="roundRect">
            <a:avLst>
              <a:gd name="adj" fmla="val 6667"/>
            </a:avLst>
          </a:prstGeom>
          <a:solidFill>
            <a:srgbClr val="0078D4"/>
          </a:solidFill>
          <a:ln w="12700">
            <a:solidFill>
              <a:srgbClr val="00B4D8"/>
            </a:solidFill>
            <a:prstDash val="solid"/>
          </a:ln>
          <a:effectLst>
            <a:outerShdw sx="100000" sy="100000" kx="0" ky="0" algn="bl" rotWithShape="0" blurRad="127000" dist="38100" dir="2700000">
              <a:srgbClr val="000000">
                <a:alpha val="25000"/>
              </a:srgbClr>
            </a:outerShdw>
          </a:effectLst>
        </p:spPr>
      </p:sp>
      <p:pic>
        <p:nvPicPr>
          <p:cNvPr id="6" name="Image 0" descr="preencoded.png">    </p:cNvPr>
          <p:cNvPicPr>
            <a:picLocks noChangeAspect="1"/>
          </p:cNvPicPr>
          <p:nvPr/>
        </p:nvPicPr>
        <p:blipFill>
          <a:blip r:embed="rId1"/>
          <a:stretch>
            <a:fillRect/>
          </a:stretch>
        </p:blipFill>
        <p:spPr>
          <a:xfrm>
            <a:off x="4023360" y="1371600"/>
            <a:ext cx="457200" cy="457200"/>
          </a:xfrm>
          <a:prstGeom prst="rect">
            <a:avLst/>
          </a:prstGeom>
        </p:spPr>
      </p:pic>
      <p:sp>
        <p:nvSpPr>
          <p:cNvPr id="7" name="Text 4"/>
          <p:cNvSpPr/>
          <p:nvPr/>
        </p:nvSpPr>
        <p:spPr>
          <a:xfrm>
            <a:off x="3154680" y="1371600"/>
            <a:ext cx="2834640" cy="9601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ResolveOps AI</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Platform</a:t>
            </a:r>
            <a:endParaRPr lang="en-US" sz="1300" dirty="0"/>
          </a:p>
        </p:txBody>
      </p:sp>
      <p:sp>
        <p:nvSpPr>
          <p:cNvPr id="8" name="Shape 5"/>
          <p:cNvSpPr/>
          <p:nvPr/>
        </p:nvSpPr>
        <p:spPr>
          <a:xfrm>
            <a:off x="274320" y="1097280"/>
            <a:ext cx="2194560" cy="685800"/>
          </a:xfrm>
          <a:prstGeom prst="roundRect">
            <a:avLst>
              <a:gd name="adj" fmla="val 10667"/>
            </a:avLst>
          </a:prstGeom>
          <a:solidFill>
            <a:srgbClr val="112652"/>
          </a:solidFill>
          <a:ln w="12700">
            <a:solidFill>
              <a:srgbClr val="0077B6"/>
            </a:solidFill>
            <a:prstDash val="solid"/>
          </a:ln>
          <a:effectLst>
            <a:outerShdw sx="100000" sy="100000" kx="0" ky="0" algn="bl" rotWithShape="0" blurRad="127000" dist="38100" dir="2700000">
              <a:srgbClr val="000000">
                <a:alpha val="25000"/>
              </a:srgbClr>
            </a:outerShdw>
          </a:effectLst>
        </p:spPr>
      </p:sp>
      <p:pic>
        <p:nvPicPr>
          <p:cNvPr id="9" name="Image 1" descr="preencoded.png">    </p:cNvPr>
          <p:cNvPicPr>
            <a:picLocks noChangeAspect="1"/>
          </p:cNvPicPr>
          <p:nvPr/>
        </p:nvPicPr>
        <p:blipFill>
          <a:blip r:embed="rId2"/>
          <a:stretch>
            <a:fillRect/>
          </a:stretch>
        </p:blipFill>
        <p:spPr>
          <a:xfrm>
            <a:off x="384048" y="1261872"/>
            <a:ext cx="347472" cy="347472"/>
          </a:xfrm>
          <a:prstGeom prst="rect">
            <a:avLst/>
          </a:prstGeom>
        </p:spPr>
      </p:pic>
      <p:sp>
        <p:nvSpPr>
          <p:cNvPr id="10" name="Text 6"/>
          <p:cNvSpPr/>
          <p:nvPr/>
        </p:nvSpPr>
        <p:spPr>
          <a:xfrm>
            <a:off x="786384" y="1188720"/>
            <a:ext cx="1618488" cy="502920"/>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GitHub Pipelines</a:t>
            </a:r>
            <a:endParaRPr lang="en-US" sz="1050" dirty="0"/>
          </a:p>
        </p:txBody>
      </p:sp>
      <p:sp>
        <p:nvSpPr>
          <p:cNvPr id="11" name="Shape 7"/>
          <p:cNvSpPr/>
          <p:nvPr/>
        </p:nvSpPr>
        <p:spPr>
          <a:xfrm>
            <a:off x="2487168" y="1435608"/>
            <a:ext cx="621792" cy="0"/>
          </a:xfrm>
          <a:prstGeom prst="line">
            <a:avLst/>
          </a:prstGeom>
          <a:noFill/>
          <a:ln w="25400">
            <a:solidFill>
              <a:srgbClr val="00B4D8"/>
            </a:solidFill>
            <a:prstDash val="solid"/>
          </a:ln>
        </p:spPr>
      </p:sp>
      <p:sp>
        <p:nvSpPr>
          <p:cNvPr id="12" name="Shape 8"/>
          <p:cNvSpPr/>
          <p:nvPr/>
        </p:nvSpPr>
        <p:spPr>
          <a:xfrm>
            <a:off x="274320" y="2103120"/>
            <a:ext cx="2194560" cy="685800"/>
          </a:xfrm>
          <a:prstGeom prst="roundRect">
            <a:avLst>
              <a:gd name="adj" fmla="val 10667"/>
            </a:avLst>
          </a:prstGeom>
          <a:solidFill>
            <a:srgbClr val="112652"/>
          </a:solidFill>
          <a:ln w="12700">
            <a:solidFill>
              <a:srgbClr val="0077B6"/>
            </a:solidFill>
            <a:prstDash val="solid"/>
          </a:ln>
          <a:effectLst>
            <a:outerShdw sx="100000" sy="100000" kx="0" ky="0" algn="bl" rotWithShape="0" blurRad="127000" dist="38100" dir="2700000">
              <a:srgbClr val="000000">
                <a:alpha val="25000"/>
              </a:srgbClr>
            </a:outerShdw>
          </a:effectLst>
        </p:spPr>
      </p:sp>
      <p:pic>
        <p:nvPicPr>
          <p:cNvPr id="13" name="Image 2" descr="preencoded.png">    </p:cNvPr>
          <p:cNvPicPr>
            <a:picLocks noChangeAspect="1"/>
          </p:cNvPicPr>
          <p:nvPr/>
        </p:nvPicPr>
        <p:blipFill>
          <a:blip r:embed="rId3"/>
          <a:stretch>
            <a:fillRect/>
          </a:stretch>
        </p:blipFill>
        <p:spPr>
          <a:xfrm>
            <a:off x="384048" y="2267712"/>
            <a:ext cx="347472" cy="347472"/>
          </a:xfrm>
          <a:prstGeom prst="rect">
            <a:avLst/>
          </a:prstGeom>
        </p:spPr>
      </p:pic>
      <p:sp>
        <p:nvSpPr>
          <p:cNvPr id="14" name="Text 9"/>
          <p:cNvSpPr/>
          <p:nvPr/>
        </p:nvSpPr>
        <p:spPr>
          <a:xfrm>
            <a:off x="786384" y="2194560"/>
            <a:ext cx="1618488" cy="502920"/>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Azure Resources</a:t>
            </a:r>
            <a:endParaRPr lang="en-US" sz="1050" dirty="0"/>
          </a:p>
        </p:txBody>
      </p:sp>
      <p:sp>
        <p:nvSpPr>
          <p:cNvPr id="15" name="Shape 10"/>
          <p:cNvSpPr/>
          <p:nvPr/>
        </p:nvSpPr>
        <p:spPr>
          <a:xfrm>
            <a:off x="2487168" y="2441448"/>
            <a:ext cx="621792" cy="0"/>
          </a:xfrm>
          <a:prstGeom prst="line">
            <a:avLst/>
          </a:prstGeom>
          <a:noFill/>
          <a:ln w="25400">
            <a:solidFill>
              <a:srgbClr val="00B4D8"/>
            </a:solidFill>
            <a:prstDash val="solid"/>
          </a:ln>
        </p:spPr>
      </p:sp>
      <p:sp>
        <p:nvSpPr>
          <p:cNvPr id="16" name="Shape 11"/>
          <p:cNvSpPr/>
          <p:nvPr/>
        </p:nvSpPr>
        <p:spPr>
          <a:xfrm>
            <a:off x="274320" y="3108960"/>
            <a:ext cx="2194560" cy="685800"/>
          </a:xfrm>
          <a:prstGeom prst="roundRect">
            <a:avLst>
              <a:gd name="adj" fmla="val 10667"/>
            </a:avLst>
          </a:prstGeom>
          <a:solidFill>
            <a:srgbClr val="112652"/>
          </a:solidFill>
          <a:ln w="12700">
            <a:solidFill>
              <a:srgbClr val="0077B6"/>
            </a:solidFill>
            <a:prstDash val="solid"/>
          </a:ln>
          <a:effectLst>
            <a:outerShdw sx="100000" sy="100000" kx="0" ky="0" algn="bl" rotWithShape="0" blurRad="127000" dist="38100" dir="2700000">
              <a:srgbClr val="000000">
                <a:alpha val="25000"/>
              </a:srgbClr>
            </a:outerShdw>
          </a:effectLst>
        </p:spPr>
      </p:sp>
      <p:pic>
        <p:nvPicPr>
          <p:cNvPr id="17" name="Image 3" descr="preencoded.png">    </p:cNvPr>
          <p:cNvPicPr>
            <a:picLocks noChangeAspect="1"/>
          </p:cNvPicPr>
          <p:nvPr/>
        </p:nvPicPr>
        <p:blipFill>
          <a:blip r:embed="rId4"/>
          <a:stretch>
            <a:fillRect/>
          </a:stretch>
        </p:blipFill>
        <p:spPr>
          <a:xfrm>
            <a:off x="384048" y="3273552"/>
            <a:ext cx="347472" cy="347472"/>
          </a:xfrm>
          <a:prstGeom prst="rect">
            <a:avLst/>
          </a:prstGeom>
        </p:spPr>
      </p:pic>
      <p:sp>
        <p:nvSpPr>
          <p:cNvPr id="18" name="Text 12"/>
          <p:cNvSpPr/>
          <p:nvPr/>
        </p:nvSpPr>
        <p:spPr>
          <a:xfrm>
            <a:off x="786384" y="3200400"/>
            <a:ext cx="1618488" cy="502920"/>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AWS Resources</a:t>
            </a:r>
            <a:endParaRPr lang="en-US" sz="1050" dirty="0"/>
          </a:p>
        </p:txBody>
      </p:sp>
      <p:sp>
        <p:nvSpPr>
          <p:cNvPr id="19" name="Shape 13"/>
          <p:cNvSpPr/>
          <p:nvPr/>
        </p:nvSpPr>
        <p:spPr>
          <a:xfrm>
            <a:off x="2487168" y="3447288"/>
            <a:ext cx="621792" cy="0"/>
          </a:xfrm>
          <a:prstGeom prst="line">
            <a:avLst/>
          </a:prstGeom>
          <a:noFill/>
          <a:ln w="25400">
            <a:solidFill>
              <a:srgbClr val="00B4D8"/>
            </a:solidFill>
            <a:prstDash val="solid"/>
          </a:ln>
        </p:spPr>
      </p:sp>
      <p:sp>
        <p:nvSpPr>
          <p:cNvPr id="20" name="Shape 14"/>
          <p:cNvSpPr/>
          <p:nvPr/>
        </p:nvSpPr>
        <p:spPr>
          <a:xfrm>
            <a:off x="6675120" y="1097280"/>
            <a:ext cx="2194560" cy="685800"/>
          </a:xfrm>
          <a:prstGeom prst="roundRect">
            <a:avLst>
              <a:gd name="adj" fmla="val 10667"/>
            </a:avLst>
          </a:prstGeom>
          <a:solidFill>
            <a:srgbClr val="112652"/>
          </a:solidFill>
          <a:ln w="12700">
            <a:solidFill>
              <a:srgbClr val="00C896"/>
            </a:solidFill>
            <a:prstDash val="solid"/>
          </a:ln>
          <a:effectLst>
            <a:outerShdw sx="100000" sy="100000" kx="0" ky="0" algn="bl" rotWithShape="0" blurRad="127000" dist="38100" dir="2700000">
              <a:srgbClr val="000000">
                <a:alpha val="25000"/>
              </a:srgbClr>
            </a:outerShdw>
          </a:effectLst>
        </p:spPr>
      </p:sp>
      <p:pic>
        <p:nvPicPr>
          <p:cNvPr id="21" name="Image 4" descr="preencoded.png">    </p:cNvPr>
          <p:cNvPicPr>
            <a:picLocks noChangeAspect="1"/>
          </p:cNvPicPr>
          <p:nvPr/>
        </p:nvPicPr>
        <p:blipFill>
          <a:blip r:embed="rId5"/>
          <a:stretch>
            <a:fillRect/>
          </a:stretch>
        </p:blipFill>
        <p:spPr>
          <a:xfrm>
            <a:off x="6784848" y="1261872"/>
            <a:ext cx="347472" cy="347472"/>
          </a:xfrm>
          <a:prstGeom prst="rect">
            <a:avLst/>
          </a:prstGeom>
        </p:spPr>
      </p:pic>
      <p:sp>
        <p:nvSpPr>
          <p:cNvPr id="22" name="Text 15"/>
          <p:cNvSpPr/>
          <p:nvPr/>
        </p:nvSpPr>
        <p:spPr>
          <a:xfrm>
            <a:off x="7187184" y="1188720"/>
            <a:ext cx="1618488" cy="502920"/>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AI Root Cause Analysis</a:t>
            </a:r>
            <a:endParaRPr lang="en-US" sz="1050" dirty="0"/>
          </a:p>
        </p:txBody>
      </p:sp>
      <p:sp>
        <p:nvSpPr>
          <p:cNvPr id="23" name="Shape 16"/>
          <p:cNvSpPr/>
          <p:nvPr/>
        </p:nvSpPr>
        <p:spPr>
          <a:xfrm>
            <a:off x="6035040" y="1435608"/>
            <a:ext cx="621792" cy="0"/>
          </a:xfrm>
          <a:prstGeom prst="line">
            <a:avLst/>
          </a:prstGeom>
          <a:noFill/>
          <a:ln w="25400">
            <a:solidFill>
              <a:srgbClr val="00C896"/>
            </a:solidFill>
            <a:prstDash val="solid"/>
          </a:ln>
        </p:spPr>
      </p:sp>
      <p:sp>
        <p:nvSpPr>
          <p:cNvPr id="24" name="Shape 17"/>
          <p:cNvSpPr/>
          <p:nvPr/>
        </p:nvSpPr>
        <p:spPr>
          <a:xfrm>
            <a:off x="6675120" y="2103120"/>
            <a:ext cx="2194560" cy="685800"/>
          </a:xfrm>
          <a:prstGeom prst="roundRect">
            <a:avLst>
              <a:gd name="adj" fmla="val 10667"/>
            </a:avLst>
          </a:prstGeom>
          <a:solidFill>
            <a:srgbClr val="112652"/>
          </a:solidFill>
          <a:ln w="12700">
            <a:solidFill>
              <a:srgbClr val="00C896"/>
            </a:solidFill>
            <a:prstDash val="solid"/>
          </a:ln>
          <a:effectLst>
            <a:outerShdw sx="100000" sy="100000" kx="0" ky="0" algn="bl" rotWithShape="0" blurRad="127000" dist="38100" dir="2700000">
              <a:srgbClr val="000000">
                <a:alpha val="25000"/>
              </a:srgbClr>
            </a:outerShdw>
          </a:effectLst>
        </p:spPr>
      </p:sp>
      <p:pic>
        <p:nvPicPr>
          <p:cNvPr id="25" name="Image 5" descr="preencoded.png">    </p:cNvPr>
          <p:cNvPicPr>
            <a:picLocks noChangeAspect="1"/>
          </p:cNvPicPr>
          <p:nvPr/>
        </p:nvPicPr>
        <p:blipFill>
          <a:blip r:embed="rId6"/>
          <a:stretch>
            <a:fillRect/>
          </a:stretch>
        </p:blipFill>
        <p:spPr>
          <a:xfrm>
            <a:off x="6784848" y="2267712"/>
            <a:ext cx="347472" cy="347472"/>
          </a:xfrm>
          <a:prstGeom prst="rect">
            <a:avLst/>
          </a:prstGeom>
        </p:spPr>
      </p:pic>
      <p:sp>
        <p:nvSpPr>
          <p:cNvPr id="26" name="Text 18"/>
          <p:cNvSpPr/>
          <p:nvPr/>
        </p:nvSpPr>
        <p:spPr>
          <a:xfrm>
            <a:off x="7187184" y="2194560"/>
            <a:ext cx="1618488" cy="502920"/>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Smart Notifications</a:t>
            </a:r>
            <a:endParaRPr lang="en-US" sz="1050" dirty="0"/>
          </a:p>
        </p:txBody>
      </p:sp>
      <p:sp>
        <p:nvSpPr>
          <p:cNvPr id="27" name="Shape 19"/>
          <p:cNvSpPr/>
          <p:nvPr/>
        </p:nvSpPr>
        <p:spPr>
          <a:xfrm>
            <a:off x="6035040" y="2441448"/>
            <a:ext cx="621792" cy="0"/>
          </a:xfrm>
          <a:prstGeom prst="line">
            <a:avLst/>
          </a:prstGeom>
          <a:noFill/>
          <a:ln w="25400">
            <a:solidFill>
              <a:srgbClr val="00C896"/>
            </a:solidFill>
            <a:prstDash val="solid"/>
          </a:ln>
        </p:spPr>
      </p:sp>
      <p:sp>
        <p:nvSpPr>
          <p:cNvPr id="28" name="Shape 20"/>
          <p:cNvSpPr/>
          <p:nvPr/>
        </p:nvSpPr>
        <p:spPr>
          <a:xfrm>
            <a:off x="6675120" y="3108960"/>
            <a:ext cx="2194560" cy="685800"/>
          </a:xfrm>
          <a:prstGeom prst="roundRect">
            <a:avLst>
              <a:gd name="adj" fmla="val 10667"/>
            </a:avLst>
          </a:prstGeom>
          <a:solidFill>
            <a:srgbClr val="112652"/>
          </a:solidFill>
          <a:ln w="12700">
            <a:solidFill>
              <a:srgbClr val="00C896"/>
            </a:solidFill>
            <a:prstDash val="solid"/>
          </a:ln>
          <a:effectLst>
            <a:outerShdw sx="100000" sy="100000" kx="0" ky="0" algn="bl" rotWithShape="0" blurRad="127000" dist="38100" dir="2700000">
              <a:srgbClr val="000000">
                <a:alpha val="25000"/>
              </a:srgbClr>
            </a:outerShdw>
          </a:effectLst>
        </p:spPr>
      </p:sp>
      <p:pic>
        <p:nvPicPr>
          <p:cNvPr id="29" name="Image 6" descr="preencoded.png">    </p:cNvPr>
          <p:cNvPicPr>
            <a:picLocks noChangeAspect="1"/>
          </p:cNvPicPr>
          <p:nvPr/>
        </p:nvPicPr>
        <p:blipFill>
          <a:blip r:embed="rId7"/>
          <a:stretch>
            <a:fillRect/>
          </a:stretch>
        </p:blipFill>
        <p:spPr>
          <a:xfrm>
            <a:off x="6784848" y="3273552"/>
            <a:ext cx="347472" cy="347472"/>
          </a:xfrm>
          <a:prstGeom prst="rect">
            <a:avLst/>
          </a:prstGeom>
        </p:spPr>
      </p:pic>
      <p:sp>
        <p:nvSpPr>
          <p:cNvPr id="30" name="Text 21"/>
          <p:cNvSpPr/>
          <p:nvPr/>
        </p:nvSpPr>
        <p:spPr>
          <a:xfrm>
            <a:off x="7187184" y="3200400"/>
            <a:ext cx="1618488" cy="502920"/>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Incident Dashboard</a:t>
            </a:r>
            <a:endParaRPr lang="en-US" sz="1050" dirty="0"/>
          </a:p>
        </p:txBody>
      </p:sp>
      <p:sp>
        <p:nvSpPr>
          <p:cNvPr id="31" name="Shape 22"/>
          <p:cNvSpPr/>
          <p:nvPr/>
        </p:nvSpPr>
        <p:spPr>
          <a:xfrm>
            <a:off x="6035040" y="3447288"/>
            <a:ext cx="621792" cy="0"/>
          </a:xfrm>
          <a:prstGeom prst="line">
            <a:avLst/>
          </a:prstGeom>
          <a:noFill/>
          <a:ln w="25400">
            <a:solidFill>
              <a:srgbClr val="00C896"/>
            </a:solidFill>
            <a:prstDash val="solid"/>
          </a:ln>
        </p:spPr>
      </p:sp>
      <p:sp>
        <p:nvSpPr>
          <p:cNvPr id="32" name="Shape 23"/>
          <p:cNvSpPr/>
          <p:nvPr/>
        </p:nvSpPr>
        <p:spPr>
          <a:xfrm>
            <a:off x="274320" y="4206240"/>
            <a:ext cx="2029968" cy="502920"/>
          </a:xfrm>
          <a:prstGeom prst="roundRect">
            <a:avLst>
              <a:gd name="adj" fmla="val 14545"/>
            </a:avLst>
          </a:prstGeom>
          <a:solidFill>
            <a:srgbClr val="0F2240"/>
          </a:solidFill>
          <a:ln w="12700">
            <a:solidFill>
              <a:srgbClr val="F59E0B"/>
            </a:solidFill>
            <a:prstDash val="solid"/>
          </a:ln>
          <a:effectLst>
            <a:outerShdw sx="100000" sy="100000" kx="0" ky="0" algn="bl" rotWithShape="0" blurRad="127000" dist="38100" dir="2700000">
              <a:srgbClr val="000000">
                <a:alpha val="25000"/>
              </a:srgbClr>
            </a:outerShdw>
          </a:effectLst>
        </p:spPr>
      </p:sp>
      <p:sp>
        <p:nvSpPr>
          <p:cNvPr id="33" name="Text 24"/>
          <p:cNvSpPr/>
          <p:nvPr/>
        </p:nvSpPr>
        <p:spPr>
          <a:xfrm>
            <a:off x="274320" y="4206240"/>
            <a:ext cx="2029968" cy="502920"/>
          </a:xfrm>
          <a:prstGeom prst="rect">
            <a:avLst/>
          </a:prstGeom>
          <a:noFill/>
          <a:ln/>
        </p:spPr>
        <p:txBody>
          <a:bodyPr wrap="square" lIns="0" tIns="0" rIns="0" bIns="0" rtlCol="0" anchor="ctr"/>
          <a:lstStyle/>
          <a:p>
            <a:pPr algn="ctr" indent="0" marL="0">
              <a:buNone/>
            </a:pPr>
            <a:r>
              <a:rPr lang="en-US" sz="1000" b="1" dirty="0">
                <a:solidFill>
                  <a:srgbClr val="F59E0B"/>
                </a:solidFill>
                <a:latin typeface="Calibri" pitchFamily="34" charset="0"/>
                <a:ea typeface="Calibri" pitchFamily="34" charset="-122"/>
                <a:cs typeface="Calibri" pitchFamily="34" charset="-120"/>
              </a:rPr>
              <a:t>Centralized Visibility</a:t>
            </a:r>
            <a:endParaRPr lang="en-US" sz="1000" dirty="0"/>
          </a:p>
        </p:txBody>
      </p:sp>
      <p:sp>
        <p:nvSpPr>
          <p:cNvPr id="34" name="Shape 25"/>
          <p:cNvSpPr/>
          <p:nvPr/>
        </p:nvSpPr>
        <p:spPr>
          <a:xfrm>
            <a:off x="2441448" y="4206240"/>
            <a:ext cx="2029968" cy="502920"/>
          </a:xfrm>
          <a:prstGeom prst="roundRect">
            <a:avLst>
              <a:gd name="adj" fmla="val 14545"/>
            </a:avLst>
          </a:prstGeom>
          <a:solidFill>
            <a:srgbClr val="0F2240"/>
          </a:solidFill>
          <a:ln w="12700">
            <a:solidFill>
              <a:srgbClr val="F59E0B"/>
            </a:solidFill>
            <a:prstDash val="solid"/>
          </a:ln>
          <a:effectLst>
            <a:outerShdw sx="100000" sy="100000" kx="0" ky="0" algn="bl" rotWithShape="0" blurRad="127000" dist="38100" dir="2700000">
              <a:srgbClr val="000000">
                <a:alpha val="25000"/>
              </a:srgbClr>
            </a:outerShdw>
          </a:effectLst>
        </p:spPr>
      </p:sp>
      <p:sp>
        <p:nvSpPr>
          <p:cNvPr id="35" name="Text 26"/>
          <p:cNvSpPr/>
          <p:nvPr/>
        </p:nvSpPr>
        <p:spPr>
          <a:xfrm>
            <a:off x="2441448" y="4206240"/>
            <a:ext cx="2029968" cy="502920"/>
          </a:xfrm>
          <a:prstGeom prst="rect">
            <a:avLst/>
          </a:prstGeom>
          <a:noFill/>
          <a:ln/>
        </p:spPr>
        <p:txBody>
          <a:bodyPr wrap="square" lIns="0" tIns="0" rIns="0" bIns="0" rtlCol="0" anchor="ctr"/>
          <a:lstStyle/>
          <a:p>
            <a:pPr algn="ctr" indent="0" marL="0">
              <a:buNone/>
            </a:pPr>
            <a:r>
              <a:rPr lang="en-US" sz="1000" b="1" dirty="0">
                <a:solidFill>
                  <a:srgbClr val="F59E0B"/>
                </a:solidFill>
                <a:latin typeface="Calibri" pitchFamily="34" charset="0"/>
                <a:ea typeface="Calibri" pitchFamily="34" charset="-122"/>
                <a:cs typeface="Calibri" pitchFamily="34" charset="-120"/>
              </a:rPr>
              <a:t>Automated RCA</a:t>
            </a:r>
            <a:endParaRPr lang="en-US" sz="1000" dirty="0"/>
          </a:p>
        </p:txBody>
      </p:sp>
      <p:sp>
        <p:nvSpPr>
          <p:cNvPr id="36" name="Shape 27"/>
          <p:cNvSpPr/>
          <p:nvPr/>
        </p:nvSpPr>
        <p:spPr>
          <a:xfrm>
            <a:off x="4608576" y="4206240"/>
            <a:ext cx="2029968" cy="502920"/>
          </a:xfrm>
          <a:prstGeom prst="roundRect">
            <a:avLst>
              <a:gd name="adj" fmla="val 14545"/>
            </a:avLst>
          </a:prstGeom>
          <a:solidFill>
            <a:srgbClr val="0F2240"/>
          </a:solidFill>
          <a:ln w="12700">
            <a:solidFill>
              <a:srgbClr val="F59E0B"/>
            </a:solidFill>
            <a:prstDash val="solid"/>
          </a:ln>
          <a:effectLst>
            <a:outerShdw sx="100000" sy="100000" kx="0" ky="0" algn="bl" rotWithShape="0" blurRad="127000" dist="38100" dir="2700000">
              <a:srgbClr val="000000">
                <a:alpha val="25000"/>
              </a:srgbClr>
            </a:outerShdw>
          </a:effectLst>
        </p:spPr>
      </p:sp>
      <p:sp>
        <p:nvSpPr>
          <p:cNvPr id="37" name="Text 28"/>
          <p:cNvSpPr/>
          <p:nvPr/>
        </p:nvSpPr>
        <p:spPr>
          <a:xfrm>
            <a:off x="4608576" y="4206240"/>
            <a:ext cx="2029968" cy="502920"/>
          </a:xfrm>
          <a:prstGeom prst="rect">
            <a:avLst/>
          </a:prstGeom>
          <a:noFill/>
          <a:ln/>
        </p:spPr>
        <p:txBody>
          <a:bodyPr wrap="square" lIns="0" tIns="0" rIns="0" bIns="0" rtlCol="0" anchor="ctr"/>
          <a:lstStyle/>
          <a:p>
            <a:pPr algn="ctr" indent="0" marL="0">
              <a:buNone/>
            </a:pPr>
            <a:r>
              <a:rPr lang="en-US" sz="1000" b="1" dirty="0">
                <a:solidFill>
                  <a:srgbClr val="F59E0B"/>
                </a:solidFill>
                <a:latin typeface="Calibri" pitchFamily="34" charset="0"/>
                <a:ea typeface="Calibri" pitchFamily="34" charset="-122"/>
                <a:cs typeface="Calibri" pitchFamily="34" charset="-120"/>
              </a:rPr>
              <a:t>Cost Insights</a:t>
            </a:r>
            <a:endParaRPr lang="en-US" sz="1000" dirty="0"/>
          </a:p>
        </p:txBody>
      </p:sp>
      <p:sp>
        <p:nvSpPr>
          <p:cNvPr id="38" name="Shape 29"/>
          <p:cNvSpPr/>
          <p:nvPr/>
        </p:nvSpPr>
        <p:spPr>
          <a:xfrm>
            <a:off x="6775704" y="4206240"/>
            <a:ext cx="2029968" cy="502920"/>
          </a:xfrm>
          <a:prstGeom prst="roundRect">
            <a:avLst>
              <a:gd name="adj" fmla="val 14545"/>
            </a:avLst>
          </a:prstGeom>
          <a:solidFill>
            <a:srgbClr val="0F2240"/>
          </a:solidFill>
          <a:ln w="12700">
            <a:solidFill>
              <a:srgbClr val="F59E0B"/>
            </a:solidFill>
            <a:prstDash val="solid"/>
          </a:ln>
          <a:effectLst>
            <a:outerShdw sx="100000" sy="100000" kx="0" ky="0" algn="bl" rotWithShape="0" blurRad="127000" dist="38100" dir="2700000">
              <a:srgbClr val="000000">
                <a:alpha val="25000"/>
              </a:srgbClr>
            </a:outerShdw>
          </a:effectLst>
        </p:spPr>
      </p:sp>
      <p:sp>
        <p:nvSpPr>
          <p:cNvPr id="39" name="Text 30"/>
          <p:cNvSpPr/>
          <p:nvPr/>
        </p:nvSpPr>
        <p:spPr>
          <a:xfrm>
            <a:off x="6775704" y="4206240"/>
            <a:ext cx="2029968" cy="502920"/>
          </a:xfrm>
          <a:prstGeom prst="rect">
            <a:avLst/>
          </a:prstGeom>
          <a:noFill/>
          <a:ln/>
        </p:spPr>
        <p:txBody>
          <a:bodyPr wrap="square" lIns="0" tIns="0" rIns="0" bIns="0" rtlCol="0" anchor="ctr"/>
          <a:lstStyle/>
          <a:p>
            <a:pPr algn="ctr" indent="0" marL="0">
              <a:buNone/>
            </a:pPr>
            <a:r>
              <a:rPr lang="en-US" sz="1000" b="1" dirty="0">
                <a:solidFill>
                  <a:srgbClr val="F59E0B"/>
                </a:solidFill>
                <a:latin typeface="Calibri" pitchFamily="34" charset="0"/>
                <a:ea typeface="Calibri" pitchFamily="34" charset="-122"/>
                <a:cs typeface="Calibri" pitchFamily="34" charset="-120"/>
              </a:rPr>
              <a:t>Zero-Trust Security</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F2240"/>
          </a:solidFill>
          <a:ln/>
        </p:spPr>
      </p:sp>
      <p:sp>
        <p:nvSpPr>
          <p:cNvPr id="3" name="Text 1"/>
          <p:cNvSpPr/>
          <p:nvPr/>
        </p:nvSpPr>
        <p:spPr>
          <a:xfrm>
            <a:off x="274320" y="73152"/>
            <a:ext cx="8595360" cy="54864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Microservice Architecture</a:t>
            </a:r>
            <a:endParaRPr lang="en-US" sz="2200" dirty="0"/>
          </a:p>
        </p:txBody>
      </p:sp>
      <p:sp>
        <p:nvSpPr>
          <p:cNvPr id="4" name="Text 2"/>
          <p:cNvSpPr/>
          <p:nvPr/>
        </p:nvSpPr>
        <p:spPr>
          <a:xfrm>
            <a:off x="274320" y="548640"/>
            <a:ext cx="8595360" cy="256032"/>
          </a:xfrm>
          <a:prstGeom prst="rect">
            <a:avLst/>
          </a:prstGeom>
          <a:noFill/>
          <a:ln/>
        </p:spPr>
        <p:txBody>
          <a:bodyPr wrap="square" lIns="0" tIns="0" rIns="0" bIns="0" rtlCol="0" anchor="ctr"/>
          <a:lstStyle/>
          <a:p>
            <a:pPr indent="0" marL="0">
              <a:buNone/>
            </a:pPr>
            <a:r>
              <a:rPr lang="en-US" sz="1100" dirty="0">
                <a:solidFill>
                  <a:srgbClr val="00B4D8"/>
                </a:solidFill>
                <a:latin typeface="Calibri" pitchFamily="34" charset="0"/>
                <a:ea typeface="Calibri" pitchFamily="34" charset="-122"/>
                <a:cs typeface="Calibri" pitchFamily="34" charset="-120"/>
              </a:rPr>
              <a:t>8 purpose-built services with separation of concerns</a:t>
            </a:r>
            <a:endParaRPr lang="en-US" sz="1100" dirty="0"/>
          </a:p>
        </p:txBody>
      </p:sp>
      <p:sp>
        <p:nvSpPr>
          <p:cNvPr id="5" name="Shape 3"/>
          <p:cNvSpPr/>
          <p:nvPr/>
        </p:nvSpPr>
        <p:spPr>
          <a:xfrm>
            <a:off x="182880" y="960120"/>
            <a:ext cx="2084832" cy="1783080"/>
          </a:xfrm>
          <a:prstGeom prst="roundRect">
            <a:avLst>
              <a:gd name="adj" fmla="val 4103"/>
            </a:avLst>
          </a:prstGeom>
          <a:solidFill>
            <a:srgbClr val="0F2240"/>
          </a:solidFill>
          <a:ln w="19050">
            <a:solidFill>
              <a:srgbClr val="0078D4"/>
            </a:solidFill>
            <a:prstDash val="solid"/>
          </a:ln>
          <a:effectLst>
            <a:outerShdw sx="100000" sy="100000" kx="0" ky="0" algn="bl" rotWithShape="0" blurRad="127000" dist="38100" dir="2700000">
              <a:srgbClr val="000000">
                <a:alpha val="25000"/>
              </a:srgbClr>
            </a:outerShdw>
          </a:effectLst>
        </p:spPr>
      </p:sp>
      <p:pic>
        <p:nvPicPr>
          <p:cNvPr id="6" name="Image 0" descr="preencoded.png">    </p:cNvPr>
          <p:cNvPicPr>
            <a:picLocks noChangeAspect="1"/>
          </p:cNvPicPr>
          <p:nvPr/>
        </p:nvPicPr>
        <p:blipFill>
          <a:blip r:embed="rId1"/>
          <a:stretch>
            <a:fillRect/>
          </a:stretch>
        </p:blipFill>
        <p:spPr>
          <a:xfrm>
            <a:off x="256032" y="1051560"/>
            <a:ext cx="365760" cy="365760"/>
          </a:xfrm>
          <a:prstGeom prst="rect">
            <a:avLst/>
          </a:prstGeom>
        </p:spPr>
      </p:pic>
      <p:sp>
        <p:nvSpPr>
          <p:cNvPr id="7" name="Text 4"/>
          <p:cNvSpPr/>
          <p:nvPr/>
        </p:nvSpPr>
        <p:spPr>
          <a:xfrm>
            <a:off x="256032" y="1463040"/>
            <a:ext cx="1920240" cy="347472"/>
          </a:xfrm>
          <a:prstGeom prst="rect">
            <a:avLst/>
          </a:prstGeom>
          <a:noFill/>
          <a:ln/>
        </p:spPr>
        <p:txBody>
          <a:bodyPr wrap="square" lIns="0" tIns="0" rIns="0" bIns="0" rtlCol="0" anchor="ctr"/>
          <a:lstStyle/>
          <a:p>
            <a:pPr indent="0" marL="0">
              <a:buNone/>
            </a:pPr>
            <a:r>
              <a:rPr lang="en-US" sz="900" b="1" dirty="0">
                <a:solidFill>
                  <a:srgbClr val="0078D4"/>
                </a:solidFill>
                <a:latin typeface="Calibri" pitchFamily="34" charset="0"/>
                <a:ea typeface="Calibri" pitchFamily="34" charset="-122"/>
                <a:cs typeface="Calibri" pitchFamily="34" charset="-120"/>
              </a:rPr>
              <a:t>frontend</a:t>
            </a:r>
            <a:endParaRPr lang="en-US" sz="900" dirty="0"/>
          </a:p>
        </p:txBody>
      </p:sp>
      <p:sp>
        <p:nvSpPr>
          <p:cNvPr id="8" name="Text 5"/>
          <p:cNvSpPr/>
          <p:nvPr/>
        </p:nvSpPr>
        <p:spPr>
          <a:xfrm>
            <a:off x="256032" y="1828800"/>
            <a:ext cx="1920240" cy="868680"/>
          </a:xfrm>
          <a:prstGeom prst="rect">
            <a:avLst/>
          </a:prstGeom>
          <a:noFill/>
          <a:ln/>
        </p:spPr>
        <p:txBody>
          <a:bodyPr wrap="square" lIns="0" tIns="0" rIns="0" bIns="0" rtlCol="0" anchor="ctr"/>
          <a:lstStyle/>
          <a:p>
            <a:pPr indent="0" marL="0">
              <a:buNone/>
            </a:pPr>
            <a:r>
              <a:rPr lang="en-US" sz="850" dirty="0">
                <a:solidFill>
                  <a:srgbClr val="CBD5E1"/>
                </a:solidFill>
                <a:latin typeface="Calibri" pitchFamily="34" charset="0"/>
                <a:ea typeface="Calibri" pitchFamily="34" charset="-122"/>
                <a:cs typeface="Calibri" pitchFamily="34" charset="-120"/>
              </a:rPr>
              <a:t>React UI dashboard — incidents, cost, health</a:t>
            </a:r>
            <a:endParaRPr lang="en-US" sz="850" dirty="0"/>
          </a:p>
        </p:txBody>
      </p:sp>
      <p:sp>
        <p:nvSpPr>
          <p:cNvPr id="9" name="Shape 6"/>
          <p:cNvSpPr/>
          <p:nvPr/>
        </p:nvSpPr>
        <p:spPr>
          <a:xfrm>
            <a:off x="2395728" y="960120"/>
            <a:ext cx="2084832" cy="1783080"/>
          </a:xfrm>
          <a:prstGeom prst="roundRect">
            <a:avLst>
              <a:gd name="adj" fmla="val 4103"/>
            </a:avLst>
          </a:prstGeom>
          <a:solidFill>
            <a:srgbClr val="0F2240"/>
          </a:solidFill>
          <a:ln w="19050">
            <a:solidFill>
              <a:srgbClr val="00B4D8"/>
            </a:solidFill>
            <a:prstDash val="solid"/>
          </a:ln>
          <a:effectLst>
            <a:outerShdw sx="100000" sy="100000" kx="0" ky="0" algn="bl" rotWithShape="0" blurRad="127000" dist="38100" dir="2700000">
              <a:srgbClr val="000000">
                <a:alpha val="25000"/>
              </a:srgbClr>
            </a:outerShdw>
          </a:effectLst>
        </p:spPr>
      </p:sp>
      <p:pic>
        <p:nvPicPr>
          <p:cNvPr id="10" name="Image 1" descr="preencoded.png">    </p:cNvPr>
          <p:cNvPicPr>
            <a:picLocks noChangeAspect="1"/>
          </p:cNvPicPr>
          <p:nvPr/>
        </p:nvPicPr>
        <p:blipFill>
          <a:blip r:embed="rId2"/>
          <a:stretch>
            <a:fillRect/>
          </a:stretch>
        </p:blipFill>
        <p:spPr>
          <a:xfrm>
            <a:off x="2468880" y="1051560"/>
            <a:ext cx="365760" cy="365760"/>
          </a:xfrm>
          <a:prstGeom prst="rect">
            <a:avLst/>
          </a:prstGeom>
        </p:spPr>
      </p:pic>
      <p:sp>
        <p:nvSpPr>
          <p:cNvPr id="11" name="Text 7"/>
          <p:cNvSpPr/>
          <p:nvPr/>
        </p:nvSpPr>
        <p:spPr>
          <a:xfrm>
            <a:off x="2468880" y="1463040"/>
            <a:ext cx="1920240" cy="347472"/>
          </a:xfrm>
          <a:prstGeom prst="rect">
            <a:avLst/>
          </a:prstGeom>
          <a:noFill/>
          <a:ln/>
        </p:spPr>
        <p:txBody>
          <a:bodyPr wrap="square" lIns="0" tIns="0" rIns="0" bIns="0" rtlCol="0" anchor="ctr"/>
          <a:lstStyle/>
          <a:p>
            <a:pPr indent="0" marL="0">
              <a:buNone/>
            </a:pPr>
            <a:r>
              <a:rPr lang="en-US" sz="900" b="1" dirty="0">
                <a:solidFill>
                  <a:srgbClr val="00B4D8"/>
                </a:solidFill>
                <a:latin typeface="Calibri" pitchFamily="34" charset="0"/>
                <a:ea typeface="Calibri" pitchFamily="34" charset="-122"/>
                <a:cs typeface="Calibri" pitchFamily="34" charset="-120"/>
              </a:rPr>
              <a:t>api-gateway-service</a:t>
            </a:r>
            <a:endParaRPr lang="en-US" sz="900" dirty="0"/>
          </a:p>
        </p:txBody>
      </p:sp>
      <p:sp>
        <p:nvSpPr>
          <p:cNvPr id="12" name="Text 8"/>
          <p:cNvSpPr/>
          <p:nvPr/>
        </p:nvSpPr>
        <p:spPr>
          <a:xfrm>
            <a:off x="2468880" y="1828800"/>
            <a:ext cx="1920240" cy="868680"/>
          </a:xfrm>
          <a:prstGeom prst="rect">
            <a:avLst/>
          </a:prstGeom>
          <a:noFill/>
          <a:ln/>
        </p:spPr>
        <p:txBody>
          <a:bodyPr wrap="square" lIns="0" tIns="0" rIns="0" bIns="0" rtlCol="0" anchor="ctr"/>
          <a:lstStyle/>
          <a:p>
            <a:pPr indent="0" marL="0">
              <a:buNone/>
            </a:pPr>
            <a:r>
              <a:rPr lang="en-US" sz="850" dirty="0">
                <a:solidFill>
                  <a:srgbClr val="CBD5E1"/>
                </a:solidFill>
                <a:latin typeface="Calibri" pitchFamily="34" charset="0"/>
                <a:ea typeface="Calibri" pitchFamily="34" charset="-122"/>
                <a:cs typeface="Calibri" pitchFamily="34" charset="-120"/>
              </a:rPr>
              <a:t>Single entry point, routing, JWT validation</a:t>
            </a:r>
            <a:endParaRPr lang="en-US" sz="850" dirty="0"/>
          </a:p>
        </p:txBody>
      </p:sp>
      <p:sp>
        <p:nvSpPr>
          <p:cNvPr id="13" name="Shape 9"/>
          <p:cNvSpPr/>
          <p:nvPr/>
        </p:nvSpPr>
        <p:spPr>
          <a:xfrm>
            <a:off x="4608576" y="960120"/>
            <a:ext cx="2084832" cy="1783080"/>
          </a:xfrm>
          <a:prstGeom prst="roundRect">
            <a:avLst>
              <a:gd name="adj" fmla="val 4103"/>
            </a:avLst>
          </a:prstGeom>
          <a:solidFill>
            <a:srgbClr val="0F2240"/>
          </a:solidFill>
          <a:ln w="19050">
            <a:solidFill>
              <a:srgbClr val="F59E0B"/>
            </a:solidFill>
            <a:prstDash val="solid"/>
          </a:ln>
          <a:effectLst>
            <a:outerShdw sx="100000" sy="100000" kx="0" ky="0" algn="bl" rotWithShape="0" blurRad="127000" dist="38100" dir="2700000">
              <a:srgbClr val="000000">
                <a:alpha val="25000"/>
              </a:srgbClr>
            </a:outerShdw>
          </a:effectLst>
        </p:spPr>
      </p:sp>
      <p:pic>
        <p:nvPicPr>
          <p:cNvPr id="14" name="Image 2" descr="preencoded.png">    </p:cNvPr>
          <p:cNvPicPr>
            <a:picLocks noChangeAspect="1"/>
          </p:cNvPicPr>
          <p:nvPr/>
        </p:nvPicPr>
        <p:blipFill>
          <a:blip r:embed="rId3"/>
          <a:stretch>
            <a:fillRect/>
          </a:stretch>
        </p:blipFill>
        <p:spPr>
          <a:xfrm>
            <a:off x="4681728" y="1051560"/>
            <a:ext cx="365760" cy="365760"/>
          </a:xfrm>
          <a:prstGeom prst="rect">
            <a:avLst/>
          </a:prstGeom>
        </p:spPr>
      </p:pic>
      <p:sp>
        <p:nvSpPr>
          <p:cNvPr id="15" name="Text 10"/>
          <p:cNvSpPr/>
          <p:nvPr/>
        </p:nvSpPr>
        <p:spPr>
          <a:xfrm>
            <a:off x="4681728" y="1463040"/>
            <a:ext cx="1920240" cy="347472"/>
          </a:xfrm>
          <a:prstGeom prst="rect">
            <a:avLst/>
          </a:prstGeom>
          <a:noFill/>
          <a:ln/>
        </p:spPr>
        <p:txBody>
          <a:bodyPr wrap="square" lIns="0" tIns="0" rIns="0" bIns="0" rtlCol="0" anchor="ctr"/>
          <a:lstStyle/>
          <a:p>
            <a:pPr indent="0" marL="0">
              <a:buNone/>
            </a:pPr>
            <a:r>
              <a:rPr lang="en-US" sz="900" b="1" dirty="0">
                <a:solidFill>
                  <a:srgbClr val="F59E0B"/>
                </a:solidFill>
                <a:latin typeface="Calibri" pitchFamily="34" charset="0"/>
                <a:ea typeface="Calibri" pitchFamily="34" charset="-122"/>
                <a:cs typeface="Calibri" pitchFamily="34" charset="-120"/>
              </a:rPr>
              <a:t>auth-service</a:t>
            </a:r>
            <a:endParaRPr lang="en-US" sz="900" dirty="0"/>
          </a:p>
        </p:txBody>
      </p:sp>
      <p:sp>
        <p:nvSpPr>
          <p:cNvPr id="16" name="Text 11"/>
          <p:cNvSpPr/>
          <p:nvPr/>
        </p:nvSpPr>
        <p:spPr>
          <a:xfrm>
            <a:off x="4681728" y="1828800"/>
            <a:ext cx="1920240" cy="868680"/>
          </a:xfrm>
          <a:prstGeom prst="rect">
            <a:avLst/>
          </a:prstGeom>
          <a:noFill/>
          <a:ln/>
        </p:spPr>
        <p:txBody>
          <a:bodyPr wrap="square" lIns="0" tIns="0" rIns="0" bIns="0" rtlCol="0" anchor="ctr"/>
          <a:lstStyle/>
          <a:p>
            <a:pPr indent="0" marL="0">
              <a:buNone/>
            </a:pPr>
            <a:r>
              <a:rPr lang="en-US" sz="850" dirty="0">
                <a:solidFill>
                  <a:srgbClr val="CBD5E1"/>
                </a:solidFill>
                <a:latin typeface="Calibri" pitchFamily="34" charset="0"/>
                <a:ea typeface="Calibri" pitchFamily="34" charset="-122"/>
                <a:cs typeface="Calibri" pitchFamily="34" charset="-120"/>
              </a:rPr>
              <a:t>Entra ID OAuth2, token exchange &amp; validation</a:t>
            </a:r>
            <a:endParaRPr lang="en-US" sz="850" dirty="0"/>
          </a:p>
        </p:txBody>
      </p:sp>
      <p:sp>
        <p:nvSpPr>
          <p:cNvPr id="17" name="Shape 12"/>
          <p:cNvSpPr/>
          <p:nvPr/>
        </p:nvSpPr>
        <p:spPr>
          <a:xfrm>
            <a:off x="6821424" y="960120"/>
            <a:ext cx="2084832" cy="1783080"/>
          </a:xfrm>
          <a:prstGeom prst="roundRect">
            <a:avLst>
              <a:gd name="adj" fmla="val 4103"/>
            </a:avLst>
          </a:prstGeom>
          <a:solidFill>
            <a:srgbClr val="0F2240"/>
          </a:solidFill>
          <a:ln w="19050">
            <a:solidFill>
              <a:srgbClr val="CBD5E1"/>
            </a:solidFill>
            <a:prstDash val="solid"/>
          </a:ln>
          <a:effectLst>
            <a:outerShdw sx="100000" sy="100000" kx="0" ky="0" algn="bl" rotWithShape="0" blurRad="127000" dist="38100" dir="2700000">
              <a:srgbClr val="000000">
                <a:alpha val="25000"/>
              </a:srgbClr>
            </a:outerShdw>
          </a:effectLst>
        </p:spPr>
      </p:sp>
      <p:pic>
        <p:nvPicPr>
          <p:cNvPr id="18" name="Image 3" descr="preencoded.png">    </p:cNvPr>
          <p:cNvPicPr>
            <a:picLocks noChangeAspect="1"/>
          </p:cNvPicPr>
          <p:nvPr/>
        </p:nvPicPr>
        <p:blipFill>
          <a:blip r:embed="rId4"/>
          <a:stretch>
            <a:fillRect/>
          </a:stretch>
        </p:blipFill>
        <p:spPr>
          <a:xfrm>
            <a:off x="6894576" y="1051560"/>
            <a:ext cx="365760" cy="365760"/>
          </a:xfrm>
          <a:prstGeom prst="rect">
            <a:avLst/>
          </a:prstGeom>
        </p:spPr>
      </p:pic>
      <p:sp>
        <p:nvSpPr>
          <p:cNvPr id="19" name="Text 13"/>
          <p:cNvSpPr/>
          <p:nvPr/>
        </p:nvSpPr>
        <p:spPr>
          <a:xfrm>
            <a:off x="6894576" y="1463040"/>
            <a:ext cx="1920240" cy="347472"/>
          </a:xfrm>
          <a:prstGeom prst="rect">
            <a:avLst/>
          </a:prstGeom>
          <a:noFill/>
          <a:ln/>
        </p:spPr>
        <p:txBody>
          <a:bodyPr wrap="square" lIns="0" tIns="0" rIns="0" bIns="0" rtlCol="0" anchor="ctr"/>
          <a:lstStyle/>
          <a:p>
            <a:pPr indent="0" marL="0">
              <a:buNone/>
            </a:pPr>
            <a:r>
              <a:rPr lang="en-US" sz="900" b="1" dirty="0">
                <a:solidFill>
                  <a:srgbClr val="CBD5E1"/>
                </a:solidFill>
                <a:latin typeface="Calibri" pitchFamily="34" charset="0"/>
                <a:ea typeface="Calibri" pitchFamily="34" charset="-122"/>
                <a:cs typeface="Calibri" pitchFamily="34" charset="-120"/>
              </a:rPr>
              <a:t>github-intelligence-service</a:t>
            </a:r>
            <a:endParaRPr lang="en-US" sz="900" dirty="0"/>
          </a:p>
        </p:txBody>
      </p:sp>
      <p:sp>
        <p:nvSpPr>
          <p:cNvPr id="20" name="Text 14"/>
          <p:cNvSpPr/>
          <p:nvPr/>
        </p:nvSpPr>
        <p:spPr>
          <a:xfrm>
            <a:off x="6894576" y="1828800"/>
            <a:ext cx="1920240" cy="868680"/>
          </a:xfrm>
          <a:prstGeom prst="rect">
            <a:avLst/>
          </a:prstGeom>
          <a:noFill/>
          <a:ln/>
        </p:spPr>
        <p:txBody>
          <a:bodyPr wrap="square" lIns="0" tIns="0" rIns="0" bIns="0" rtlCol="0" anchor="ctr"/>
          <a:lstStyle/>
          <a:p>
            <a:pPr indent="0" marL="0">
              <a:buNone/>
            </a:pPr>
            <a:r>
              <a:rPr lang="en-US" sz="850" dirty="0">
                <a:solidFill>
                  <a:srgbClr val="CBD5E1"/>
                </a:solidFill>
                <a:latin typeface="Calibri" pitchFamily="34" charset="0"/>
                <a:ea typeface="Calibri" pitchFamily="34" charset="-122"/>
                <a:cs typeface="Calibri" pitchFamily="34" charset="-120"/>
              </a:rPr>
              <a:t>Fetches pipeline runs, workflow failures, PRs</a:t>
            </a:r>
            <a:endParaRPr lang="en-US" sz="850" dirty="0"/>
          </a:p>
        </p:txBody>
      </p:sp>
      <p:sp>
        <p:nvSpPr>
          <p:cNvPr id="21" name="Shape 15"/>
          <p:cNvSpPr/>
          <p:nvPr/>
        </p:nvSpPr>
        <p:spPr>
          <a:xfrm>
            <a:off x="182880" y="2926080"/>
            <a:ext cx="2084832" cy="1783080"/>
          </a:xfrm>
          <a:prstGeom prst="roundRect">
            <a:avLst>
              <a:gd name="adj" fmla="val 4103"/>
            </a:avLst>
          </a:prstGeom>
          <a:solidFill>
            <a:srgbClr val="0F2240"/>
          </a:solidFill>
          <a:ln w="19050">
            <a:solidFill>
              <a:srgbClr val="0078D4"/>
            </a:solidFill>
            <a:prstDash val="solid"/>
          </a:ln>
          <a:effectLst>
            <a:outerShdw sx="100000" sy="100000" kx="0" ky="0" algn="bl" rotWithShape="0" blurRad="127000" dist="38100" dir="2700000">
              <a:srgbClr val="000000">
                <a:alpha val="25000"/>
              </a:srgbClr>
            </a:outerShdw>
          </a:effectLst>
        </p:spPr>
      </p:sp>
      <p:pic>
        <p:nvPicPr>
          <p:cNvPr id="22" name="Image 4" descr="preencoded.png">    </p:cNvPr>
          <p:cNvPicPr>
            <a:picLocks noChangeAspect="1"/>
          </p:cNvPicPr>
          <p:nvPr/>
        </p:nvPicPr>
        <p:blipFill>
          <a:blip r:embed="rId5"/>
          <a:stretch>
            <a:fillRect/>
          </a:stretch>
        </p:blipFill>
        <p:spPr>
          <a:xfrm>
            <a:off x="256032" y="3017520"/>
            <a:ext cx="365760" cy="365760"/>
          </a:xfrm>
          <a:prstGeom prst="rect">
            <a:avLst/>
          </a:prstGeom>
        </p:spPr>
      </p:pic>
      <p:sp>
        <p:nvSpPr>
          <p:cNvPr id="23" name="Text 16"/>
          <p:cNvSpPr/>
          <p:nvPr/>
        </p:nvSpPr>
        <p:spPr>
          <a:xfrm>
            <a:off x="256032" y="3429000"/>
            <a:ext cx="1920240" cy="347472"/>
          </a:xfrm>
          <a:prstGeom prst="rect">
            <a:avLst/>
          </a:prstGeom>
          <a:noFill/>
          <a:ln/>
        </p:spPr>
        <p:txBody>
          <a:bodyPr wrap="square" lIns="0" tIns="0" rIns="0" bIns="0" rtlCol="0" anchor="ctr"/>
          <a:lstStyle/>
          <a:p>
            <a:pPr indent="0" marL="0">
              <a:buNone/>
            </a:pPr>
            <a:r>
              <a:rPr lang="en-US" sz="900" b="1" dirty="0">
                <a:solidFill>
                  <a:srgbClr val="0078D4"/>
                </a:solidFill>
                <a:latin typeface="Calibri" pitchFamily="34" charset="0"/>
                <a:ea typeface="Calibri" pitchFamily="34" charset="-122"/>
                <a:cs typeface="Calibri" pitchFamily="34" charset="-120"/>
              </a:rPr>
              <a:t>azure-intelligence-service</a:t>
            </a:r>
            <a:endParaRPr lang="en-US" sz="900" dirty="0"/>
          </a:p>
        </p:txBody>
      </p:sp>
      <p:sp>
        <p:nvSpPr>
          <p:cNvPr id="24" name="Text 17"/>
          <p:cNvSpPr/>
          <p:nvPr/>
        </p:nvSpPr>
        <p:spPr>
          <a:xfrm>
            <a:off x="256032" y="3794760"/>
            <a:ext cx="1920240" cy="868680"/>
          </a:xfrm>
          <a:prstGeom prst="rect">
            <a:avLst/>
          </a:prstGeom>
          <a:noFill/>
          <a:ln/>
        </p:spPr>
        <p:txBody>
          <a:bodyPr wrap="square" lIns="0" tIns="0" rIns="0" bIns="0" rtlCol="0" anchor="ctr"/>
          <a:lstStyle/>
          <a:p>
            <a:pPr indent="0" marL="0">
              <a:buNone/>
            </a:pPr>
            <a:r>
              <a:rPr lang="en-US" sz="850" dirty="0">
                <a:solidFill>
                  <a:srgbClr val="CBD5E1"/>
                </a:solidFill>
                <a:latin typeface="Calibri" pitchFamily="34" charset="0"/>
                <a:ea typeface="Calibri" pitchFamily="34" charset="-122"/>
                <a:cs typeface="Calibri" pitchFamily="34" charset="-120"/>
              </a:rPr>
              <a:t>Polls Azure Monitor, resource health, costs</a:t>
            </a:r>
            <a:endParaRPr lang="en-US" sz="850" dirty="0"/>
          </a:p>
        </p:txBody>
      </p:sp>
      <p:sp>
        <p:nvSpPr>
          <p:cNvPr id="25" name="Shape 18"/>
          <p:cNvSpPr/>
          <p:nvPr/>
        </p:nvSpPr>
        <p:spPr>
          <a:xfrm>
            <a:off x="2395728" y="2926080"/>
            <a:ext cx="2084832" cy="1783080"/>
          </a:xfrm>
          <a:prstGeom prst="roundRect">
            <a:avLst>
              <a:gd name="adj" fmla="val 4103"/>
            </a:avLst>
          </a:prstGeom>
          <a:solidFill>
            <a:srgbClr val="0F2240"/>
          </a:solidFill>
          <a:ln w="19050">
            <a:solidFill>
              <a:srgbClr val="00C896"/>
            </a:solidFill>
            <a:prstDash val="solid"/>
          </a:ln>
          <a:effectLst>
            <a:outerShdw sx="100000" sy="100000" kx="0" ky="0" algn="bl" rotWithShape="0" blurRad="127000" dist="38100" dir="2700000">
              <a:srgbClr val="000000">
                <a:alpha val="25000"/>
              </a:srgbClr>
            </a:outerShdw>
          </a:effectLst>
        </p:spPr>
      </p:sp>
      <p:pic>
        <p:nvPicPr>
          <p:cNvPr id="26" name="Image 5" descr="preencoded.png">    </p:cNvPr>
          <p:cNvPicPr>
            <a:picLocks noChangeAspect="1"/>
          </p:cNvPicPr>
          <p:nvPr/>
        </p:nvPicPr>
        <p:blipFill>
          <a:blip r:embed="rId6"/>
          <a:stretch>
            <a:fillRect/>
          </a:stretch>
        </p:blipFill>
        <p:spPr>
          <a:xfrm>
            <a:off x="2468880" y="3017520"/>
            <a:ext cx="365760" cy="365760"/>
          </a:xfrm>
          <a:prstGeom prst="rect">
            <a:avLst/>
          </a:prstGeom>
        </p:spPr>
      </p:pic>
      <p:sp>
        <p:nvSpPr>
          <p:cNvPr id="27" name="Text 19"/>
          <p:cNvSpPr/>
          <p:nvPr/>
        </p:nvSpPr>
        <p:spPr>
          <a:xfrm>
            <a:off x="2468880" y="3429000"/>
            <a:ext cx="1920240" cy="347472"/>
          </a:xfrm>
          <a:prstGeom prst="rect">
            <a:avLst/>
          </a:prstGeom>
          <a:noFill/>
          <a:ln/>
        </p:spPr>
        <p:txBody>
          <a:bodyPr wrap="square" lIns="0" tIns="0" rIns="0" bIns="0" rtlCol="0" anchor="ctr"/>
          <a:lstStyle/>
          <a:p>
            <a:pPr indent="0" marL="0">
              <a:buNone/>
            </a:pPr>
            <a:r>
              <a:rPr lang="en-US" sz="900" b="1" dirty="0">
                <a:solidFill>
                  <a:srgbClr val="00C896"/>
                </a:solidFill>
                <a:latin typeface="Calibri" pitchFamily="34" charset="0"/>
                <a:ea typeface="Calibri" pitchFamily="34" charset="-122"/>
                <a:cs typeface="Calibri" pitchFamily="34" charset="-120"/>
              </a:rPr>
              <a:t>aws-intelligence-service</a:t>
            </a:r>
            <a:endParaRPr lang="en-US" sz="900" dirty="0"/>
          </a:p>
        </p:txBody>
      </p:sp>
      <p:sp>
        <p:nvSpPr>
          <p:cNvPr id="28" name="Text 20"/>
          <p:cNvSpPr/>
          <p:nvPr/>
        </p:nvSpPr>
        <p:spPr>
          <a:xfrm>
            <a:off x="2468880" y="3794760"/>
            <a:ext cx="1920240" cy="868680"/>
          </a:xfrm>
          <a:prstGeom prst="rect">
            <a:avLst/>
          </a:prstGeom>
          <a:noFill/>
          <a:ln/>
        </p:spPr>
        <p:txBody>
          <a:bodyPr wrap="square" lIns="0" tIns="0" rIns="0" bIns="0" rtlCol="0" anchor="ctr"/>
          <a:lstStyle/>
          <a:p>
            <a:pPr indent="0" marL="0">
              <a:buNone/>
            </a:pPr>
            <a:r>
              <a:rPr lang="en-US" sz="850" dirty="0">
                <a:solidFill>
                  <a:srgbClr val="CBD5E1"/>
                </a:solidFill>
                <a:latin typeface="Calibri" pitchFamily="34" charset="0"/>
                <a:ea typeface="Calibri" pitchFamily="34" charset="-122"/>
                <a:cs typeface="Calibri" pitchFamily="34" charset="-120"/>
              </a:rPr>
              <a:t>Reads CloudWatch, EC2/RDS/Lambda health</a:t>
            </a:r>
            <a:endParaRPr lang="en-US" sz="850" dirty="0"/>
          </a:p>
        </p:txBody>
      </p:sp>
      <p:sp>
        <p:nvSpPr>
          <p:cNvPr id="29" name="Shape 21"/>
          <p:cNvSpPr/>
          <p:nvPr/>
        </p:nvSpPr>
        <p:spPr>
          <a:xfrm>
            <a:off x="4608576" y="2926080"/>
            <a:ext cx="2084832" cy="1783080"/>
          </a:xfrm>
          <a:prstGeom prst="roundRect">
            <a:avLst>
              <a:gd name="adj" fmla="val 4103"/>
            </a:avLst>
          </a:prstGeom>
          <a:solidFill>
            <a:srgbClr val="0F2240"/>
          </a:solidFill>
          <a:ln w="19050">
            <a:solidFill>
              <a:srgbClr val="8B5CF6"/>
            </a:solidFill>
            <a:prstDash val="solid"/>
          </a:ln>
          <a:effectLst>
            <a:outerShdw sx="100000" sy="100000" kx="0" ky="0" algn="bl" rotWithShape="0" blurRad="127000" dist="38100" dir="2700000">
              <a:srgbClr val="000000">
                <a:alpha val="25000"/>
              </a:srgbClr>
            </a:outerShdw>
          </a:effectLst>
        </p:spPr>
      </p:sp>
      <p:pic>
        <p:nvPicPr>
          <p:cNvPr id="30" name="Image 6" descr="preencoded.png">    </p:cNvPr>
          <p:cNvPicPr>
            <a:picLocks noChangeAspect="1"/>
          </p:cNvPicPr>
          <p:nvPr/>
        </p:nvPicPr>
        <p:blipFill>
          <a:blip r:embed="rId7"/>
          <a:stretch>
            <a:fillRect/>
          </a:stretch>
        </p:blipFill>
        <p:spPr>
          <a:xfrm>
            <a:off x="4681728" y="3017520"/>
            <a:ext cx="365760" cy="365760"/>
          </a:xfrm>
          <a:prstGeom prst="rect">
            <a:avLst/>
          </a:prstGeom>
        </p:spPr>
      </p:pic>
      <p:sp>
        <p:nvSpPr>
          <p:cNvPr id="31" name="Text 22"/>
          <p:cNvSpPr/>
          <p:nvPr/>
        </p:nvSpPr>
        <p:spPr>
          <a:xfrm>
            <a:off x="4681728" y="3429000"/>
            <a:ext cx="1920240" cy="347472"/>
          </a:xfrm>
          <a:prstGeom prst="rect">
            <a:avLst/>
          </a:prstGeom>
          <a:noFill/>
          <a:ln/>
        </p:spPr>
        <p:txBody>
          <a:bodyPr wrap="square" lIns="0" tIns="0" rIns="0" bIns="0" rtlCol="0" anchor="ctr"/>
          <a:lstStyle/>
          <a:p>
            <a:pPr indent="0" marL="0">
              <a:buNone/>
            </a:pPr>
            <a:r>
              <a:rPr lang="en-US" sz="900" b="1" dirty="0">
                <a:solidFill>
                  <a:srgbClr val="8B5CF6"/>
                </a:solidFill>
                <a:latin typeface="Calibri" pitchFamily="34" charset="0"/>
                <a:ea typeface="Calibri" pitchFamily="34" charset="-122"/>
                <a:cs typeface="Calibri" pitchFamily="34" charset="-120"/>
              </a:rPr>
              <a:t>ai-rca-service</a:t>
            </a:r>
            <a:endParaRPr lang="en-US" sz="900" dirty="0"/>
          </a:p>
        </p:txBody>
      </p:sp>
      <p:sp>
        <p:nvSpPr>
          <p:cNvPr id="32" name="Text 23"/>
          <p:cNvSpPr/>
          <p:nvPr/>
        </p:nvSpPr>
        <p:spPr>
          <a:xfrm>
            <a:off x="4681728" y="3794760"/>
            <a:ext cx="1920240" cy="868680"/>
          </a:xfrm>
          <a:prstGeom prst="rect">
            <a:avLst/>
          </a:prstGeom>
          <a:noFill/>
          <a:ln/>
        </p:spPr>
        <p:txBody>
          <a:bodyPr wrap="square" lIns="0" tIns="0" rIns="0" bIns="0" rtlCol="0" anchor="ctr"/>
          <a:lstStyle/>
          <a:p>
            <a:pPr indent="0" marL="0">
              <a:buNone/>
            </a:pPr>
            <a:r>
              <a:rPr lang="en-US" sz="850" dirty="0">
                <a:solidFill>
                  <a:srgbClr val="CBD5E1"/>
                </a:solidFill>
                <a:latin typeface="Calibri" pitchFamily="34" charset="0"/>
                <a:ea typeface="Calibri" pitchFamily="34" charset="-122"/>
                <a:cs typeface="Calibri" pitchFamily="34" charset="-120"/>
              </a:rPr>
              <a:t>LLM-powered root cause analysis &amp; remediation</a:t>
            </a:r>
            <a:endParaRPr lang="en-US" sz="850" dirty="0"/>
          </a:p>
        </p:txBody>
      </p:sp>
      <p:sp>
        <p:nvSpPr>
          <p:cNvPr id="33" name="Shape 24"/>
          <p:cNvSpPr/>
          <p:nvPr/>
        </p:nvSpPr>
        <p:spPr>
          <a:xfrm>
            <a:off x="6821424" y="2926080"/>
            <a:ext cx="2084832" cy="1783080"/>
          </a:xfrm>
          <a:prstGeom prst="roundRect">
            <a:avLst>
              <a:gd name="adj" fmla="val 4103"/>
            </a:avLst>
          </a:prstGeom>
          <a:solidFill>
            <a:srgbClr val="0F2240"/>
          </a:solidFill>
          <a:ln w="19050">
            <a:solidFill>
              <a:srgbClr val="F59E0B"/>
            </a:solidFill>
            <a:prstDash val="solid"/>
          </a:ln>
          <a:effectLst>
            <a:outerShdw sx="100000" sy="100000" kx="0" ky="0" algn="bl" rotWithShape="0" blurRad="127000" dist="38100" dir="2700000">
              <a:srgbClr val="000000">
                <a:alpha val="25000"/>
              </a:srgbClr>
            </a:outerShdw>
          </a:effectLst>
        </p:spPr>
      </p:sp>
      <p:pic>
        <p:nvPicPr>
          <p:cNvPr id="34" name="Image 7" descr="preencoded.png">    </p:cNvPr>
          <p:cNvPicPr>
            <a:picLocks noChangeAspect="1"/>
          </p:cNvPicPr>
          <p:nvPr/>
        </p:nvPicPr>
        <p:blipFill>
          <a:blip r:embed="rId8"/>
          <a:stretch>
            <a:fillRect/>
          </a:stretch>
        </p:blipFill>
        <p:spPr>
          <a:xfrm>
            <a:off x="6894576" y="3017520"/>
            <a:ext cx="365760" cy="365760"/>
          </a:xfrm>
          <a:prstGeom prst="rect">
            <a:avLst/>
          </a:prstGeom>
        </p:spPr>
      </p:pic>
      <p:sp>
        <p:nvSpPr>
          <p:cNvPr id="35" name="Text 25"/>
          <p:cNvSpPr/>
          <p:nvPr/>
        </p:nvSpPr>
        <p:spPr>
          <a:xfrm>
            <a:off x="6894576" y="3429000"/>
            <a:ext cx="1920240" cy="347472"/>
          </a:xfrm>
          <a:prstGeom prst="rect">
            <a:avLst/>
          </a:prstGeom>
          <a:noFill/>
          <a:ln/>
        </p:spPr>
        <p:txBody>
          <a:bodyPr wrap="square" lIns="0" tIns="0" rIns="0" bIns="0" rtlCol="0" anchor="ctr"/>
          <a:lstStyle/>
          <a:p>
            <a:pPr indent="0" marL="0">
              <a:buNone/>
            </a:pPr>
            <a:r>
              <a:rPr lang="en-US" sz="900" b="1" dirty="0">
                <a:solidFill>
                  <a:srgbClr val="F59E0B"/>
                </a:solidFill>
                <a:latin typeface="Calibri" pitchFamily="34" charset="0"/>
                <a:ea typeface="Calibri" pitchFamily="34" charset="-122"/>
                <a:cs typeface="Calibri" pitchFamily="34" charset="-120"/>
              </a:rPr>
              <a:t>notification-service</a:t>
            </a:r>
            <a:endParaRPr lang="en-US" sz="900" dirty="0"/>
          </a:p>
        </p:txBody>
      </p:sp>
      <p:sp>
        <p:nvSpPr>
          <p:cNvPr id="36" name="Text 26"/>
          <p:cNvSpPr/>
          <p:nvPr/>
        </p:nvSpPr>
        <p:spPr>
          <a:xfrm>
            <a:off x="6894576" y="3794760"/>
            <a:ext cx="1920240" cy="868680"/>
          </a:xfrm>
          <a:prstGeom prst="rect">
            <a:avLst/>
          </a:prstGeom>
          <a:noFill/>
          <a:ln/>
        </p:spPr>
        <p:txBody>
          <a:bodyPr wrap="square" lIns="0" tIns="0" rIns="0" bIns="0" rtlCol="0" anchor="ctr"/>
          <a:lstStyle/>
          <a:p>
            <a:pPr indent="0" marL="0">
              <a:buNone/>
            </a:pPr>
            <a:r>
              <a:rPr lang="en-US" sz="850" dirty="0">
                <a:solidFill>
                  <a:srgbClr val="CBD5E1"/>
                </a:solidFill>
                <a:latin typeface="Calibri" pitchFamily="34" charset="0"/>
                <a:ea typeface="Calibri" pitchFamily="34" charset="-122"/>
                <a:cs typeface="Calibri" pitchFamily="34" charset="-120"/>
              </a:rPr>
              <a:t>Sends email/Slack alerts via Service Bus</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F2240"/>
          </a:solidFill>
          <a:ln/>
        </p:spPr>
      </p:sp>
      <p:sp>
        <p:nvSpPr>
          <p:cNvPr id="3" name="Text 1"/>
          <p:cNvSpPr/>
          <p:nvPr/>
        </p:nvSpPr>
        <p:spPr>
          <a:xfrm>
            <a:off x="274320" y="73152"/>
            <a:ext cx="8595360" cy="54864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Azure Infrastructure Architecture</a:t>
            </a:r>
            <a:endParaRPr lang="en-US" sz="2200" dirty="0"/>
          </a:p>
        </p:txBody>
      </p:sp>
      <p:sp>
        <p:nvSpPr>
          <p:cNvPr id="4" name="Text 2"/>
          <p:cNvSpPr/>
          <p:nvPr/>
        </p:nvSpPr>
        <p:spPr>
          <a:xfrm>
            <a:off x="274320" y="548640"/>
            <a:ext cx="8595360" cy="256032"/>
          </a:xfrm>
          <a:prstGeom prst="rect">
            <a:avLst/>
          </a:prstGeom>
          <a:noFill/>
          <a:ln/>
        </p:spPr>
        <p:txBody>
          <a:bodyPr wrap="square" lIns="0" tIns="0" rIns="0" bIns="0" rtlCol="0" anchor="ctr"/>
          <a:lstStyle/>
          <a:p>
            <a:pPr indent="0" marL="0">
              <a:buNone/>
            </a:pPr>
            <a:r>
              <a:rPr lang="en-US" sz="1100" dirty="0">
                <a:solidFill>
                  <a:srgbClr val="00B4D8"/>
                </a:solidFill>
                <a:latin typeface="Calibri" pitchFamily="34" charset="0"/>
                <a:ea typeface="Calibri" pitchFamily="34" charset="-122"/>
                <a:cs typeface="Calibri" pitchFamily="34" charset="-120"/>
              </a:rPr>
              <a:t>Hub-spoke VNet design with private endpoints and AKS</a:t>
            </a:r>
            <a:endParaRPr lang="en-US" sz="1100" dirty="0"/>
          </a:p>
        </p:txBody>
      </p:sp>
      <p:pic>
        <p:nvPicPr>
          <p:cNvPr id="5" name="Image 0" descr="preencoded.png">    </p:cNvPr>
          <p:cNvPicPr>
            <a:picLocks noChangeAspect="1"/>
          </p:cNvPicPr>
          <p:nvPr/>
        </p:nvPicPr>
        <p:blipFill>
          <a:blip r:embed="rId1"/>
          <a:srcRect l="0" r="0" t="0" b="0"/>
          <a:stretch/>
        </p:blipFill>
        <p:spPr>
          <a:xfrm>
            <a:off x="228600" y="914400"/>
            <a:ext cx="8686800" cy="406908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F2240"/>
          </a:solidFill>
          <a:ln/>
        </p:spPr>
      </p:sp>
      <p:sp>
        <p:nvSpPr>
          <p:cNvPr id="3" name="Text 1"/>
          <p:cNvSpPr/>
          <p:nvPr/>
        </p:nvSpPr>
        <p:spPr>
          <a:xfrm>
            <a:off x="274320" y="73152"/>
            <a:ext cx="8595360" cy="54864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CI/CD Architecture</a:t>
            </a:r>
            <a:endParaRPr lang="en-US" sz="2200" dirty="0"/>
          </a:p>
        </p:txBody>
      </p:sp>
      <p:sp>
        <p:nvSpPr>
          <p:cNvPr id="4" name="Text 2"/>
          <p:cNvSpPr/>
          <p:nvPr/>
        </p:nvSpPr>
        <p:spPr>
          <a:xfrm>
            <a:off x="274320" y="548640"/>
            <a:ext cx="8595360" cy="256032"/>
          </a:xfrm>
          <a:prstGeom prst="rect">
            <a:avLst/>
          </a:prstGeom>
          <a:noFill/>
          <a:ln/>
        </p:spPr>
        <p:txBody>
          <a:bodyPr wrap="square" lIns="0" tIns="0" rIns="0" bIns="0" rtlCol="0" anchor="ctr"/>
          <a:lstStyle/>
          <a:p>
            <a:pPr indent="0" marL="0">
              <a:buNone/>
            </a:pPr>
            <a:r>
              <a:rPr lang="en-US" sz="1100" dirty="0">
                <a:solidFill>
                  <a:srgbClr val="00B4D8"/>
                </a:solidFill>
                <a:latin typeface="Calibri" pitchFamily="34" charset="0"/>
                <a:ea typeface="Calibri" pitchFamily="34" charset="-122"/>
                <a:cs typeface="Calibri" pitchFamily="34" charset="-120"/>
              </a:rPr>
              <a:t>GitHub Actions reusable workflows — build, scan, push, deploy, infra</a:t>
            </a:r>
            <a:endParaRPr lang="en-US" sz="1100" dirty="0"/>
          </a:p>
        </p:txBody>
      </p:sp>
      <p:sp>
        <p:nvSpPr>
          <p:cNvPr id="5" name="Shape 3"/>
          <p:cNvSpPr/>
          <p:nvPr/>
        </p:nvSpPr>
        <p:spPr>
          <a:xfrm>
            <a:off x="182880" y="1051560"/>
            <a:ext cx="1005840" cy="1051560"/>
          </a:xfrm>
          <a:prstGeom prst="roundRect">
            <a:avLst>
              <a:gd name="adj" fmla="val 7273"/>
            </a:avLst>
          </a:prstGeom>
          <a:solidFill>
            <a:srgbClr val="0F2240"/>
          </a:solidFill>
          <a:ln w="19050">
            <a:solidFill>
              <a:srgbClr val="CBD5E1"/>
            </a:solidFill>
            <a:prstDash val="solid"/>
          </a:ln>
          <a:effectLst>
            <a:outerShdw sx="100000" sy="100000" kx="0" ky="0" algn="bl" rotWithShape="0" blurRad="127000" dist="38100" dir="2700000">
              <a:srgbClr val="000000">
                <a:alpha val="25000"/>
              </a:srgbClr>
            </a:outerShdw>
          </a:effectLst>
        </p:spPr>
      </p:sp>
      <p:pic>
        <p:nvPicPr>
          <p:cNvPr id="6" name="Image 0" descr="preencoded.png">    </p:cNvPr>
          <p:cNvPicPr>
            <a:picLocks noChangeAspect="1"/>
          </p:cNvPicPr>
          <p:nvPr/>
        </p:nvPicPr>
        <p:blipFill>
          <a:blip r:embed="rId1"/>
          <a:stretch>
            <a:fillRect/>
          </a:stretch>
        </p:blipFill>
        <p:spPr>
          <a:xfrm>
            <a:off x="502920" y="1106424"/>
            <a:ext cx="347472" cy="347472"/>
          </a:xfrm>
          <a:prstGeom prst="rect">
            <a:avLst/>
          </a:prstGeom>
        </p:spPr>
      </p:pic>
      <p:sp>
        <p:nvSpPr>
          <p:cNvPr id="7" name="Text 4"/>
          <p:cNvSpPr/>
          <p:nvPr/>
        </p:nvSpPr>
        <p:spPr>
          <a:xfrm>
            <a:off x="219456" y="1508760"/>
            <a:ext cx="932688" cy="548640"/>
          </a:xfrm>
          <a:prstGeom prst="rect">
            <a:avLst/>
          </a:prstGeom>
          <a:noFill/>
          <a:ln/>
        </p:spPr>
        <p:txBody>
          <a:bodyPr wrap="square" lIns="0" tIns="0" rIns="0" bIns="0" rtlCol="0" anchor="t"/>
          <a:lstStyle/>
          <a:p>
            <a:pPr algn="ctr" indent="0" marL="0">
              <a:buNone/>
            </a:pPr>
            <a:r>
              <a:rPr lang="en-US" sz="800" dirty="0">
                <a:solidFill>
                  <a:srgbClr val="FFFFFF"/>
                </a:solidFill>
                <a:latin typeface="Calibri" pitchFamily="34" charset="0"/>
                <a:ea typeface="Calibri" pitchFamily="34" charset="-122"/>
                <a:cs typeface="Calibri" pitchFamily="34" charset="-120"/>
              </a:rPr>
              <a:t>Developer</a:t>
            </a:r>
            <a:endParaRPr lang="en-US" sz="800" dirty="0"/>
          </a:p>
          <a:p>
            <a:pPr algn="ctr" indent="0" marL="0">
              <a:buNone/>
            </a:pPr>
            <a:r>
              <a:rPr lang="en-US" sz="800" dirty="0">
                <a:solidFill>
                  <a:srgbClr val="FFFFFF"/>
                </a:solidFill>
                <a:latin typeface="Calibri" pitchFamily="34" charset="0"/>
                <a:ea typeface="Calibri" pitchFamily="34" charset="-122"/>
                <a:cs typeface="Calibri" pitchFamily="34" charset="-120"/>
              </a:rPr>
              <a:t>Push</a:t>
            </a:r>
            <a:endParaRPr lang="en-US" sz="800" dirty="0"/>
          </a:p>
        </p:txBody>
      </p:sp>
      <p:sp>
        <p:nvSpPr>
          <p:cNvPr id="8" name="Shape 5"/>
          <p:cNvSpPr/>
          <p:nvPr/>
        </p:nvSpPr>
        <p:spPr>
          <a:xfrm>
            <a:off x="1188720" y="1577340"/>
            <a:ext cx="109728" cy="0"/>
          </a:xfrm>
          <a:prstGeom prst="line">
            <a:avLst/>
          </a:prstGeom>
          <a:noFill/>
          <a:ln w="25400">
            <a:solidFill>
              <a:srgbClr val="00B4D8"/>
            </a:solidFill>
            <a:prstDash val="solid"/>
          </a:ln>
        </p:spPr>
      </p:sp>
      <p:sp>
        <p:nvSpPr>
          <p:cNvPr id="9" name="Shape 6"/>
          <p:cNvSpPr/>
          <p:nvPr/>
        </p:nvSpPr>
        <p:spPr>
          <a:xfrm>
            <a:off x="1298448" y="1051560"/>
            <a:ext cx="1005840" cy="1051560"/>
          </a:xfrm>
          <a:prstGeom prst="roundRect">
            <a:avLst>
              <a:gd name="adj" fmla="val 7273"/>
            </a:avLst>
          </a:prstGeom>
          <a:solidFill>
            <a:srgbClr val="0F2240"/>
          </a:solidFill>
          <a:ln w="19050">
            <a:solidFill>
              <a:srgbClr val="10B981"/>
            </a:solidFill>
            <a:prstDash val="solid"/>
          </a:ln>
          <a:effectLst>
            <a:outerShdw sx="100000" sy="100000" kx="0" ky="0" algn="bl" rotWithShape="0" blurRad="127000" dist="38100" dir="2700000">
              <a:srgbClr val="000000">
                <a:alpha val="25000"/>
              </a:srgbClr>
            </a:outerShdw>
          </a:effectLst>
        </p:spPr>
      </p:sp>
      <p:pic>
        <p:nvPicPr>
          <p:cNvPr id="10" name="Image 1" descr="preencoded.png">    </p:cNvPr>
          <p:cNvPicPr>
            <a:picLocks noChangeAspect="1"/>
          </p:cNvPicPr>
          <p:nvPr/>
        </p:nvPicPr>
        <p:blipFill>
          <a:blip r:embed="rId2"/>
          <a:stretch>
            <a:fillRect/>
          </a:stretch>
        </p:blipFill>
        <p:spPr>
          <a:xfrm>
            <a:off x="1618488" y="1106424"/>
            <a:ext cx="347472" cy="347472"/>
          </a:xfrm>
          <a:prstGeom prst="rect">
            <a:avLst/>
          </a:prstGeom>
        </p:spPr>
      </p:pic>
      <p:sp>
        <p:nvSpPr>
          <p:cNvPr id="11" name="Text 7"/>
          <p:cNvSpPr/>
          <p:nvPr/>
        </p:nvSpPr>
        <p:spPr>
          <a:xfrm>
            <a:off x="1335024" y="1508760"/>
            <a:ext cx="932688" cy="548640"/>
          </a:xfrm>
          <a:prstGeom prst="rect">
            <a:avLst/>
          </a:prstGeom>
          <a:noFill/>
          <a:ln/>
        </p:spPr>
        <p:txBody>
          <a:bodyPr wrap="square" lIns="0" tIns="0" rIns="0" bIns="0" rtlCol="0" anchor="t"/>
          <a:lstStyle/>
          <a:p>
            <a:pPr algn="ctr" indent="0" marL="0">
              <a:buNone/>
            </a:pPr>
            <a:r>
              <a:rPr lang="en-US" sz="800" dirty="0">
                <a:solidFill>
                  <a:srgbClr val="FFFFFF"/>
                </a:solidFill>
                <a:latin typeface="Calibri" pitchFamily="34" charset="0"/>
                <a:ea typeface="Calibri" pitchFamily="34" charset="-122"/>
                <a:cs typeface="Calibri" pitchFamily="34" charset="-120"/>
              </a:rPr>
              <a:t>Tests</a:t>
            </a:r>
            <a:endParaRPr lang="en-US" sz="800" dirty="0"/>
          </a:p>
          <a:p>
            <a:pPr algn="ctr" indent="0" marL="0">
              <a:buNone/>
            </a:pPr>
            <a:r>
              <a:rPr lang="en-US" sz="800" dirty="0">
                <a:solidFill>
                  <a:srgbClr val="FFFFFF"/>
                </a:solidFill>
                <a:latin typeface="Calibri" pitchFamily="34" charset="0"/>
                <a:ea typeface="Calibri" pitchFamily="34" charset="-122"/>
                <a:cs typeface="Calibri" pitchFamily="34" charset="-120"/>
              </a:rPr>
              <a:t>unit/int</a:t>
            </a:r>
            <a:endParaRPr lang="en-US" sz="800" dirty="0"/>
          </a:p>
        </p:txBody>
      </p:sp>
      <p:sp>
        <p:nvSpPr>
          <p:cNvPr id="12" name="Shape 8"/>
          <p:cNvSpPr/>
          <p:nvPr/>
        </p:nvSpPr>
        <p:spPr>
          <a:xfrm>
            <a:off x="2304288" y="1577340"/>
            <a:ext cx="109728" cy="0"/>
          </a:xfrm>
          <a:prstGeom prst="line">
            <a:avLst/>
          </a:prstGeom>
          <a:noFill/>
          <a:ln w="25400">
            <a:solidFill>
              <a:srgbClr val="00B4D8"/>
            </a:solidFill>
            <a:prstDash val="solid"/>
          </a:ln>
        </p:spPr>
      </p:sp>
      <p:sp>
        <p:nvSpPr>
          <p:cNvPr id="13" name="Shape 9"/>
          <p:cNvSpPr/>
          <p:nvPr/>
        </p:nvSpPr>
        <p:spPr>
          <a:xfrm>
            <a:off x="2414016" y="1051560"/>
            <a:ext cx="1005840" cy="1051560"/>
          </a:xfrm>
          <a:prstGeom prst="roundRect">
            <a:avLst>
              <a:gd name="adj" fmla="val 7273"/>
            </a:avLst>
          </a:prstGeom>
          <a:solidFill>
            <a:srgbClr val="0F2240"/>
          </a:solidFill>
          <a:ln w="19050">
            <a:solidFill>
              <a:srgbClr val="8B5CF6"/>
            </a:solidFill>
            <a:prstDash val="solid"/>
          </a:ln>
          <a:effectLst>
            <a:outerShdw sx="100000" sy="100000" kx="0" ky="0" algn="bl" rotWithShape="0" blurRad="127000" dist="38100" dir="2700000">
              <a:srgbClr val="000000">
                <a:alpha val="25000"/>
              </a:srgbClr>
            </a:outerShdw>
          </a:effectLst>
        </p:spPr>
      </p:sp>
      <p:pic>
        <p:nvPicPr>
          <p:cNvPr id="14" name="Image 2" descr="preencoded.png">    </p:cNvPr>
          <p:cNvPicPr>
            <a:picLocks noChangeAspect="1"/>
          </p:cNvPicPr>
          <p:nvPr/>
        </p:nvPicPr>
        <p:blipFill>
          <a:blip r:embed="rId3"/>
          <a:stretch>
            <a:fillRect/>
          </a:stretch>
        </p:blipFill>
        <p:spPr>
          <a:xfrm>
            <a:off x="2734056" y="1106424"/>
            <a:ext cx="347472" cy="347472"/>
          </a:xfrm>
          <a:prstGeom prst="rect">
            <a:avLst/>
          </a:prstGeom>
        </p:spPr>
      </p:pic>
      <p:sp>
        <p:nvSpPr>
          <p:cNvPr id="15" name="Text 10"/>
          <p:cNvSpPr/>
          <p:nvPr/>
        </p:nvSpPr>
        <p:spPr>
          <a:xfrm>
            <a:off x="2450592" y="1508760"/>
            <a:ext cx="932688" cy="548640"/>
          </a:xfrm>
          <a:prstGeom prst="rect">
            <a:avLst/>
          </a:prstGeom>
          <a:noFill/>
          <a:ln/>
        </p:spPr>
        <p:txBody>
          <a:bodyPr wrap="square" lIns="0" tIns="0" rIns="0" bIns="0" rtlCol="0" anchor="t"/>
          <a:lstStyle/>
          <a:p>
            <a:pPr algn="ctr" indent="0" marL="0">
              <a:buNone/>
            </a:pPr>
            <a:r>
              <a:rPr lang="en-US" sz="800" dirty="0">
                <a:solidFill>
                  <a:srgbClr val="FFFFFF"/>
                </a:solidFill>
                <a:latin typeface="Calibri" pitchFamily="34" charset="0"/>
                <a:ea typeface="Calibri" pitchFamily="34" charset="-122"/>
                <a:cs typeface="Calibri" pitchFamily="34" charset="-120"/>
              </a:rPr>
              <a:t>SonarQube</a:t>
            </a:r>
            <a:endParaRPr lang="en-US" sz="800" dirty="0"/>
          </a:p>
          <a:p>
            <a:pPr algn="ctr" indent="0" marL="0">
              <a:buNone/>
            </a:pPr>
            <a:r>
              <a:rPr lang="en-US" sz="800" dirty="0">
                <a:solidFill>
                  <a:srgbClr val="FFFFFF"/>
                </a:solidFill>
                <a:latin typeface="Calibri" pitchFamily="34" charset="0"/>
                <a:ea typeface="Calibri" pitchFamily="34" charset="-122"/>
                <a:cs typeface="Calibri" pitchFamily="34" charset="-120"/>
              </a:rPr>
              <a:t>SAST</a:t>
            </a:r>
            <a:endParaRPr lang="en-US" sz="800" dirty="0"/>
          </a:p>
        </p:txBody>
      </p:sp>
      <p:sp>
        <p:nvSpPr>
          <p:cNvPr id="16" name="Shape 11"/>
          <p:cNvSpPr/>
          <p:nvPr/>
        </p:nvSpPr>
        <p:spPr>
          <a:xfrm>
            <a:off x="3419856" y="1577340"/>
            <a:ext cx="109728" cy="0"/>
          </a:xfrm>
          <a:prstGeom prst="line">
            <a:avLst/>
          </a:prstGeom>
          <a:noFill/>
          <a:ln w="25400">
            <a:solidFill>
              <a:srgbClr val="00B4D8"/>
            </a:solidFill>
            <a:prstDash val="solid"/>
          </a:ln>
        </p:spPr>
      </p:sp>
      <p:sp>
        <p:nvSpPr>
          <p:cNvPr id="17" name="Shape 12"/>
          <p:cNvSpPr/>
          <p:nvPr/>
        </p:nvSpPr>
        <p:spPr>
          <a:xfrm>
            <a:off x="3529584" y="1051560"/>
            <a:ext cx="1005840" cy="1051560"/>
          </a:xfrm>
          <a:prstGeom prst="roundRect">
            <a:avLst>
              <a:gd name="adj" fmla="val 7273"/>
            </a:avLst>
          </a:prstGeom>
          <a:solidFill>
            <a:srgbClr val="0F2240"/>
          </a:solidFill>
          <a:ln w="19050">
            <a:solidFill>
              <a:srgbClr val="EF4444"/>
            </a:solidFill>
            <a:prstDash val="solid"/>
          </a:ln>
          <a:effectLst>
            <a:outerShdw sx="100000" sy="100000" kx="0" ky="0" algn="bl" rotWithShape="0" blurRad="127000" dist="38100" dir="2700000">
              <a:srgbClr val="000000">
                <a:alpha val="25000"/>
              </a:srgbClr>
            </a:outerShdw>
          </a:effectLst>
        </p:spPr>
      </p:sp>
      <p:pic>
        <p:nvPicPr>
          <p:cNvPr id="18" name="Image 3" descr="preencoded.png">    </p:cNvPr>
          <p:cNvPicPr>
            <a:picLocks noChangeAspect="1"/>
          </p:cNvPicPr>
          <p:nvPr/>
        </p:nvPicPr>
        <p:blipFill>
          <a:blip r:embed="rId4"/>
          <a:stretch>
            <a:fillRect/>
          </a:stretch>
        </p:blipFill>
        <p:spPr>
          <a:xfrm>
            <a:off x="3849624" y="1106424"/>
            <a:ext cx="347472" cy="347472"/>
          </a:xfrm>
          <a:prstGeom prst="rect">
            <a:avLst/>
          </a:prstGeom>
        </p:spPr>
      </p:pic>
      <p:sp>
        <p:nvSpPr>
          <p:cNvPr id="19" name="Text 13"/>
          <p:cNvSpPr/>
          <p:nvPr/>
        </p:nvSpPr>
        <p:spPr>
          <a:xfrm>
            <a:off x="3566160" y="1508760"/>
            <a:ext cx="932688" cy="548640"/>
          </a:xfrm>
          <a:prstGeom prst="rect">
            <a:avLst/>
          </a:prstGeom>
          <a:noFill/>
          <a:ln/>
        </p:spPr>
        <p:txBody>
          <a:bodyPr wrap="square" lIns="0" tIns="0" rIns="0" bIns="0" rtlCol="0" anchor="t"/>
          <a:lstStyle/>
          <a:p>
            <a:pPr algn="ctr" indent="0" marL="0">
              <a:buNone/>
            </a:pPr>
            <a:r>
              <a:rPr lang="en-US" sz="800" dirty="0">
                <a:solidFill>
                  <a:srgbClr val="FFFFFF"/>
                </a:solidFill>
                <a:latin typeface="Calibri" pitchFamily="34" charset="0"/>
                <a:ea typeface="Calibri" pitchFamily="34" charset="-122"/>
                <a:cs typeface="Calibri" pitchFamily="34" charset="-120"/>
              </a:rPr>
              <a:t>Snyk</a:t>
            </a:r>
            <a:endParaRPr lang="en-US" sz="800" dirty="0"/>
          </a:p>
          <a:p>
            <a:pPr algn="ctr" indent="0" marL="0">
              <a:buNone/>
            </a:pPr>
            <a:r>
              <a:rPr lang="en-US" sz="800" dirty="0">
                <a:solidFill>
                  <a:srgbClr val="FFFFFF"/>
                </a:solidFill>
                <a:latin typeface="Calibri" pitchFamily="34" charset="0"/>
                <a:ea typeface="Calibri" pitchFamily="34" charset="-122"/>
                <a:cs typeface="Calibri" pitchFamily="34" charset="-120"/>
              </a:rPr>
              <a:t>Dep Scan</a:t>
            </a:r>
            <a:endParaRPr lang="en-US" sz="800" dirty="0"/>
          </a:p>
        </p:txBody>
      </p:sp>
      <p:sp>
        <p:nvSpPr>
          <p:cNvPr id="20" name="Shape 14"/>
          <p:cNvSpPr/>
          <p:nvPr/>
        </p:nvSpPr>
        <p:spPr>
          <a:xfrm>
            <a:off x="4535424" y="1577340"/>
            <a:ext cx="109728" cy="0"/>
          </a:xfrm>
          <a:prstGeom prst="line">
            <a:avLst/>
          </a:prstGeom>
          <a:noFill/>
          <a:ln w="25400">
            <a:solidFill>
              <a:srgbClr val="00B4D8"/>
            </a:solidFill>
            <a:prstDash val="solid"/>
          </a:ln>
        </p:spPr>
      </p:sp>
      <p:sp>
        <p:nvSpPr>
          <p:cNvPr id="21" name="Shape 15"/>
          <p:cNvSpPr/>
          <p:nvPr/>
        </p:nvSpPr>
        <p:spPr>
          <a:xfrm>
            <a:off x="4645152" y="1051560"/>
            <a:ext cx="1005840" cy="1051560"/>
          </a:xfrm>
          <a:prstGeom prst="roundRect">
            <a:avLst>
              <a:gd name="adj" fmla="val 7273"/>
            </a:avLst>
          </a:prstGeom>
          <a:solidFill>
            <a:srgbClr val="0F2240"/>
          </a:solidFill>
          <a:ln w="19050">
            <a:solidFill>
              <a:srgbClr val="0078D4"/>
            </a:solidFill>
            <a:prstDash val="solid"/>
          </a:ln>
          <a:effectLst>
            <a:outerShdw sx="100000" sy="100000" kx="0" ky="0" algn="bl" rotWithShape="0" blurRad="127000" dist="38100" dir="2700000">
              <a:srgbClr val="000000">
                <a:alpha val="25000"/>
              </a:srgbClr>
            </a:outerShdw>
          </a:effectLst>
        </p:spPr>
      </p:sp>
      <p:pic>
        <p:nvPicPr>
          <p:cNvPr id="22" name="Image 4" descr="preencoded.png">    </p:cNvPr>
          <p:cNvPicPr>
            <a:picLocks noChangeAspect="1"/>
          </p:cNvPicPr>
          <p:nvPr/>
        </p:nvPicPr>
        <p:blipFill>
          <a:blip r:embed="rId5"/>
          <a:stretch>
            <a:fillRect/>
          </a:stretch>
        </p:blipFill>
        <p:spPr>
          <a:xfrm>
            <a:off x="4965192" y="1106424"/>
            <a:ext cx="347472" cy="347472"/>
          </a:xfrm>
          <a:prstGeom prst="rect">
            <a:avLst/>
          </a:prstGeom>
        </p:spPr>
      </p:pic>
      <p:sp>
        <p:nvSpPr>
          <p:cNvPr id="23" name="Text 16"/>
          <p:cNvSpPr/>
          <p:nvPr/>
        </p:nvSpPr>
        <p:spPr>
          <a:xfrm>
            <a:off x="4681728" y="1508760"/>
            <a:ext cx="932688" cy="548640"/>
          </a:xfrm>
          <a:prstGeom prst="rect">
            <a:avLst/>
          </a:prstGeom>
          <a:noFill/>
          <a:ln/>
        </p:spPr>
        <p:txBody>
          <a:bodyPr wrap="square" lIns="0" tIns="0" rIns="0" bIns="0" rtlCol="0" anchor="t"/>
          <a:lstStyle/>
          <a:p>
            <a:pPr algn="ctr" indent="0" marL="0">
              <a:buNone/>
            </a:pPr>
            <a:r>
              <a:rPr lang="en-US" sz="800" dirty="0">
                <a:solidFill>
                  <a:srgbClr val="FFFFFF"/>
                </a:solidFill>
                <a:latin typeface="Calibri" pitchFamily="34" charset="0"/>
                <a:ea typeface="Calibri" pitchFamily="34" charset="-122"/>
                <a:cs typeface="Calibri" pitchFamily="34" charset="-120"/>
              </a:rPr>
              <a:t>Docker</a:t>
            </a:r>
            <a:endParaRPr lang="en-US" sz="800" dirty="0"/>
          </a:p>
          <a:p>
            <a:pPr algn="ctr" indent="0" marL="0">
              <a:buNone/>
            </a:pPr>
            <a:r>
              <a:rPr lang="en-US" sz="800" dirty="0">
                <a:solidFill>
                  <a:srgbClr val="FFFFFF"/>
                </a:solidFill>
                <a:latin typeface="Calibri" pitchFamily="34" charset="0"/>
                <a:ea typeface="Calibri" pitchFamily="34" charset="-122"/>
                <a:cs typeface="Calibri" pitchFamily="34" charset="-120"/>
              </a:rPr>
              <a:t>Build</a:t>
            </a:r>
            <a:endParaRPr lang="en-US" sz="800" dirty="0"/>
          </a:p>
        </p:txBody>
      </p:sp>
      <p:sp>
        <p:nvSpPr>
          <p:cNvPr id="24" name="Shape 17"/>
          <p:cNvSpPr/>
          <p:nvPr/>
        </p:nvSpPr>
        <p:spPr>
          <a:xfrm>
            <a:off x="5650992" y="1577340"/>
            <a:ext cx="109728" cy="0"/>
          </a:xfrm>
          <a:prstGeom prst="line">
            <a:avLst/>
          </a:prstGeom>
          <a:noFill/>
          <a:ln w="25400">
            <a:solidFill>
              <a:srgbClr val="00B4D8"/>
            </a:solidFill>
            <a:prstDash val="solid"/>
          </a:ln>
        </p:spPr>
      </p:sp>
      <p:sp>
        <p:nvSpPr>
          <p:cNvPr id="25" name="Shape 18"/>
          <p:cNvSpPr/>
          <p:nvPr/>
        </p:nvSpPr>
        <p:spPr>
          <a:xfrm>
            <a:off x="5760720" y="1051560"/>
            <a:ext cx="1005840" cy="1051560"/>
          </a:xfrm>
          <a:prstGeom prst="roundRect">
            <a:avLst>
              <a:gd name="adj" fmla="val 7273"/>
            </a:avLst>
          </a:prstGeom>
          <a:solidFill>
            <a:srgbClr val="0F2240"/>
          </a:solidFill>
          <a:ln w="19050">
            <a:solidFill>
              <a:srgbClr val="F59E0B"/>
            </a:solidFill>
            <a:prstDash val="solid"/>
          </a:ln>
          <a:effectLst>
            <a:outerShdw sx="100000" sy="100000" kx="0" ky="0" algn="bl" rotWithShape="0" blurRad="127000" dist="38100" dir="2700000">
              <a:srgbClr val="000000">
                <a:alpha val="25000"/>
              </a:srgbClr>
            </a:outerShdw>
          </a:effectLst>
        </p:spPr>
      </p:sp>
      <p:pic>
        <p:nvPicPr>
          <p:cNvPr id="26" name="Image 5" descr="preencoded.png">    </p:cNvPr>
          <p:cNvPicPr>
            <a:picLocks noChangeAspect="1"/>
          </p:cNvPicPr>
          <p:nvPr/>
        </p:nvPicPr>
        <p:blipFill>
          <a:blip r:embed="rId6"/>
          <a:stretch>
            <a:fillRect/>
          </a:stretch>
        </p:blipFill>
        <p:spPr>
          <a:xfrm>
            <a:off x="6080760" y="1106424"/>
            <a:ext cx="347472" cy="347472"/>
          </a:xfrm>
          <a:prstGeom prst="rect">
            <a:avLst/>
          </a:prstGeom>
        </p:spPr>
      </p:pic>
      <p:sp>
        <p:nvSpPr>
          <p:cNvPr id="27" name="Text 19"/>
          <p:cNvSpPr/>
          <p:nvPr/>
        </p:nvSpPr>
        <p:spPr>
          <a:xfrm>
            <a:off x="5797296" y="1508760"/>
            <a:ext cx="932688" cy="548640"/>
          </a:xfrm>
          <a:prstGeom prst="rect">
            <a:avLst/>
          </a:prstGeom>
          <a:noFill/>
          <a:ln/>
        </p:spPr>
        <p:txBody>
          <a:bodyPr wrap="square" lIns="0" tIns="0" rIns="0" bIns="0" rtlCol="0" anchor="t"/>
          <a:lstStyle/>
          <a:p>
            <a:pPr algn="ctr" indent="0" marL="0">
              <a:buNone/>
            </a:pPr>
            <a:r>
              <a:rPr lang="en-US" sz="800" dirty="0">
                <a:solidFill>
                  <a:srgbClr val="FFFFFF"/>
                </a:solidFill>
                <a:latin typeface="Calibri" pitchFamily="34" charset="0"/>
                <a:ea typeface="Calibri" pitchFamily="34" charset="-122"/>
                <a:cs typeface="Calibri" pitchFamily="34" charset="-120"/>
              </a:rPr>
              <a:t>Trivy</a:t>
            </a:r>
            <a:endParaRPr lang="en-US" sz="800" dirty="0"/>
          </a:p>
          <a:p>
            <a:pPr algn="ctr" indent="0" marL="0">
              <a:buNone/>
            </a:pPr>
            <a:r>
              <a:rPr lang="en-US" sz="800" dirty="0">
                <a:solidFill>
                  <a:srgbClr val="FFFFFF"/>
                </a:solidFill>
                <a:latin typeface="Calibri" pitchFamily="34" charset="0"/>
                <a:ea typeface="Calibri" pitchFamily="34" charset="-122"/>
                <a:cs typeface="Calibri" pitchFamily="34" charset="-120"/>
              </a:rPr>
              <a:t>Image Scan</a:t>
            </a:r>
            <a:endParaRPr lang="en-US" sz="800" dirty="0"/>
          </a:p>
        </p:txBody>
      </p:sp>
      <p:sp>
        <p:nvSpPr>
          <p:cNvPr id="28" name="Shape 20"/>
          <p:cNvSpPr/>
          <p:nvPr/>
        </p:nvSpPr>
        <p:spPr>
          <a:xfrm>
            <a:off x="6766560" y="1577340"/>
            <a:ext cx="109728" cy="0"/>
          </a:xfrm>
          <a:prstGeom prst="line">
            <a:avLst/>
          </a:prstGeom>
          <a:noFill/>
          <a:ln w="25400">
            <a:solidFill>
              <a:srgbClr val="00B4D8"/>
            </a:solidFill>
            <a:prstDash val="solid"/>
          </a:ln>
        </p:spPr>
      </p:sp>
      <p:sp>
        <p:nvSpPr>
          <p:cNvPr id="29" name="Shape 21"/>
          <p:cNvSpPr/>
          <p:nvPr/>
        </p:nvSpPr>
        <p:spPr>
          <a:xfrm>
            <a:off x="6876288" y="1051560"/>
            <a:ext cx="1005840" cy="1051560"/>
          </a:xfrm>
          <a:prstGeom prst="roundRect">
            <a:avLst>
              <a:gd name="adj" fmla="val 7273"/>
            </a:avLst>
          </a:prstGeom>
          <a:solidFill>
            <a:srgbClr val="0F2240"/>
          </a:solidFill>
          <a:ln w="19050">
            <a:solidFill>
              <a:srgbClr val="0078D4"/>
            </a:solidFill>
            <a:prstDash val="solid"/>
          </a:ln>
          <a:effectLst>
            <a:outerShdw sx="100000" sy="100000" kx="0" ky="0" algn="bl" rotWithShape="0" blurRad="127000" dist="38100" dir="2700000">
              <a:srgbClr val="000000">
                <a:alpha val="25000"/>
              </a:srgbClr>
            </a:outerShdw>
          </a:effectLst>
        </p:spPr>
      </p:sp>
      <p:pic>
        <p:nvPicPr>
          <p:cNvPr id="30" name="Image 6" descr="preencoded.png">    </p:cNvPr>
          <p:cNvPicPr>
            <a:picLocks noChangeAspect="1"/>
          </p:cNvPicPr>
          <p:nvPr/>
        </p:nvPicPr>
        <p:blipFill>
          <a:blip r:embed="rId7"/>
          <a:stretch>
            <a:fillRect/>
          </a:stretch>
        </p:blipFill>
        <p:spPr>
          <a:xfrm>
            <a:off x="7196328" y="1106424"/>
            <a:ext cx="347472" cy="347472"/>
          </a:xfrm>
          <a:prstGeom prst="rect">
            <a:avLst/>
          </a:prstGeom>
        </p:spPr>
      </p:pic>
      <p:sp>
        <p:nvSpPr>
          <p:cNvPr id="31" name="Text 22"/>
          <p:cNvSpPr/>
          <p:nvPr/>
        </p:nvSpPr>
        <p:spPr>
          <a:xfrm>
            <a:off x="6912864" y="1508760"/>
            <a:ext cx="932688" cy="548640"/>
          </a:xfrm>
          <a:prstGeom prst="rect">
            <a:avLst/>
          </a:prstGeom>
          <a:noFill/>
          <a:ln/>
        </p:spPr>
        <p:txBody>
          <a:bodyPr wrap="square" lIns="0" tIns="0" rIns="0" bIns="0" rtlCol="0" anchor="t"/>
          <a:lstStyle/>
          <a:p>
            <a:pPr algn="ctr" indent="0" marL="0">
              <a:buNone/>
            </a:pPr>
            <a:r>
              <a:rPr lang="en-US" sz="800" dirty="0">
                <a:solidFill>
                  <a:srgbClr val="FFFFFF"/>
                </a:solidFill>
                <a:latin typeface="Calibri" pitchFamily="34" charset="0"/>
                <a:ea typeface="Calibri" pitchFamily="34" charset="-122"/>
                <a:cs typeface="Calibri" pitchFamily="34" charset="-120"/>
              </a:rPr>
              <a:t>Push to</a:t>
            </a:r>
            <a:endParaRPr lang="en-US" sz="800" dirty="0"/>
          </a:p>
          <a:p>
            <a:pPr algn="ctr" indent="0" marL="0">
              <a:buNone/>
            </a:pPr>
            <a:r>
              <a:rPr lang="en-US" sz="800" dirty="0">
                <a:solidFill>
                  <a:srgbClr val="FFFFFF"/>
                </a:solidFill>
                <a:latin typeface="Calibri" pitchFamily="34" charset="0"/>
                <a:ea typeface="Calibri" pitchFamily="34" charset="-122"/>
                <a:cs typeface="Calibri" pitchFamily="34" charset="-120"/>
              </a:rPr>
              <a:t>ACR</a:t>
            </a:r>
            <a:endParaRPr lang="en-US" sz="800" dirty="0"/>
          </a:p>
        </p:txBody>
      </p:sp>
      <p:sp>
        <p:nvSpPr>
          <p:cNvPr id="32" name="Shape 23"/>
          <p:cNvSpPr/>
          <p:nvPr/>
        </p:nvSpPr>
        <p:spPr>
          <a:xfrm>
            <a:off x="7882128" y="1577340"/>
            <a:ext cx="109728" cy="0"/>
          </a:xfrm>
          <a:prstGeom prst="line">
            <a:avLst/>
          </a:prstGeom>
          <a:noFill/>
          <a:ln w="25400">
            <a:solidFill>
              <a:srgbClr val="00B4D8"/>
            </a:solidFill>
            <a:prstDash val="solid"/>
          </a:ln>
        </p:spPr>
      </p:sp>
      <p:sp>
        <p:nvSpPr>
          <p:cNvPr id="33" name="Shape 24"/>
          <p:cNvSpPr/>
          <p:nvPr/>
        </p:nvSpPr>
        <p:spPr>
          <a:xfrm>
            <a:off x="7991856" y="1051560"/>
            <a:ext cx="1005840" cy="1051560"/>
          </a:xfrm>
          <a:prstGeom prst="roundRect">
            <a:avLst>
              <a:gd name="adj" fmla="val 7273"/>
            </a:avLst>
          </a:prstGeom>
          <a:solidFill>
            <a:srgbClr val="0F2240"/>
          </a:solidFill>
          <a:ln w="19050">
            <a:solidFill>
              <a:srgbClr val="00B4D8"/>
            </a:solidFill>
            <a:prstDash val="solid"/>
          </a:ln>
          <a:effectLst>
            <a:outerShdw sx="100000" sy="100000" kx="0" ky="0" algn="bl" rotWithShape="0" blurRad="127000" dist="38100" dir="2700000">
              <a:srgbClr val="000000">
                <a:alpha val="25000"/>
              </a:srgbClr>
            </a:outerShdw>
          </a:effectLst>
        </p:spPr>
      </p:sp>
      <p:pic>
        <p:nvPicPr>
          <p:cNvPr id="34" name="Image 7" descr="preencoded.png">    </p:cNvPr>
          <p:cNvPicPr>
            <a:picLocks noChangeAspect="1"/>
          </p:cNvPicPr>
          <p:nvPr/>
        </p:nvPicPr>
        <p:blipFill>
          <a:blip r:embed="rId8"/>
          <a:stretch>
            <a:fillRect/>
          </a:stretch>
        </p:blipFill>
        <p:spPr>
          <a:xfrm>
            <a:off x="8311896" y="1106424"/>
            <a:ext cx="347472" cy="347472"/>
          </a:xfrm>
          <a:prstGeom prst="rect">
            <a:avLst/>
          </a:prstGeom>
        </p:spPr>
      </p:pic>
      <p:sp>
        <p:nvSpPr>
          <p:cNvPr id="35" name="Text 25"/>
          <p:cNvSpPr/>
          <p:nvPr/>
        </p:nvSpPr>
        <p:spPr>
          <a:xfrm>
            <a:off x="8028432" y="1508760"/>
            <a:ext cx="932688" cy="548640"/>
          </a:xfrm>
          <a:prstGeom prst="rect">
            <a:avLst/>
          </a:prstGeom>
          <a:noFill/>
          <a:ln/>
        </p:spPr>
        <p:txBody>
          <a:bodyPr wrap="square" lIns="0" tIns="0" rIns="0" bIns="0" rtlCol="0" anchor="t"/>
          <a:lstStyle/>
          <a:p>
            <a:pPr algn="ctr" indent="0" marL="0">
              <a:buNone/>
            </a:pPr>
            <a:r>
              <a:rPr lang="en-US" sz="800" dirty="0">
                <a:solidFill>
                  <a:srgbClr val="FFFFFF"/>
                </a:solidFill>
                <a:latin typeface="Calibri" pitchFamily="34" charset="0"/>
                <a:ea typeface="Calibri" pitchFamily="34" charset="-122"/>
                <a:cs typeface="Calibri" pitchFamily="34" charset="-120"/>
              </a:rPr>
              <a:t>Deploy to</a:t>
            </a:r>
            <a:endParaRPr lang="en-US" sz="800" dirty="0"/>
          </a:p>
          <a:p>
            <a:pPr algn="ctr" indent="0" marL="0">
              <a:buNone/>
            </a:pPr>
            <a:r>
              <a:rPr lang="en-US" sz="800" dirty="0">
                <a:solidFill>
                  <a:srgbClr val="FFFFFF"/>
                </a:solidFill>
                <a:latin typeface="Calibri" pitchFamily="34" charset="0"/>
                <a:ea typeface="Calibri" pitchFamily="34" charset="-122"/>
                <a:cs typeface="Calibri" pitchFamily="34" charset="-120"/>
              </a:rPr>
              <a:t>AKS</a:t>
            </a:r>
            <a:endParaRPr lang="en-US" sz="800" dirty="0"/>
          </a:p>
        </p:txBody>
      </p:sp>
      <p:sp>
        <p:nvSpPr>
          <p:cNvPr id="36" name="Shape 26"/>
          <p:cNvSpPr/>
          <p:nvPr/>
        </p:nvSpPr>
        <p:spPr>
          <a:xfrm>
            <a:off x="182880" y="2286000"/>
            <a:ext cx="3749040" cy="502920"/>
          </a:xfrm>
          <a:prstGeom prst="roundRect">
            <a:avLst>
              <a:gd name="adj" fmla="val 14545"/>
            </a:avLst>
          </a:prstGeom>
          <a:solidFill>
            <a:srgbClr val="112652"/>
          </a:solidFill>
          <a:ln w="12700">
            <a:solidFill>
              <a:srgbClr val="00C896"/>
            </a:solidFill>
            <a:prstDash val="solid"/>
          </a:ln>
          <a:effectLst>
            <a:outerShdw sx="100000" sy="100000" kx="0" ky="0" algn="bl" rotWithShape="0" blurRad="127000" dist="38100" dir="2700000">
              <a:srgbClr val="000000">
                <a:alpha val="25000"/>
              </a:srgbClr>
            </a:outerShdw>
          </a:effectLst>
        </p:spPr>
      </p:sp>
      <p:sp>
        <p:nvSpPr>
          <p:cNvPr id="37" name="Text 27"/>
          <p:cNvSpPr/>
          <p:nvPr/>
        </p:nvSpPr>
        <p:spPr>
          <a:xfrm>
            <a:off x="228600" y="2304288"/>
            <a:ext cx="3657600" cy="457200"/>
          </a:xfrm>
          <a:prstGeom prst="rect">
            <a:avLst/>
          </a:prstGeom>
          <a:noFill/>
          <a:ln/>
        </p:spPr>
        <p:txBody>
          <a:bodyPr wrap="square" lIns="0" tIns="0" rIns="0" bIns="0" rtlCol="0" anchor="ctr"/>
          <a:lstStyle/>
          <a:p>
            <a:pPr indent="0" marL="0">
              <a:buNone/>
            </a:pPr>
            <a:r>
              <a:rPr lang="en-US" sz="950" dirty="0">
                <a:solidFill>
                  <a:srgbClr val="00C896"/>
                </a:solidFill>
                <a:latin typeface="Calibri" pitchFamily="34" charset="0"/>
                <a:ea typeface="Calibri" pitchFamily="34" charset="-122"/>
                <a:cs typeface="Calibri" pitchFamily="34" charset="-120"/>
              </a:rPr>
              <a:t>Kustomize Manifests → AKS namespace overlay (dev / prod)</a:t>
            </a:r>
            <a:endParaRPr lang="en-US" sz="950" dirty="0"/>
          </a:p>
        </p:txBody>
      </p:sp>
      <p:sp>
        <p:nvSpPr>
          <p:cNvPr id="38" name="Shape 28"/>
          <p:cNvSpPr/>
          <p:nvPr/>
        </p:nvSpPr>
        <p:spPr>
          <a:xfrm>
            <a:off x="182880" y="2971800"/>
            <a:ext cx="8778240" cy="960120"/>
          </a:xfrm>
          <a:prstGeom prst="roundRect">
            <a:avLst>
              <a:gd name="adj" fmla="val 7619"/>
            </a:avLst>
          </a:prstGeom>
          <a:solidFill>
            <a:srgbClr val="0F2240"/>
          </a:solidFill>
          <a:ln w="19050">
            <a:solidFill>
              <a:srgbClr val="8B5CF6"/>
            </a:solidFill>
            <a:prstDash val="solid"/>
          </a:ln>
          <a:effectLst>
            <a:outerShdw sx="100000" sy="100000" kx="0" ky="0" algn="bl" rotWithShape="0" blurRad="127000" dist="38100" dir="2700000">
              <a:srgbClr val="000000">
                <a:alpha val="25000"/>
              </a:srgbClr>
            </a:outerShdw>
          </a:effectLst>
        </p:spPr>
      </p:sp>
      <p:sp>
        <p:nvSpPr>
          <p:cNvPr id="39" name="Text 29"/>
          <p:cNvSpPr/>
          <p:nvPr/>
        </p:nvSpPr>
        <p:spPr>
          <a:xfrm>
            <a:off x="320040" y="2999232"/>
            <a:ext cx="3657600" cy="320040"/>
          </a:xfrm>
          <a:prstGeom prst="rect">
            <a:avLst/>
          </a:prstGeom>
          <a:noFill/>
          <a:ln/>
        </p:spPr>
        <p:txBody>
          <a:bodyPr wrap="square" lIns="0" tIns="0" rIns="0" bIns="0" rtlCol="0" anchor="ctr"/>
          <a:lstStyle/>
          <a:p>
            <a:pPr indent="0" marL="0">
              <a:buNone/>
            </a:pPr>
            <a:r>
              <a:rPr lang="en-US" sz="1100" b="1" dirty="0">
                <a:solidFill>
                  <a:srgbClr val="8B5CF6"/>
                </a:solidFill>
                <a:latin typeface="Calibri" pitchFamily="34" charset="0"/>
                <a:ea typeface="Calibri" pitchFamily="34" charset="-122"/>
                <a:cs typeface="Calibri" pitchFamily="34" charset="-120"/>
              </a:rPr>
              <a:t>Terraform Infrastructure Pipeline</a:t>
            </a:r>
            <a:endParaRPr lang="en-US" sz="1100" dirty="0"/>
          </a:p>
        </p:txBody>
      </p:sp>
      <p:sp>
        <p:nvSpPr>
          <p:cNvPr id="40" name="Shape 30"/>
          <p:cNvSpPr/>
          <p:nvPr/>
        </p:nvSpPr>
        <p:spPr>
          <a:xfrm>
            <a:off x="320040" y="3337560"/>
            <a:ext cx="1618488" cy="475488"/>
          </a:xfrm>
          <a:prstGeom prst="roundRect">
            <a:avLst>
              <a:gd name="adj" fmla="val 15385"/>
            </a:avLst>
          </a:prstGeom>
          <a:solidFill>
            <a:srgbClr val="0A1628"/>
          </a:solidFill>
          <a:ln w="12700">
            <a:solidFill>
              <a:srgbClr val="8B5CF6"/>
            </a:solidFill>
            <a:prstDash val="solid"/>
          </a:ln>
          <a:effectLst>
            <a:outerShdw sx="100000" sy="100000" kx="0" ky="0" algn="bl" rotWithShape="0" blurRad="127000" dist="38100" dir="2700000">
              <a:srgbClr val="000000">
                <a:alpha val="25000"/>
              </a:srgbClr>
            </a:outerShdw>
          </a:effectLst>
        </p:spPr>
      </p:sp>
      <p:pic>
        <p:nvPicPr>
          <p:cNvPr id="41" name="Image 8" descr="preencoded.png">    </p:cNvPr>
          <p:cNvPicPr>
            <a:picLocks noChangeAspect="1"/>
          </p:cNvPicPr>
          <p:nvPr/>
        </p:nvPicPr>
        <p:blipFill>
          <a:blip r:embed="rId9"/>
          <a:stretch>
            <a:fillRect/>
          </a:stretch>
        </p:blipFill>
        <p:spPr>
          <a:xfrm>
            <a:off x="384048" y="3383280"/>
            <a:ext cx="292608" cy="292608"/>
          </a:xfrm>
          <a:prstGeom prst="rect">
            <a:avLst/>
          </a:prstGeom>
        </p:spPr>
      </p:pic>
      <p:sp>
        <p:nvSpPr>
          <p:cNvPr id="42" name="Text 31"/>
          <p:cNvSpPr/>
          <p:nvPr/>
        </p:nvSpPr>
        <p:spPr>
          <a:xfrm>
            <a:off x="713232" y="3364992"/>
            <a:ext cx="1170432" cy="384048"/>
          </a:xfrm>
          <a:prstGeom prst="rect">
            <a:avLst/>
          </a:prstGeom>
          <a:noFill/>
          <a:ln/>
        </p:spPr>
        <p:txBody>
          <a:bodyPr wrap="square" lIns="0" tIns="0" rIns="0" bIns="0" rtlCol="0" anchor="ctr"/>
          <a:lstStyle/>
          <a:p>
            <a:pPr indent="0" marL="0">
              <a:buNone/>
            </a:pPr>
            <a:r>
              <a:rPr lang="en-US" sz="800" dirty="0">
                <a:solidFill>
                  <a:srgbClr val="CBD5E1"/>
                </a:solidFill>
                <a:latin typeface="Calibri" pitchFamily="34" charset="0"/>
                <a:ea typeface="Calibri" pitchFamily="34" charset="-122"/>
                <a:cs typeface="Calibri" pitchFamily="34" charset="-120"/>
              </a:rPr>
              <a:t>terraform fmt/validate</a:t>
            </a:r>
            <a:endParaRPr lang="en-US" sz="800" dirty="0"/>
          </a:p>
        </p:txBody>
      </p:sp>
      <p:sp>
        <p:nvSpPr>
          <p:cNvPr id="43" name="Shape 32"/>
          <p:cNvSpPr/>
          <p:nvPr/>
        </p:nvSpPr>
        <p:spPr>
          <a:xfrm>
            <a:off x="1938528" y="3575304"/>
            <a:ext cx="91440" cy="0"/>
          </a:xfrm>
          <a:prstGeom prst="line">
            <a:avLst/>
          </a:prstGeom>
          <a:noFill/>
          <a:ln w="19050">
            <a:solidFill>
              <a:srgbClr val="8B5CF6"/>
            </a:solidFill>
            <a:prstDash val="solid"/>
          </a:ln>
        </p:spPr>
      </p:sp>
      <p:sp>
        <p:nvSpPr>
          <p:cNvPr id="44" name="Shape 33"/>
          <p:cNvSpPr/>
          <p:nvPr/>
        </p:nvSpPr>
        <p:spPr>
          <a:xfrm>
            <a:off x="2029968" y="3337560"/>
            <a:ext cx="1618488" cy="475488"/>
          </a:xfrm>
          <a:prstGeom prst="roundRect">
            <a:avLst>
              <a:gd name="adj" fmla="val 15385"/>
            </a:avLst>
          </a:prstGeom>
          <a:solidFill>
            <a:srgbClr val="0A1628"/>
          </a:solidFill>
          <a:ln w="12700">
            <a:solidFill>
              <a:srgbClr val="8B5CF6"/>
            </a:solidFill>
            <a:prstDash val="solid"/>
          </a:ln>
          <a:effectLst>
            <a:outerShdw sx="100000" sy="100000" kx="0" ky="0" algn="bl" rotWithShape="0" blurRad="127000" dist="38100" dir="2700000">
              <a:srgbClr val="000000">
                <a:alpha val="25000"/>
              </a:srgbClr>
            </a:outerShdw>
          </a:effectLst>
        </p:spPr>
      </p:sp>
      <p:pic>
        <p:nvPicPr>
          <p:cNvPr id="45" name="Image 9" descr="preencoded.png">    </p:cNvPr>
          <p:cNvPicPr>
            <a:picLocks noChangeAspect="1"/>
          </p:cNvPicPr>
          <p:nvPr/>
        </p:nvPicPr>
        <p:blipFill>
          <a:blip r:embed="rId10"/>
          <a:stretch>
            <a:fillRect/>
          </a:stretch>
        </p:blipFill>
        <p:spPr>
          <a:xfrm>
            <a:off x="2093976" y="3383280"/>
            <a:ext cx="292608" cy="292608"/>
          </a:xfrm>
          <a:prstGeom prst="rect">
            <a:avLst/>
          </a:prstGeom>
        </p:spPr>
      </p:pic>
      <p:sp>
        <p:nvSpPr>
          <p:cNvPr id="46" name="Text 34"/>
          <p:cNvSpPr/>
          <p:nvPr/>
        </p:nvSpPr>
        <p:spPr>
          <a:xfrm>
            <a:off x="2423160" y="3364992"/>
            <a:ext cx="1170432" cy="384048"/>
          </a:xfrm>
          <a:prstGeom prst="rect">
            <a:avLst/>
          </a:prstGeom>
          <a:noFill/>
          <a:ln/>
        </p:spPr>
        <p:txBody>
          <a:bodyPr wrap="square" lIns="0" tIns="0" rIns="0" bIns="0" rtlCol="0" anchor="ctr"/>
          <a:lstStyle/>
          <a:p>
            <a:pPr indent="0" marL="0">
              <a:buNone/>
            </a:pPr>
            <a:r>
              <a:rPr lang="en-US" sz="800" dirty="0">
                <a:solidFill>
                  <a:srgbClr val="CBD5E1"/>
                </a:solidFill>
                <a:latin typeface="Calibri" pitchFamily="34" charset="0"/>
                <a:ea typeface="Calibri" pitchFamily="34" charset="-122"/>
                <a:cs typeface="Calibri" pitchFamily="34" charset="-120"/>
              </a:rPr>
              <a:t>tfsec / Checkov scan</a:t>
            </a:r>
            <a:endParaRPr lang="en-US" sz="800" dirty="0"/>
          </a:p>
        </p:txBody>
      </p:sp>
      <p:sp>
        <p:nvSpPr>
          <p:cNvPr id="47" name="Shape 35"/>
          <p:cNvSpPr/>
          <p:nvPr/>
        </p:nvSpPr>
        <p:spPr>
          <a:xfrm>
            <a:off x="3648456" y="3575304"/>
            <a:ext cx="91440" cy="0"/>
          </a:xfrm>
          <a:prstGeom prst="line">
            <a:avLst/>
          </a:prstGeom>
          <a:noFill/>
          <a:ln w="19050">
            <a:solidFill>
              <a:srgbClr val="8B5CF6"/>
            </a:solidFill>
            <a:prstDash val="solid"/>
          </a:ln>
        </p:spPr>
      </p:sp>
      <p:sp>
        <p:nvSpPr>
          <p:cNvPr id="48" name="Shape 36"/>
          <p:cNvSpPr/>
          <p:nvPr/>
        </p:nvSpPr>
        <p:spPr>
          <a:xfrm>
            <a:off x="3739896" y="3337560"/>
            <a:ext cx="1618488" cy="475488"/>
          </a:xfrm>
          <a:prstGeom prst="roundRect">
            <a:avLst>
              <a:gd name="adj" fmla="val 15385"/>
            </a:avLst>
          </a:prstGeom>
          <a:solidFill>
            <a:srgbClr val="0A1628"/>
          </a:solidFill>
          <a:ln w="12700">
            <a:solidFill>
              <a:srgbClr val="8B5CF6"/>
            </a:solidFill>
            <a:prstDash val="solid"/>
          </a:ln>
          <a:effectLst>
            <a:outerShdw sx="100000" sy="100000" kx="0" ky="0" algn="bl" rotWithShape="0" blurRad="127000" dist="38100" dir="2700000">
              <a:srgbClr val="000000">
                <a:alpha val="25000"/>
              </a:srgbClr>
            </a:outerShdw>
          </a:effectLst>
        </p:spPr>
      </p:sp>
      <p:pic>
        <p:nvPicPr>
          <p:cNvPr id="49" name="Image 10" descr="preencoded.png">    </p:cNvPr>
          <p:cNvPicPr>
            <a:picLocks noChangeAspect="1"/>
          </p:cNvPicPr>
          <p:nvPr/>
        </p:nvPicPr>
        <p:blipFill>
          <a:blip r:embed="rId11"/>
          <a:stretch>
            <a:fillRect/>
          </a:stretch>
        </p:blipFill>
        <p:spPr>
          <a:xfrm>
            <a:off x="3803904" y="3383280"/>
            <a:ext cx="292608" cy="292608"/>
          </a:xfrm>
          <a:prstGeom prst="rect">
            <a:avLst/>
          </a:prstGeom>
        </p:spPr>
      </p:pic>
      <p:sp>
        <p:nvSpPr>
          <p:cNvPr id="50" name="Text 37"/>
          <p:cNvSpPr/>
          <p:nvPr/>
        </p:nvSpPr>
        <p:spPr>
          <a:xfrm>
            <a:off x="4133088" y="3364992"/>
            <a:ext cx="1170432" cy="384048"/>
          </a:xfrm>
          <a:prstGeom prst="rect">
            <a:avLst/>
          </a:prstGeom>
          <a:noFill/>
          <a:ln/>
        </p:spPr>
        <p:txBody>
          <a:bodyPr wrap="square" lIns="0" tIns="0" rIns="0" bIns="0" rtlCol="0" anchor="ctr"/>
          <a:lstStyle/>
          <a:p>
            <a:pPr indent="0" marL="0">
              <a:buNone/>
            </a:pPr>
            <a:r>
              <a:rPr lang="en-US" sz="800" dirty="0">
                <a:solidFill>
                  <a:srgbClr val="CBD5E1"/>
                </a:solidFill>
                <a:latin typeface="Calibri" pitchFamily="34" charset="0"/>
                <a:ea typeface="Calibri" pitchFamily="34" charset="-122"/>
                <a:cs typeface="Calibri" pitchFamily="34" charset="-120"/>
              </a:rPr>
              <a:t>terraform plan</a:t>
            </a:r>
            <a:endParaRPr lang="en-US" sz="800" dirty="0"/>
          </a:p>
        </p:txBody>
      </p:sp>
      <p:sp>
        <p:nvSpPr>
          <p:cNvPr id="51" name="Shape 38"/>
          <p:cNvSpPr/>
          <p:nvPr/>
        </p:nvSpPr>
        <p:spPr>
          <a:xfrm>
            <a:off x="5358384" y="3575304"/>
            <a:ext cx="91440" cy="0"/>
          </a:xfrm>
          <a:prstGeom prst="line">
            <a:avLst/>
          </a:prstGeom>
          <a:noFill/>
          <a:ln w="19050">
            <a:solidFill>
              <a:srgbClr val="8B5CF6"/>
            </a:solidFill>
            <a:prstDash val="solid"/>
          </a:ln>
        </p:spPr>
      </p:sp>
      <p:sp>
        <p:nvSpPr>
          <p:cNvPr id="52" name="Shape 39"/>
          <p:cNvSpPr/>
          <p:nvPr/>
        </p:nvSpPr>
        <p:spPr>
          <a:xfrm>
            <a:off x="5449824" y="3337560"/>
            <a:ext cx="1618488" cy="475488"/>
          </a:xfrm>
          <a:prstGeom prst="roundRect">
            <a:avLst>
              <a:gd name="adj" fmla="val 15385"/>
            </a:avLst>
          </a:prstGeom>
          <a:solidFill>
            <a:srgbClr val="0A1628"/>
          </a:solidFill>
          <a:ln w="12700">
            <a:solidFill>
              <a:srgbClr val="8B5CF6"/>
            </a:solidFill>
            <a:prstDash val="solid"/>
          </a:ln>
          <a:effectLst>
            <a:outerShdw sx="100000" sy="100000" kx="0" ky="0" algn="bl" rotWithShape="0" blurRad="127000" dist="38100" dir="2700000">
              <a:srgbClr val="000000">
                <a:alpha val="25000"/>
              </a:srgbClr>
            </a:outerShdw>
          </a:effectLst>
        </p:spPr>
      </p:sp>
      <p:pic>
        <p:nvPicPr>
          <p:cNvPr id="53" name="Image 11" descr="preencoded.png">    </p:cNvPr>
          <p:cNvPicPr>
            <a:picLocks noChangeAspect="1"/>
          </p:cNvPicPr>
          <p:nvPr/>
        </p:nvPicPr>
        <p:blipFill>
          <a:blip r:embed="rId12"/>
          <a:stretch>
            <a:fillRect/>
          </a:stretch>
        </p:blipFill>
        <p:spPr>
          <a:xfrm>
            <a:off x="5513832" y="3383280"/>
            <a:ext cx="292608" cy="292608"/>
          </a:xfrm>
          <a:prstGeom prst="rect">
            <a:avLst/>
          </a:prstGeom>
        </p:spPr>
      </p:pic>
      <p:sp>
        <p:nvSpPr>
          <p:cNvPr id="54" name="Text 40"/>
          <p:cNvSpPr/>
          <p:nvPr/>
        </p:nvSpPr>
        <p:spPr>
          <a:xfrm>
            <a:off x="5843016" y="3364992"/>
            <a:ext cx="1170432" cy="384048"/>
          </a:xfrm>
          <a:prstGeom prst="rect">
            <a:avLst/>
          </a:prstGeom>
          <a:noFill/>
          <a:ln/>
        </p:spPr>
        <p:txBody>
          <a:bodyPr wrap="square" lIns="0" tIns="0" rIns="0" bIns="0" rtlCol="0" anchor="ctr"/>
          <a:lstStyle/>
          <a:p>
            <a:pPr indent="0" marL="0">
              <a:buNone/>
            </a:pPr>
            <a:r>
              <a:rPr lang="en-US" sz="800" dirty="0">
                <a:solidFill>
                  <a:srgbClr val="CBD5E1"/>
                </a:solidFill>
                <a:latin typeface="Calibri" pitchFamily="34" charset="0"/>
                <a:ea typeface="Calibri" pitchFamily="34" charset="-122"/>
                <a:cs typeface="Calibri" pitchFamily="34" charset="-120"/>
              </a:rPr>
              <a:t>manual approval gate</a:t>
            </a:r>
            <a:endParaRPr lang="en-US" sz="800" dirty="0"/>
          </a:p>
        </p:txBody>
      </p:sp>
      <p:sp>
        <p:nvSpPr>
          <p:cNvPr id="55" name="Shape 41"/>
          <p:cNvSpPr/>
          <p:nvPr/>
        </p:nvSpPr>
        <p:spPr>
          <a:xfrm>
            <a:off x="7068312" y="3575304"/>
            <a:ext cx="91440" cy="0"/>
          </a:xfrm>
          <a:prstGeom prst="line">
            <a:avLst/>
          </a:prstGeom>
          <a:noFill/>
          <a:ln w="19050">
            <a:solidFill>
              <a:srgbClr val="8B5CF6"/>
            </a:solidFill>
            <a:prstDash val="solid"/>
          </a:ln>
        </p:spPr>
      </p:sp>
      <p:sp>
        <p:nvSpPr>
          <p:cNvPr id="56" name="Shape 42"/>
          <p:cNvSpPr/>
          <p:nvPr/>
        </p:nvSpPr>
        <p:spPr>
          <a:xfrm>
            <a:off x="7159752" y="3337560"/>
            <a:ext cx="1618488" cy="475488"/>
          </a:xfrm>
          <a:prstGeom prst="roundRect">
            <a:avLst>
              <a:gd name="adj" fmla="val 15385"/>
            </a:avLst>
          </a:prstGeom>
          <a:solidFill>
            <a:srgbClr val="0A1628"/>
          </a:solidFill>
          <a:ln w="12700">
            <a:solidFill>
              <a:srgbClr val="8B5CF6"/>
            </a:solidFill>
            <a:prstDash val="solid"/>
          </a:ln>
          <a:effectLst>
            <a:outerShdw sx="100000" sy="100000" kx="0" ky="0" algn="bl" rotWithShape="0" blurRad="127000" dist="38100" dir="2700000">
              <a:srgbClr val="000000">
                <a:alpha val="25000"/>
              </a:srgbClr>
            </a:outerShdw>
          </a:effectLst>
        </p:spPr>
      </p:sp>
      <p:pic>
        <p:nvPicPr>
          <p:cNvPr id="57" name="Image 12" descr="preencoded.png">    </p:cNvPr>
          <p:cNvPicPr>
            <a:picLocks noChangeAspect="1"/>
          </p:cNvPicPr>
          <p:nvPr/>
        </p:nvPicPr>
        <p:blipFill>
          <a:blip r:embed="rId13"/>
          <a:stretch>
            <a:fillRect/>
          </a:stretch>
        </p:blipFill>
        <p:spPr>
          <a:xfrm>
            <a:off x="7223760" y="3383280"/>
            <a:ext cx="292608" cy="292608"/>
          </a:xfrm>
          <a:prstGeom prst="rect">
            <a:avLst/>
          </a:prstGeom>
        </p:spPr>
      </p:pic>
      <p:sp>
        <p:nvSpPr>
          <p:cNvPr id="58" name="Text 43"/>
          <p:cNvSpPr/>
          <p:nvPr/>
        </p:nvSpPr>
        <p:spPr>
          <a:xfrm>
            <a:off x="7552944" y="3364992"/>
            <a:ext cx="1170432" cy="384048"/>
          </a:xfrm>
          <a:prstGeom prst="rect">
            <a:avLst/>
          </a:prstGeom>
          <a:noFill/>
          <a:ln/>
        </p:spPr>
        <p:txBody>
          <a:bodyPr wrap="square" lIns="0" tIns="0" rIns="0" bIns="0" rtlCol="0" anchor="ctr"/>
          <a:lstStyle/>
          <a:p>
            <a:pPr indent="0" marL="0">
              <a:buNone/>
            </a:pPr>
            <a:r>
              <a:rPr lang="en-US" sz="800" dirty="0">
                <a:solidFill>
                  <a:srgbClr val="CBD5E1"/>
                </a:solidFill>
                <a:latin typeface="Calibri" pitchFamily="34" charset="0"/>
                <a:ea typeface="Calibri" pitchFamily="34" charset="-122"/>
                <a:cs typeface="Calibri" pitchFamily="34" charset="-120"/>
              </a:rPr>
              <a:t>terraform apply</a:t>
            </a:r>
            <a:endParaRPr lang="en-US" sz="800" dirty="0"/>
          </a:p>
        </p:txBody>
      </p:sp>
      <p:sp>
        <p:nvSpPr>
          <p:cNvPr id="59" name="Shape 44"/>
          <p:cNvSpPr/>
          <p:nvPr/>
        </p:nvSpPr>
        <p:spPr>
          <a:xfrm>
            <a:off x="182880" y="4434840"/>
            <a:ext cx="8778240" cy="475488"/>
          </a:xfrm>
          <a:prstGeom prst="roundRect">
            <a:avLst>
              <a:gd name="adj" fmla="val 15385"/>
            </a:avLst>
          </a:prstGeom>
          <a:solidFill>
            <a:srgbClr val="0F2240"/>
          </a:solidFill>
          <a:ln w="12700">
            <a:solidFill>
              <a:srgbClr val="0077B6"/>
            </a:solidFill>
            <a:prstDash val="solid"/>
          </a:ln>
          <a:effectLst>
            <a:outerShdw sx="100000" sy="100000" kx="0" ky="0" algn="bl" rotWithShape="0" blurRad="127000" dist="38100" dir="2700000">
              <a:srgbClr val="000000">
                <a:alpha val="25000"/>
              </a:srgbClr>
            </a:outerShdw>
          </a:effectLst>
        </p:spPr>
      </p:sp>
      <p:sp>
        <p:nvSpPr>
          <p:cNvPr id="60" name="Text 45"/>
          <p:cNvSpPr/>
          <p:nvPr/>
        </p:nvSpPr>
        <p:spPr>
          <a:xfrm>
            <a:off x="274320" y="4453128"/>
            <a:ext cx="8595360" cy="438912"/>
          </a:xfrm>
          <a:prstGeom prst="rect">
            <a:avLst/>
          </a:prstGeom>
          <a:noFill/>
          <a:ln/>
        </p:spPr>
        <p:txBody>
          <a:bodyPr wrap="square" lIns="0" tIns="0" rIns="0" bIns="0" rtlCol="0" anchor="ctr"/>
          <a:lstStyle/>
          <a:p>
            <a:pPr indent="0" marL="0">
              <a:buNone/>
            </a:pPr>
            <a:r>
              <a:rPr lang="en-US" sz="900" dirty="0">
                <a:solidFill>
                  <a:srgbClr val="00B4D8"/>
                </a:solidFill>
                <a:latin typeface="Calibri" pitchFamily="34" charset="0"/>
                <a:ea typeface="Calibri" pitchFamily="34" charset="-122"/>
                <a:cs typeface="Calibri" pitchFamily="34" charset="-120"/>
              </a:rPr>
              <a:t>✔  Reusable workflow templates  •  GitHub Environments (dev/prod)  •  Required reviewer approvals  •  GitHub Secrets for pipeline credentials; application secrets stored in Azure Key Vault</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F2240"/>
          </a:solidFill>
          <a:ln/>
        </p:spPr>
      </p:sp>
      <p:sp>
        <p:nvSpPr>
          <p:cNvPr id="3" name="Text 1"/>
          <p:cNvSpPr/>
          <p:nvPr/>
        </p:nvSpPr>
        <p:spPr>
          <a:xfrm>
            <a:off x="274320" y="73152"/>
            <a:ext cx="8595360" cy="54864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Kubernetes Deployment Design</a:t>
            </a:r>
            <a:endParaRPr lang="en-US" sz="2200" dirty="0"/>
          </a:p>
        </p:txBody>
      </p:sp>
      <p:sp>
        <p:nvSpPr>
          <p:cNvPr id="4" name="Text 2"/>
          <p:cNvSpPr/>
          <p:nvPr/>
        </p:nvSpPr>
        <p:spPr>
          <a:xfrm>
            <a:off x="274320" y="548640"/>
            <a:ext cx="8595360" cy="256032"/>
          </a:xfrm>
          <a:prstGeom prst="rect">
            <a:avLst/>
          </a:prstGeom>
          <a:noFill/>
          <a:ln/>
        </p:spPr>
        <p:txBody>
          <a:bodyPr wrap="square" lIns="0" tIns="0" rIns="0" bIns="0" rtlCol="0" anchor="ctr"/>
          <a:lstStyle/>
          <a:p>
            <a:pPr indent="0" marL="0">
              <a:buNone/>
            </a:pPr>
            <a:r>
              <a:rPr lang="en-US" sz="1100" dirty="0">
                <a:solidFill>
                  <a:srgbClr val="00B4D8"/>
                </a:solidFill>
                <a:latin typeface="Calibri" pitchFamily="34" charset="0"/>
                <a:ea typeface="Calibri" pitchFamily="34" charset="-122"/>
                <a:cs typeface="Calibri" pitchFamily="34" charset="-120"/>
              </a:rPr>
              <a:t>AKS cluster with isolated namespaces, ingress, and resource governance</a:t>
            </a:r>
            <a:endParaRPr lang="en-US" sz="1100" dirty="0"/>
          </a:p>
        </p:txBody>
      </p:sp>
      <p:sp>
        <p:nvSpPr>
          <p:cNvPr id="5" name="Shape 3"/>
          <p:cNvSpPr/>
          <p:nvPr/>
        </p:nvSpPr>
        <p:spPr>
          <a:xfrm>
            <a:off x="182880" y="914400"/>
            <a:ext cx="8778240" cy="3931920"/>
          </a:xfrm>
          <a:prstGeom prst="roundRect">
            <a:avLst>
              <a:gd name="adj" fmla="val 1860"/>
            </a:avLst>
          </a:prstGeom>
          <a:solidFill>
            <a:srgbClr val="07163A"/>
          </a:solidFill>
          <a:ln w="25400">
            <a:solidFill>
              <a:srgbClr val="0077B6"/>
            </a:solidFill>
            <a:prstDash val="solid"/>
          </a:ln>
          <a:effectLst>
            <a:outerShdw sx="100000" sy="100000" kx="0" ky="0" algn="bl" rotWithShape="0" blurRad="127000" dist="38100" dir="2700000">
              <a:srgbClr val="000000">
                <a:alpha val="25000"/>
              </a:srgbClr>
            </a:outerShdw>
          </a:effectLst>
        </p:spPr>
      </p:sp>
      <p:pic>
        <p:nvPicPr>
          <p:cNvPr id="6" name="Image 0" descr="preencoded.png">    </p:cNvPr>
          <p:cNvPicPr>
            <a:picLocks noChangeAspect="1"/>
          </p:cNvPicPr>
          <p:nvPr/>
        </p:nvPicPr>
        <p:blipFill>
          <a:blip r:embed="rId1"/>
          <a:stretch>
            <a:fillRect/>
          </a:stretch>
        </p:blipFill>
        <p:spPr>
          <a:xfrm>
            <a:off x="320040" y="987552"/>
            <a:ext cx="411480" cy="411480"/>
          </a:xfrm>
          <a:prstGeom prst="rect">
            <a:avLst/>
          </a:prstGeom>
        </p:spPr>
      </p:pic>
      <p:sp>
        <p:nvSpPr>
          <p:cNvPr id="7" name="Text 4"/>
          <p:cNvSpPr/>
          <p:nvPr/>
        </p:nvSpPr>
        <p:spPr>
          <a:xfrm>
            <a:off x="777240" y="1024128"/>
            <a:ext cx="4572000" cy="347472"/>
          </a:xfrm>
          <a:prstGeom prst="rect">
            <a:avLst/>
          </a:prstGeom>
          <a:noFill/>
          <a:ln/>
        </p:spPr>
        <p:txBody>
          <a:bodyPr wrap="square" lIns="0" tIns="0" rIns="0" bIns="0" rtlCol="0" anchor="ctr"/>
          <a:lstStyle/>
          <a:p>
            <a:pPr indent="0" marL="0">
              <a:buNone/>
            </a:pPr>
            <a:r>
              <a:rPr lang="en-US" sz="1100" b="1" dirty="0">
                <a:solidFill>
                  <a:srgbClr val="00B4D8"/>
                </a:solidFill>
                <a:latin typeface="Calibri" pitchFamily="34" charset="0"/>
                <a:ea typeface="Calibri" pitchFamily="34" charset="-122"/>
                <a:cs typeface="Calibri" pitchFamily="34" charset="-120"/>
              </a:rPr>
              <a:t>ResolveOps-AI-AKS  (Azure Kubernetes Service)</a:t>
            </a:r>
            <a:endParaRPr lang="en-US" sz="1100" dirty="0"/>
          </a:p>
        </p:txBody>
      </p:sp>
      <p:sp>
        <p:nvSpPr>
          <p:cNvPr id="8" name="Shape 5"/>
          <p:cNvSpPr/>
          <p:nvPr/>
        </p:nvSpPr>
        <p:spPr>
          <a:xfrm>
            <a:off x="3474720" y="1463040"/>
            <a:ext cx="2194560" cy="548640"/>
          </a:xfrm>
          <a:prstGeom prst="roundRect">
            <a:avLst>
              <a:gd name="adj" fmla="val 13333"/>
            </a:avLst>
          </a:prstGeom>
          <a:solidFill>
            <a:srgbClr val="0078D4"/>
          </a:solidFill>
          <a:ln w="12700">
            <a:solidFill>
              <a:srgbClr val="FFFFFF"/>
            </a:solidFill>
            <a:prstDash val="solid"/>
          </a:ln>
          <a:effectLst>
            <a:outerShdw sx="100000" sy="100000" kx="0" ky="0" algn="bl" rotWithShape="0" blurRad="127000" dist="38100" dir="2700000">
              <a:srgbClr val="000000">
                <a:alpha val="25000"/>
              </a:srgbClr>
            </a:outerShdw>
          </a:effectLst>
        </p:spPr>
      </p:sp>
      <p:sp>
        <p:nvSpPr>
          <p:cNvPr id="9" name="Text 6"/>
          <p:cNvSpPr/>
          <p:nvPr/>
        </p:nvSpPr>
        <p:spPr>
          <a:xfrm>
            <a:off x="3493008" y="1481328"/>
            <a:ext cx="2157984" cy="51206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NGINX Ingress Controller</a:t>
            </a:r>
            <a:endParaRPr lang="en-US" sz="950" dirty="0"/>
          </a:p>
        </p:txBody>
      </p:sp>
      <p:sp>
        <p:nvSpPr>
          <p:cNvPr id="10" name="Shape 7"/>
          <p:cNvSpPr/>
          <p:nvPr/>
        </p:nvSpPr>
        <p:spPr>
          <a:xfrm>
            <a:off x="411480" y="2194560"/>
            <a:ext cx="3794760" cy="2423160"/>
          </a:xfrm>
          <a:prstGeom prst="roundRect">
            <a:avLst>
              <a:gd name="adj" fmla="val 3019"/>
            </a:avLst>
          </a:prstGeom>
          <a:solidFill>
            <a:srgbClr val="0A2840"/>
          </a:solidFill>
          <a:ln w="19050">
            <a:solidFill>
              <a:srgbClr val="00C896"/>
            </a:solidFill>
            <a:prstDash val="solid"/>
          </a:ln>
          <a:effectLst>
            <a:outerShdw sx="100000" sy="100000" kx="0" ky="0" algn="bl" rotWithShape="0" blurRad="127000" dist="38100" dir="2700000">
              <a:srgbClr val="000000">
                <a:alpha val="25000"/>
              </a:srgbClr>
            </a:outerShdw>
          </a:effectLst>
        </p:spPr>
      </p:sp>
      <p:sp>
        <p:nvSpPr>
          <p:cNvPr id="11" name="Text 8"/>
          <p:cNvSpPr/>
          <p:nvPr/>
        </p:nvSpPr>
        <p:spPr>
          <a:xfrm>
            <a:off x="502920" y="2231136"/>
            <a:ext cx="2286000" cy="320040"/>
          </a:xfrm>
          <a:prstGeom prst="rect">
            <a:avLst/>
          </a:prstGeom>
          <a:noFill/>
          <a:ln/>
        </p:spPr>
        <p:txBody>
          <a:bodyPr wrap="square" lIns="0" tIns="0" rIns="0" bIns="0" rtlCol="0" anchor="ctr"/>
          <a:lstStyle/>
          <a:p>
            <a:pPr indent="0" marL="0">
              <a:buNone/>
            </a:pPr>
            <a:r>
              <a:rPr lang="en-US" sz="1000" b="1" dirty="0">
                <a:solidFill>
                  <a:srgbClr val="00C896"/>
                </a:solidFill>
                <a:latin typeface="Calibri" pitchFamily="34" charset="0"/>
                <a:ea typeface="Calibri" pitchFamily="34" charset="-122"/>
                <a:cs typeface="Calibri" pitchFamily="34" charset="-120"/>
              </a:rPr>
              <a:t>resolveops-dev</a:t>
            </a:r>
            <a:endParaRPr lang="en-US" sz="1000" dirty="0"/>
          </a:p>
        </p:txBody>
      </p:sp>
      <p:sp>
        <p:nvSpPr>
          <p:cNvPr id="12" name="Shape 9"/>
          <p:cNvSpPr/>
          <p:nvPr/>
        </p:nvSpPr>
        <p:spPr>
          <a:xfrm>
            <a:off x="475488" y="2633472"/>
            <a:ext cx="1700784" cy="365760"/>
          </a:xfrm>
          <a:prstGeom prst="roundRect">
            <a:avLst>
              <a:gd name="adj" fmla="val 20000"/>
            </a:avLst>
          </a:prstGeom>
          <a:solidFill>
            <a:srgbClr val="0F2240"/>
          </a:solidFill>
          <a:ln w="9525">
            <a:solidFill>
              <a:srgbClr val="00C896"/>
            </a:solidFill>
            <a:prstDash val="solid"/>
          </a:ln>
          <a:effectLst>
            <a:outerShdw sx="100000" sy="100000" kx="0" ky="0" algn="bl" rotWithShape="0" blurRad="127000" dist="38100" dir="2700000">
              <a:srgbClr val="000000">
                <a:alpha val="25000"/>
              </a:srgbClr>
            </a:outerShdw>
          </a:effectLst>
        </p:spPr>
      </p:sp>
      <p:sp>
        <p:nvSpPr>
          <p:cNvPr id="13" name="Text 10"/>
          <p:cNvSpPr/>
          <p:nvPr/>
        </p:nvSpPr>
        <p:spPr>
          <a:xfrm>
            <a:off x="530352" y="2651760"/>
            <a:ext cx="1572768" cy="329184"/>
          </a:xfrm>
          <a:prstGeom prst="rect">
            <a:avLst/>
          </a:prstGeom>
          <a:noFill/>
          <a:ln/>
        </p:spPr>
        <p:txBody>
          <a:bodyPr wrap="square" lIns="0" tIns="0" rIns="0" bIns="0" rtlCol="0" anchor="ctr"/>
          <a:lstStyle/>
          <a:p>
            <a:pPr indent="0" marL="0">
              <a:buNone/>
            </a:pPr>
            <a:r>
              <a:rPr lang="en-US" sz="800" dirty="0">
                <a:solidFill>
                  <a:srgbClr val="FFFFFF"/>
                </a:solidFill>
                <a:latin typeface="Calibri" pitchFamily="34" charset="0"/>
                <a:ea typeface="Calibri" pitchFamily="34" charset="-122"/>
                <a:cs typeface="Calibri" pitchFamily="34" charset="-120"/>
              </a:rPr>
              <a:t>frontend</a:t>
            </a:r>
            <a:endParaRPr lang="en-US" sz="800" dirty="0"/>
          </a:p>
        </p:txBody>
      </p:sp>
      <p:sp>
        <p:nvSpPr>
          <p:cNvPr id="14" name="Shape 11"/>
          <p:cNvSpPr/>
          <p:nvPr/>
        </p:nvSpPr>
        <p:spPr>
          <a:xfrm>
            <a:off x="2304288" y="2633472"/>
            <a:ext cx="1700784" cy="365760"/>
          </a:xfrm>
          <a:prstGeom prst="roundRect">
            <a:avLst>
              <a:gd name="adj" fmla="val 20000"/>
            </a:avLst>
          </a:prstGeom>
          <a:solidFill>
            <a:srgbClr val="0F2240"/>
          </a:solidFill>
          <a:ln w="9525">
            <a:solidFill>
              <a:srgbClr val="00C896"/>
            </a:solidFill>
            <a:prstDash val="solid"/>
          </a:ln>
          <a:effectLst>
            <a:outerShdw sx="100000" sy="100000" kx="0" ky="0" algn="bl" rotWithShape="0" blurRad="127000" dist="38100" dir="2700000">
              <a:srgbClr val="000000">
                <a:alpha val="25000"/>
              </a:srgbClr>
            </a:outerShdw>
          </a:effectLst>
        </p:spPr>
      </p:sp>
      <p:sp>
        <p:nvSpPr>
          <p:cNvPr id="15" name="Text 12"/>
          <p:cNvSpPr/>
          <p:nvPr/>
        </p:nvSpPr>
        <p:spPr>
          <a:xfrm>
            <a:off x="2359152" y="2651760"/>
            <a:ext cx="1572768" cy="329184"/>
          </a:xfrm>
          <a:prstGeom prst="rect">
            <a:avLst/>
          </a:prstGeom>
          <a:noFill/>
          <a:ln/>
        </p:spPr>
        <p:txBody>
          <a:bodyPr wrap="square" lIns="0" tIns="0" rIns="0" bIns="0" rtlCol="0" anchor="ctr"/>
          <a:lstStyle/>
          <a:p>
            <a:pPr indent="0" marL="0">
              <a:buNone/>
            </a:pPr>
            <a:r>
              <a:rPr lang="en-US" sz="800" dirty="0">
                <a:solidFill>
                  <a:srgbClr val="FFFFFF"/>
                </a:solidFill>
                <a:latin typeface="Calibri" pitchFamily="34" charset="0"/>
                <a:ea typeface="Calibri" pitchFamily="34" charset="-122"/>
                <a:cs typeface="Calibri" pitchFamily="34" charset="-120"/>
              </a:rPr>
              <a:t>api-gateway</a:t>
            </a:r>
            <a:endParaRPr lang="en-US" sz="800" dirty="0"/>
          </a:p>
        </p:txBody>
      </p:sp>
      <p:sp>
        <p:nvSpPr>
          <p:cNvPr id="16" name="Shape 13"/>
          <p:cNvSpPr/>
          <p:nvPr/>
        </p:nvSpPr>
        <p:spPr>
          <a:xfrm>
            <a:off x="475488" y="3072384"/>
            <a:ext cx="1700784" cy="365760"/>
          </a:xfrm>
          <a:prstGeom prst="roundRect">
            <a:avLst>
              <a:gd name="adj" fmla="val 20000"/>
            </a:avLst>
          </a:prstGeom>
          <a:solidFill>
            <a:srgbClr val="0F2240"/>
          </a:solidFill>
          <a:ln w="9525">
            <a:solidFill>
              <a:srgbClr val="00C896"/>
            </a:solidFill>
            <a:prstDash val="solid"/>
          </a:ln>
          <a:effectLst>
            <a:outerShdw sx="100000" sy="100000" kx="0" ky="0" algn="bl" rotWithShape="0" blurRad="127000" dist="38100" dir="2700000">
              <a:srgbClr val="000000">
                <a:alpha val="25000"/>
              </a:srgbClr>
            </a:outerShdw>
          </a:effectLst>
        </p:spPr>
      </p:sp>
      <p:sp>
        <p:nvSpPr>
          <p:cNvPr id="17" name="Text 14"/>
          <p:cNvSpPr/>
          <p:nvPr/>
        </p:nvSpPr>
        <p:spPr>
          <a:xfrm>
            <a:off x="530352" y="3090672"/>
            <a:ext cx="1572768" cy="329184"/>
          </a:xfrm>
          <a:prstGeom prst="rect">
            <a:avLst/>
          </a:prstGeom>
          <a:noFill/>
          <a:ln/>
        </p:spPr>
        <p:txBody>
          <a:bodyPr wrap="square" lIns="0" tIns="0" rIns="0" bIns="0" rtlCol="0" anchor="ctr"/>
          <a:lstStyle/>
          <a:p>
            <a:pPr indent="0" marL="0">
              <a:buNone/>
            </a:pPr>
            <a:r>
              <a:rPr lang="en-US" sz="800" dirty="0">
                <a:solidFill>
                  <a:srgbClr val="FFFFFF"/>
                </a:solidFill>
                <a:latin typeface="Calibri" pitchFamily="34" charset="0"/>
                <a:ea typeface="Calibri" pitchFamily="34" charset="-122"/>
                <a:cs typeface="Calibri" pitchFamily="34" charset="-120"/>
              </a:rPr>
              <a:t>auth-service</a:t>
            </a:r>
            <a:endParaRPr lang="en-US" sz="800" dirty="0"/>
          </a:p>
        </p:txBody>
      </p:sp>
      <p:sp>
        <p:nvSpPr>
          <p:cNvPr id="18" name="Shape 15"/>
          <p:cNvSpPr/>
          <p:nvPr/>
        </p:nvSpPr>
        <p:spPr>
          <a:xfrm>
            <a:off x="2304288" y="3072384"/>
            <a:ext cx="1700784" cy="365760"/>
          </a:xfrm>
          <a:prstGeom prst="roundRect">
            <a:avLst>
              <a:gd name="adj" fmla="val 20000"/>
            </a:avLst>
          </a:prstGeom>
          <a:solidFill>
            <a:srgbClr val="0F2240"/>
          </a:solidFill>
          <a:ln w="9525">
            <a:solidFill>
              <a:srgbClr val="00C896"/>
            </a:solidFill>
            <a:prstDash val="solid"/>
          </a:ln>
          <a:effectLst>
            <a:outerShdw sx="100000" sy="100000" kx="0" ky="0" algn="bl" rotWithShape="0" blurRad="127000" dist="38100" dir="2700000">
              <a:srgbClr val="000000">
                <a:alpha val="25000"/>
              </a:srgbClr>
            </a:outerShdw>
          </a:effectLst>
        </p:spPr>
      </p:sp>
      <p:sp>
        <p:nvSpPr>
          <p:cNvPr id="19" name="Text 16"/>
          <p:cNvSpPr/>
          <p:nvPr/>
        </p:nvSpPr>
        <p:spPr>
          <a:xfrm>
            <a:off x="2359152" y="3090672"/>
            <a:ext cx="1572768" cy="329184"/>
          </a:xfrm>
          <a:prstGeom prst="rect">
            <a:avLst/>
          </a:prstGeom>
          <a:noFill/>
          <a:ln/>
        </p:spPr>
        <p:txBody>
          <a:bodyPr wrap="square" lIns="0" tIns="0" rIns="0" bIns="0" rtlCol="0" anchor="ctr"/>
          <a:lstStyle/>
          <a:p>
            <a:pPr indent="0" marL="0">
              <a:buNone/>
            </a:pPr>
            <a:r>
              <a:rPr lang="en-US" sz="800" dirty="0">
                <a:solidFill>
                  <a:srgbClr val="FFFFFF"/>
                </a:solidFill>
                <a:latin typeface="Calibri" pitchFamily="34" charset="0"/>
                <a:ea typeface="Calibri" pitchFamily="34" charset="-122"/>
                <a:cs typeface="Calibri" pitchFamily="34" charset="-120"/>
              </a:rPr>
              <a:t>github-intel</a:t>
            </a:r>
            <a:endParaRPr lang="en-US" sz="800" dirty="0"/>
          </a:p>
        </p:txBody>
      </p:sp>
      <p:sp>
        <p:nvSpPr>
          <p:cNvPr id="20" name="Shape 17"/>
          <p:cNvSpPr/>
          <p:nvPr/>
        </p:nvSpPr>
        <p:spPr>
          <a:xfrm>
            <a:off x="475488" y="3511296"/>
            <a:ext cx="1700784" cy="365760"/>
          </a:xfrm>
          <a:prstGeom prst="roundRect">
            <a:avLst>
              <a:gd name="adj" fmla="val 20000"/>
            </a:avLst>
          </a:prstGeom>
          <a:solidFill>
            <a:srgbClr val="0F2240"/>
          </a:solidFill>
          <a:ln w="9525">
            <a:solidFill>
              <a:srgbClr val="00C896"/>
            </a:solidFill>
            <a:prstDash val="solid"/>
          </a:ln>
          <a:effectLst>
            <a:outerShdw sx="100000" sy="100000" kx="0" ky="0" algn="bl" rotWithShape="0" blurRad="127000" dist="38100" dir="2700000">
              <a:srgbClr val="000000">
                <a:alpha val="25000"/>
              </a:srgbClr>
            </a:outerShdw>
          </a:effectLst>
        </p:spPr>
      </p:sp>
      <p:sp>
        <p:nvSpPr>
          <p:cNvPr id="21" name="Text 18"/>
          <p:cNvSpPr/>
          <p:nvPr/>
        </p:nvSpPr>
        <p:spPr>
          <a:xfrm>
            <a:off x="530352" y="3529584"/>
            <a:ext cx="1572768" cy="329184"/>
          </a:xfrm>
          <a:prstGeom prst="rect">
            <a:avLst/>
          </a:prstGeom>
          <a:noFill/>
          <a:ln/>
        </p:spPr>
        <p:txBody>
          <a:bodyPr wrap="square" lIns="0" tIns="0" rIns="0" bIns="0" rtlCol="0" anchor="ctr"/>
          <a:lstStyle/>
          <a:p>
            <a:pPr indent="0" marL="0">
              <a:buNone/>
            </a:pPr>
            <a:r>
              <a:rPr lang="en-US" sz="800" dirty="0">
                <a:solidFill>
                  <a:srgbClr val="FFFFFF"/>
                </a:solidFill>
                <a:latin typeface="Calibri" pitchFamily="34" charset="0"/>
                <a:ea typeface="Calibri" pitchFamily="34" charset="-122"/>
                <a:cs typeface="Calibri" pitchFamily="34" charset="-120"/>
              </a:rPr>
              <a:t>azure-intel</a:t>
            </a:r>
            <a:endParaRPr lang="en-US" sz="800" dirty="0"/>
          </a:p>
        </p:txBody>
      </p:sp>
      <p:sp>
        <p:nvSpPr>
          <p:cNvPr id="22" name="Shape 19"/>
          <p:cNvSpPr/>
          <p:nvPr/>
        </p:nvSpPr>
        <p:spPr>
          <a:xfrm>
            <a:off x="2304288" y="3511296"/>
            <a:ext cx="1700784" cy="365760"/>
          </a:xfrm>
          <a:prstGeom prst="roundRect">
            <a:avLst>
              <a:gd name="adj" fmla="val 20000"/>
            </a:avLst>
          </a:prstGeom>
          <a:solidFill>
            <a:srgbClr val="0F2240"/>
          </a:solidFill>
          <a:ln w="9525">
            <a:solidFill>
              <a:srgbClr val="00C896"/>
            </a:solidFill>
            <a:prstDash val="solid"/>
          </a:ln>
          <a:effectLst>
            <a:outerShdw sx="100000" sy="100000" kx="0" ky="0" algn="bl" rotWithShape="0" blurRad="127000" dist="38100" dir="2700000">
              <a:srgbClr val="000000">
                <a:alpha val="25000"/>
              </a:srgbClr>
            </a:outerShdw>
          </a:effectLst>
        </p:spPr>
      </p:sp>
      <p:sp>
        <p:nvSpPr>
          <p:cNvPr id="23" name="Text 20"/>
          <p:cNvSpPr/>
          <p:nvPr/>
        </p:nvSpPr>
        <p:spPr>
          <a:xfrm>
            <a:off x="2359152" y="3529584"/>
            <a:ext cx="1572768" cy="329184"/>
          </a:xfrm>
          <a:prstGeom prst="rect">
            <a:avLst/>
          </a:prstGeom>
          <a:noFill/>
          <a:ln/>
        </p:spPr>
        <p:txBody>
          <a:bodyPr wrap="square" lIns="0" tIns="0" rIns="0" bIns="0" rtlCol="0" anchor="ctr"/>
          <a:lstStyle/>
          <a:p>
            <a:pPr indent="0" marL="0">
              <a:buNone/>
            </a:pPr>
            <a:r>
              <a:rPr lang="en-US" sz="800" dirty="0">
                <a:solidFill>
                  <a:srgbClr val="FFFFFF"/>
                </a:solidFill>
                <a:latin typeface="Calibri" pitchFamily="34" charset="0"/>
                <a:ea typeface="Calibri" pitchFamily="34" charset="-122"/>
                <a:cs typeface="Calibri" pitchFamily="34" charset="-120"/>
              </a:rPr>
              <a:t>aws-intel</a:t>
            </a:r>
            <a:endParaRPr lang="en-US" sz="800" dirty="0"/>
          </a:p>
        </p:txBody>
      </p:sp>
      <p:sp>
        <p:nvSpPr>
          <p:cNvPr id="24" name="Shape 21"/>
          <p:cNvSpPr/>
          <p:nvPr/>
        </p:nvSpPr>
        <p:spPr>
          <a:xfrm>
            <a:off x="475488" y="3950208"/>
            <a:ext cx="1700784" cy="365760"/>
          </a:xfrm>
          <a:prstGeom prst="roundRect">
            <a:avLst>
              <a:gd name="adj" fmla="val 20000"/>
            </a:avLst>
          </a:prstGeom>
          <a:solidFill>
            <a:srgbClr val="0F2240"/>
          </a:solidFill>
          <a:ln w="9525">
            <a:solidFill>
              <a:srgbClr val="00C896"/>
            </a:solidFill>
            <a:prstDash val="solid"/>
          </a:ln>
          <a:effectLst>
            <a:outerShdw sx="100000" sy="100000" kx="0" ky="0" algn="bl" rotWithShape="0" blurRad="127000" dist="38100" dir="2700000">
              <a:srgbClr val="000000">
                <a:alpha val="25000"/>
              </a:srgbClr>
            </a:outerShdw>
          </a:effectLst>
        </p:spPr>
      </p:sp>
      <p:sp>
        <p:nvSpPr>
          <p:cNvPr id="25" name="Text 22"/>
          <p:cNvSpPr/>
          <p:nvPr/>
        </p:nvSpPr>
        <p:spPr>
          <a:xfrm>
            <a:off x="530352" y="3968496"/>
            <a:ext cx="1572768" cy="329184"/>
          </a:xfrm>
          <a:prstGeom prst="rect">
            <a:avLst/>
          </a:prstGeom>
          <a:noFill/>
          <a:ln/>
        </p:spPr>
        <p:txBody>
          <a:bodyPr wrap="square" lIns="0" tIns="0" rIns="0" bIns="0" rtlCol="0" anchor="ctr"/>
          <a:lstStyle/>
          <a:p>
            <a:pPr indent="0" marL="0">
              <a:buNone/>
            </a:pPr>
            <a:r>
              <a:rPr lang="en-US" sz="800" dirty="0">
                <a:solidFill>
                  <a:srgbClr val="FFFFFF"/>
                </a:solidFill>
                <a:latin typeface="Calibri" pitchFamily="34" charset="0"/>
                <a:ea typeface="Calibri" pitchFamily="34" charset="-122"/>
                <a:cs typeface="Calibri" pitchFamily="34" charset="-120"/>
              </a:rPr>
              <a:t>ai-rca</a:t>
            </a:r>
            <a:endParaRPr lang="en-US" sz="800" dirty="0"/>
          </a:p>
        </p:txBody>
      </p:sp>
      <p:sp>
        <p:nvSpPr>
          <p:cNvPr id="26" name="Shape 23"/>
          <p:cNvSpPr/>
          <p:nvPr/>
        </p:nvSpPr>
        <p:spPr>
          <a:xfrm>
            <a:off x="2304288" y="3950208"/>
            <a:ext cx="1700784" cy="365760"/>
          </a:xfrm>
          <a:prstGeom prst="roundRect">
            <a:avLst>
              <a:gd name="adj" fmla="val 20000"/>
            </a:avLst>
          </a:prstGeom>
          <a:solidFill>
            <a:srgbClr val="0F2240"/>
          </a:solidFill>
          <a:ln w="9525">
            <a:solidFill>
              <a:srgbClr val="00C896"/>
            </a:solidFill>
            <a:prstDash val="solid"/>
          </a:ln>
          <a:effectLst>
            <a:outerShdw sx="100000" sy="100000" kx="0" ky="0" algn="bl" rotWithShape="0" blurRad="127000" dist="38100" dir="2700000">
              <a:srgbClr val="000000">
                <a:alpha val="25000"/>
              </a:srgbClr>
            </a:outerShdw>
          </a:effectLst>
        </p:spPr>
      </p:sp>
      <p:sp>
        <p:nvSpPr>
          <p:cNvPr id="27" name="Text 24"/>
          <p:cNvSpPr/>
          <p:nvPr/>
        </p:nvSpPr>
        <p:spPr>
          <a:xfrm>
            <a:off x="2359152" y="3968496"/>
            <a:ext cx="1572768" cy="329184"/>
          </a:xfrm>
          <a:prstGeom prst="rect">
            <a:avLst/>
          </a:prstGeom>
          <a:noFill/>
          <a:ln/>
        </p:spPr>
        <p:txBody>
          <a:bodyPr wrap="square" lIns="0" tIns="0" rIns="0" bIns="0" rtlCol="0" anchor="ctr"/>
          <a:lstStyle/>
          <a:p>
            <a:pPr indent="0" marL="0">
              <a:buNone/>
            </a:pPr>
            <a:r>
              <a:rPr lang="en-US" sz="800" dirty="0">
                <a:solidFill>
                  <a:srgbClr val="FFFFFF"/>
                </a:solidFill>
                <a:latin typeface="Calibri" pitchFamily="34" charset="0"/>
                <a:ea typeface="Calibri" pitchFamily="34" charset="-122"/>
                <a:cs typeface="Calibri" pitchFamily="34" charset="-120"/>
              </a:rPr>
              <a:t>notification</a:t>
            </a:r>
            <a:endParaRPr lang="en-US" sz="800" dirty="0"/>
          </a:p>
        </p:txBody>
      </p:sp>
      <p:sp>
        <p:nvSpPr>
          <p:cNvPr id="28" name="Shape 25"/>
          <p:cNvSpPr/>
          <p:nvPr/>
        </p:nvSpPr>
        <p:spPr>
          <a:xfrm>
            <a:off x="4434840" y="2194560"/>
            <a:ext cx="4343400" cy="2423160"/>
          </a:xfrm>
          <a:prstGeom prst="roundRect">
            <a:avLst>
              <a:gd name="adj" fmla="val 3019"/>
            </a:avLst>
          </a:prstGeom>
          <a:solidFill>
            <a:srgbClr val="0A2840"/>
          </a:solidFill>
          <a:ln w="19050">
            <a:solidFill>
              <a:srgbClr val="F59E0B"/>
            </a:solidFill>
            <a:prstDash val="solid"/>
          </a:ln>
          <a:effectLst>
            <a:outerShdw sx="100000" sy="100000" kx="0" ky="0" algn="bl" rotWithShape="0" blurRad="127000" dist="38100" dir="2700000">
              <a:srgbClr val="000000">
                <a:alpha val="25000"/>
              </a:srgbClr>
            </a:outerShdw>
          </a:effectLst>
        </p:spPr>
      </p:sp>
      <p:sp>
        <p:nvSpPr>
          <p:cNvPr id="29" name="Text 26"/>
          <p:cNvSpPr/>
          <p:nvPr/>
        </p:nvSpPr>
        <p:spPr>
          <a:xfrm>
            <a:off x="4526280" y="2231136"/>
            <a:ext cx="2286000" cy="320040"/>
          </a:xfrm>
          <a:prstGeom prst="rect">
            <a:avLst/>
          </a:prstGeom>
          <a:noFill/>
          <a:ln/>
        </p:spPr>
        <p:txBody>
          <a:bodyPr wrap="square" lIns="0" tIns="0" rIns="0" bIns="0" rtlCol="0" anchor="ctr"/>
          <a:lstStyle/>
          <a:p>
            <a:pPr indent="0" marL="0">
              <a:buNone/>
            </a:pPr>
            <a:r>
              <a:rPr lang="en-US" sz="1000" b="1" dirty="0">
                <a:solidFill>
                  <a:srgbClr val="F59E0B"/>
                </a:solidFill>
                <a:latin typeface="Calibri" pitchFamily="34" charset="0"/>
                <a:ea typeface="Calibri" pitchFamily="34" charset="-122"/>
                <a:cs typeface="Calibri" pitchFamily="34" charset="-120"/>
              </a:rPr>
              <a:t>resolveops-prod</a:t>
            </a:r>
            <a:endParaRPr lang="en-US" sz="1000" dirty="0"/>
          </a:p>
        </p:txBody>
      </p:sp>
      <p:sp>
        <p:nvSpPr>
          <p:cNvPr id="30" name="Shape 27"/>
          <p:cNvSpPr/>
          <p:nvPr/>
        </p:nvSpPr>
        <p:spPr>
          <a:xfrm>
            <a:off x="4498848" y="2633472"/>
            <a:ext cx="1975104" cy="365760"/>
          </a:xfrm>
          <a:prstGeom prst="roundRect">
            <a:avLst>
              <a:gd name="adj" fmla="val 20000"/>
            </a:avLst>
          </a:prstGeom>
          <a:solidFill>
            <a:srgbClr val="0F2240"/>
          </a:solidFill>
          <a:ln w="9525">
            <a:solidFill>
              <a:srgbClr val="F59E0B"/>
            </a:solidFill>
            <a:prstDash val="solid"/>
          </a:ln>
          <a:effectLst>
            <a:outerShdw sx="100000" sy="100000" kx="0" ky="0" algn="bl" rotWithShape="0" blurRad="127000" dist="38100" dir="2700000">
              <a:srgbClr val="000000">
                <a:alpha val="25000"/>
              </a:srgbClr>
            </a:outerShdw>
          </a:effectLst>
        </p:spPr>
      </p:sp>
      <p:sp>
        <p:nvSpPr>
          <p:cNvPr id="31" name="Text 28"/>
          <p:cNvSpPr/>
          <p:nvPr/>
        </p:nvSpPr>
        <p:spPr>
          <a:xfrm>
            <a:off x="4553712" y="2651760"/>
            <a:ext cx="1847088" cy="329184"/>
          </a:xfrm>
          <a:prstGeom prst="rect">
            <a:avLst/>
          </a:prstGeom>
          <a:noFill/>
          <a:ln/>
        </p:spPr>
        <p:txBody>
          <a:bodyPr wrap="square" lIns="0" tIns="0" rIns="0" bIns="0" rtlCol="0" anchor="ctr"/>
          <a:lstStyle/>
          <a:p>
            <a:pPr indent="0" marL="0">
              <a:buNone/>
            </a:pPr>
            <a:r>
              <a:rPr lang="en-US" sz="800" dirty="0">
                <a:solidFill>
                  <a:srgbClr val="FFFFFF"/>
                </a:solidFill>
                <a:latin typeface="Calibri" pitchFamily="34" charset="0"/>
                <a:ea typeface="Calibri" pitchFamily="34" charset="-122"/>
                <a:cs typeface="Calibri" pitchFamily="34" charset="-120"/>
              </a:rPr>
              <a:t>frontend</a:t>
            </a:r>
            <a:endParaRPr lang="en-US" sz="800" dirty="0"/>
          </a:p>
        </p:txBody>
      </p:sp>
      <p:sp>
        <p:nvSpPr>
          <p:cNvPr id="32" name="Shape 29"/>
          <p:cNvSpPr/>
          <p:nvPr/>
        </p:nvSpPr>
        <p:spPr>
          <a:xfrm>
            <a:off x="6601968" y="2633472"/>
            <a:ext cx="1975104" cy="365760"/>
          </a:xfrm>
          <a:prstGeom prst="roundRect">
            <a:avLst>
              <a:gd name="adj" fmla="val 20000"/>
            </a:avLst>
          </a:prstGeom>
          <a:solidFill>
            <a:srgbClr val="0F2240"/>
          </a:solidFill>
          <a:ln w="9525">
            <a:solidFill>
              <a:srgbClr val="F59E0B"/>
            </a:solidFill>
            <a:prstDash val="solid"/>
          </a:ln>
          <a:effectLst>
            <a:outerShdw sx="100000" sy="100000" kx="0" ky="0" algn="bl" rotWithShape="0" blurRad="127000" dist="38100" dir="2700000">
              <a:srgbClr val="000000">
                <a:alpha val="25000"/>
              </a:srgbClr>
            </a:outerShdw>
          </a:effectLst>
        </p:spPr>
      </p:sp>
      <p:sp>
        <p:nvSpPr>
          <p:cNvPr id="33" name="Text 30"/>
          <p:cNvSpPr/>
          <p:nvPr/>
        </p:nvSpPr>
        <p:spPr>
          <a:xfrm>
            <a:off x="6656832" y="2651760"/>
            <a:ext cx="1847088" cy="329184"/>
          </a:xfrm>
          <a:prstGeom prst="rect">
            <a:avLst/>
          </a:prstGeom>
          <a:noFill/>
          <a:ln/>
        </p:spPr>
        <p:txBody>
          <a:bodyPr wrap="square" lIns="0" tIns="0" rIns="0" bIns="0" rtlCol="0" anchor="ctr"/>
          <a:lstStyle/>
          <a:p>
            <a:pPr indent="0" marL="0">
              <a:buNone/>
            </a:pPr>
            <a:r>
              <a:rPr lang="en-US" sz="800" dirty="0">
                <a:solidFill>
                  <a:srgbClr val="FFFFFF"/>
                </a:solidFill>
                <a:latin typeface="Calibri" pitchFamily="34" charset="0"/>
                <a:ea typeface="Calibri" pitchFamily="34" charset="-122"/>
                <a:cs typeface="Calibri" pitchFamily="34" charset="-120"/>
              </a:rPr>
              <a:t>api-gateway</a:t>
            </a:r>
            <a:endParaRPr lang="en-US" sz="800" dirty="0"/>
          </a:p>
        </p:txBody>
      </p:sp>
      <p:sp>
        <p:nvSpPr>
          <p:cNvPr id="34" name="Shape 31"/>
          <p:cNvSpPr/>
          <p:nvPr/>
        </p:nvSpPr>
        <p:spPr>
          <a:xfrm>
            <a:off x="4498848" y="3072384"/>
            <a:ext cx="1975104" cy="365760"/>
          </a:xfrm>
          <a:prstGeom prst="roundRect">
            <a:avLst>
              <a:gd name="adj" fmla="val 20000"/>
            </a:avLst>
          </a:prstGeom>
          <a:solidFill>
            <a:srgbClr val="0F2240"/>
          </a:solidFill>
          <a:ln w="9525">
            <a:solidFill>
              <a:srgbClr val="F59E0B"/>
            </a:solidFill>
            <a:prstDash val="solid"/>
          </a:ln>
          <a:effectLst>
            <a:outerShdw sx="100000" sy="100000" kx="0" ky="0" algn="bl" rotWithShape="0" blurRad="127000" dist="38100" dir="2700000">
              <a:srgbClr val="000000">
                <a:alpha val="25000"/>
              </a:srgbClr>
            </a:outerShdw>
          </a:effectLst>
        </p:spPr>
      </p:sp>
      <p:sp>
        <p:nvSpPr>
          <p:cNvPr id="35" name="Text 32"/>
          <p:cNvSpPr/>
          <p:nvPr/>
        </p:nvSpPr>
        <p:spPr>
          <a:xfrm>
            <a:off x="4553712" y="3090672"/>
            <a:ext cx="1847088" cy="329184"/>
          </a:xfrm>
          <a:prstGeom prst="rect">
            <a:avLst/>
          </a:prstGeom>
          <a:noFill/>
          <a:ln/>
        </p:spPr>
        <p:txBody>
          <a:bodyPr wrap="square" lIns="0" tIns="0" rIns="0" bIns="0" rtlCol="0" anchor="ctr"/>
          <a:lstStyle/>
          <a:p>
            <a:pPr indent="0" marL="0">
              <a:buNone/>
            </a:pPr>
            <a:r>
              <a:rPr lang="en-US" sz="800" dirty="0">
                <a:solidFill>
                  <a:srgbClr val="FFFFFF"/>
                </a:solidFill>
                <a:latin typeface="Calibri" pitchFamily="34" charset="0"/>
                <a:ea typeface="Calibri" pitchFamily="34" charset="-122"/>
                <a:cs typeface="Calibri" pitchFamily="34" charset="-120"/>
              </a:rPr>
              <a:t>auth-service</a:t>
            </a:r>
            <a:endParaRPr lang="en-US" sz="800" dirty="0"/>
          </a:p>
        </p:txBody>
      </p:sp>
      <p:sp>
        <p:nvSpPr>
          <p:cNvPr id="36" name="Shape 33"/>
          <p:cNvSpPr/>
          <p:nvPr/>
        </p:nvSpPr>
        <p:spPr>
          <a:xfrm>
            <a:off x="6601968" y="3072384"/>
            <a:ext cx="1975104" cy="365760"/>
          </a:xfrm>
          <a:prstGeom prst="roundRect">
            <a:avLst>
              <a:gd name="adj" fmla="val 20000"/>
            </a:avLst>
          </a:prstGeom>
          <a:solidFill>
            <a:srgbClr val="0F2240"/>
          </a:solidFill>
          <a:ln w="9525">
            <a:solidFill>
              <a:srgbClr val="F59E0B"/>
            </a:solidFill>
            <a:prstDash val="solid"/>
          </a:ln>
          <a:effectLst>
            <a:outerShdw sx="100000" sy="100000" kx="0" ky="0" algn="bl" rotWithShape="0" blurRad="127000" dist="38100" dir="2700000">
              <a:srgbClr val="000000">
                <a:alpha val="25000"/>
              </a:srgbClr>
            </a:outerShdw>
          </a:effectLst>
        </p:spPr>
      </p:sp>
      <p:sp>
        <p:nvSpPr>
          <p:cNvPr id="37" name="Text 34"/>
          <p:cNvSpPr/>
          <p:nvPr/>
        </p:nvSpPr>
        <p:spPr>
          <a:xfrm>
            <a:off x="6656832" y="3090672"/>
            <a:ext cx="1847088" cy="329184"/>
          </a:xfrm>
          <a:prstGeom prst="rect">
            <a:avLst/>
          </a:prstGeom>
          <a:noFill/>
          <a:ln/>
        </p:spPr>
        <p:txBody>
          <a:bodyPr wrap="square" lIns="0" tIns="0" rIns="0" bIns="0" rtlCol="0" anchor="ctr"/>
          <a:lstStyle/>
          <a:p>
            <a:pPr indent="0" marL="0">
              <a:buNone/>
            </a:pPr>
            <a:r>
              <a:rPr lang="en-US" sz="800" dirty="0">
                <a:solidFill>
                  <a:srgbClr val="FFFFFF"/>
                </a:solidFill>
                <a:latin typeface="Calibri" pitchFamily="34" charset="0"/>
                <a:ea typeface="Calibri" pitchFamily="34" charset="-122"/>
                <a:cs typeface="Calibri" pitchFamily="34" charset="-120"/>
              </a:rPr>
              <a:t>github-intel</a:t>
            </a:r>
            <a:endParaRPr lang="en-US" sz="800" dirty="0"/>
          </a:p>
        </p:txBody>
      </p:sp>
      <p:sp>
        <p:nvSpPr>
          <p:cNvPr id="38" name="Shape 35"/>
          <p:cNvSpPr/>
          <p:nvPr/>
        </p:nvSpPr>
        <p:spPr>
          <a:xfrm>
            <a:off x="4498848" y="3511296"/>
            <a:ext cx="1975104" cy="365760"/>
          </a:xfrm>
          <a:prstGeom prst="roundRect">
            <a:avLst>
              <a:gd name="adj" fmla="val 20000"/>
            </a:avLst>
          </a:prstGeom>
          <a:solidFill>
            <a:srgbClr val="0F2240"/>
          </a:solidFill>
          <a:ln w="9525">
            <a:solidFill>
              <a:srgbClr val="F59E0B"/>
            </a:solidFill>
            <a:prstDash val="solid"/>
          </a:ln>
          <a:effectLst>
            <a:outerShdw sx="100000" sy="100000" kx="0" ky="0" algn="bl" rotWithShape="0" blurRad="127000" dist="38100" dir="2700000">
              <a:srgbClr val="000000">
                <a:alpha val="25000"/>
              </a:srgbClr>
            </a:outerShdw>
          </a:effectLst>
        </p:spPr>
      </p:sp>
      <p:sp>
        <p:nvSpPr>
          <p:cNvPr id="39" name="Text 36"/>
          <p:cNvSpPr/>
          <p:nvPr/>
        </p:nvSpPr>
        <p:spPr>
          <a:xfrm>
            <a:off x="4553712" y="3529584"/>
            <a:ext cx="1847088" cy="329184"/>
          </a:xfrm>
          <a:prstGeom prst="rect">
            <a:avLst/>
          </a:prstGeom>
          <a:noFill/>
          <a:ln/>
        </p:spPr>
        <p:txBody>
          <a:bodyPr wrap="square" lIns="0" tIns="0" rIns="0" bIns="0" rtlCol="0" anchor="ctr"/>
          <a:lstStyle/>
          <a:p>
            <a:pPr indent="0" marL="0">
              <a:buNone/>
            </a:pPr>
            <a:r>
              <a:rPr lang="en-US" sz="800" dirty="0">
                <a:solidFill>
                  <a:srgbClr val="FFFFFF"/>
                </a:solidFill>
                <a:latin typeface="Calibri" pitchFamily="34" charset="0"/>
                <a:ea typeface="Calibri" pitchFamily="34" charset="-122"/>
                <a:cs typeface="Calibri" pitchFamily="34" charset="-120"/>
              </a:rPr>
              <a:t>azure-intel</a:t>
            </a:r>
            <a:endParaRPr lang="en-US" sz="800" dirty="0"/>
          </a:p>
        </p:txBody>
      </p:sp>
      <p:sp>
        <p:nvSpPr>
          <p:cNvPr id="40" name="Shape 37"/>
          <p:cNvSpPr/>
          <p:nvPr/>
        </p:nvSpPr>
        <p:spPr>
          <a:xfrm>
            <a:off x="6601968" y="3511296"/>
            <a:ext cx="1975104" cy="365760"/>
          </a:xfrm>
          <a:prstGeom prst="roundRect">
            <a:avLst>
              <a:gd name="adj" fmla="val 20000"/>
            </a:avLst>
          </a:prstGeom>
          <a:solidFill>
            <a:srgbClr val="0F2240"/>
          </a:solidFill>
          <a:ln w="9525">
            <a:solidFill>
              <a:srgbClr val="F59E0B"/>
            </a:solidFill>
            <a:prstDash val="solid"/>
          </a:ln>
          <a:effectLst>
            <a:outerShdw sx="100000" sy="100000" kx="0" ky="0" algn="bl" rotWithShape="0" blurRad="127000" dist="38100" dir="2700000">
              <a:srgbClr val="000000">
                <a:alpha val="25000"/>
              </a:srgbClr>
            </a:outerShdw>
          </a:effectLst>
        </p:spPr>
      </p:sp>
      <p:sp>
        <p:nvSpPr>
          <p:cNvPr id="41" name="Text 38"/>
          <p:cNvSpPr/>
          <p:nvPr/>
        </p:nvSpPr>
        <p:spPr>
          <a:xfrm>
            <a:off x="6656832" y="3529584"/>
            <a:ext cx="1847088" cy="329184"/>
          </a:xfrm>
          <a:prstGeom prst="rect">
            <a:avLst/>
          </a:prstGeom>
          <a:noFill/>
          <a:ln/>
        </p:spPr>
        <p:txBody>
          <a:bodyPr wrap="square" lIns="0" tIns="0" rIns="0" bIns="0" rtlCol="0" anchor="ctr"/>
          <a:lstStyle/>
          <a:p>
            <a:pPr indent="0" marL="0">
              <a:buNone/>
            </a:pPr>
            <a:r>
              <a:rPr lang="en-US" sz="800" dirty="0">
                <a:solidFill>
                  <a:srgbClr val="FFFFFF"/>
                </a:solidFill>
                <a:latin typeface="Calibri" pitchFamily="34" charset="0"/>
                <a:ea typeface="Calibri" pitchFamily="34" charset="-122"/>
                <a:cs typeface="Calibri" pitchFamily="34" charset="-120"/>
              </a:rPr>
              <a:t>aws-intel</a:t>
            </a:r>
            <a:endParaRPr lang="en-US" sz="800" dirty="0"/>
          </a:p>
        </p:txBody>
      </p:sp>
      <p:sp>
        <p:nvSpPr>
          <p:cNvPr id="42" name="Shape 39"/>
          <p:cNvSpPr/>
          <p:nvPr/>
        </p:nvSpPr>
        <p:spPr>
          <a:xfrm>
            <a:off x="4498848" y="3950208"/>
            <a:ext cx="1975104" cy="365760"/>
          </a:xfrm>
          <a:prstGeom prst="roundRect">
            <a:avLst>
              <a:gd name="adj" fmla="val 20000"/>
            </a:avLst>
          </a:prstGeom>
          <a:solidFill>
            <a:srgbClr val="0F2240"/>
          </a:solidFill>
          <a:ln w="9525">
            <a:solidFill>
              <a:srgbClr val="F59E0B"/>
            </a:solidFill>
            <a:prstDash val="solid"/>
          </a:ln>
          <a:effectLst>
            <a:outerShdw sx="100000" sy="100000" kx="0" ky="0" algn="bl" rotWithShape="0" blurRad="127000" dist="38100" dir="2700000">
              <a:srgbClr val="000000">
                <a:alpha val="25000"/>
              </a:srgbClr>
            </a:outerShdw>
          </a:effectLst>
        </p:spPr>
      </p:sp>
      <p:sp>
        <p:nvSpPr>
          <p:cNvPr id="43" name="Text 40"/>
          <p:cNvSpPr/>
          <p:nvPr/>
        </p:nvSpPr>
        <p:spPr>
          <a:xfrm>
            <a:off x="4553712" y="3968496"/>
            <a:ext cx="1847088" cy="329184"/>
          </a:xfrm>
          <a:prstGeom prst="rect">
            <a:avLst/>
          </a:prstGeom>
          <a:noFill/>
          <a:ln/>
        </p:spPr>
        <p:txBody>
          <a:bodyPr wrap="square" lIns="0" tIns="0" rIns="0" bIns="0" rtlCol="0" anchor="ctr"/>
          <a:lstStyle/>
          <a:p>
            <a:pPr indent="0" marL="0">
              <a:buNone/>
            </a:pPr>
            <a:r>
              <a:rPr lang="en-US" sz="800" dirty="0">
                <a:solidFill>
                  <a:srgbClr val="FFFFFF"/>
                </a:solidFill>
                <a:latin typeface="Calibri" pitchFamily="34" charset="0"/>
                <a:ea typeface="Calibri" pitchFamily="34" charset="-122"/>
                <a:cs typeface="Calibri" pitchFamily="34" charset="-120"/>
              </a:rPr>
              <a:t>ai-rca</a:t>
            </a:r>
            <a:endParaRPr lang="en-US" sz="800" dirty="0"/>
          </a:p>
        </p:txBody>
      </p:sp>
      <p:sp>
        <p:nvSpPr>
          <p:cNvPr id="44" name="Shape 41"/>
          <p:cNvSpPr/>
          <p:nvPr/>
        </p:nvSpPr>
        <p:spPr>
          <a:xfrm>
            <a:off x="6601968" y="3950208"/>
            <a:ext cx="1975104" cy="365760"/>
          </a:xfrm>
          <a:prstGeom prst="roundRect">
            <a:avLst>
              <a:gd name="adj" fmla="val 20000"/>
            </a:avLst>
          </a:prstGeom>
          <a:solidFill>
            <a:srgbClr val="0F2240"/>
          </a:solidFill>
          <a:ln w="9525">
            <a:solidFill>
              <a:srgbClr val="F59E0B"/>
            </a:solidFill>
            <a:prstDash val="solid"/>
          </a:ln>
          <a:effectLst>
            <a:outerShdw sx="100000" sy="100000" kx="0" ky="0" algn="bl" rotWithShape="0" blurRad="127000" dist="38100" dir="2700000">
              <a:srgbClr val="000000">
                <a:alpha val="25000"/>
              </a:srgbClr>
            </a:outerShdw>
          </a:effectLst>
        </p:spPr>
      </p:sp>
      <p:sp>
        <p:nvSpPr>
          <p:cNvPr id="45" name="Text 42"/>
          <p:cNvSpPr/>
          <p:nvPr/>
        </p:nvSpPr>
        <p:spPr>
          <a:xfrm>
            <a:off x="6656832" y="3968496"/>
            <a:ext cx="1847088" cy="329184"/>
          </a:xfrm>
          <a:prstGeom prst="rect">
            <a:avLst/>
          </a:prstGeom>
          <a:noFill/>
          <a:ln/>
        </p:spPr>
        <p:txBody>
          <a:bodyPr wrap="square" lIns="0" tIns="0" rIns="0" bIns="0" rtlCol="0" anchor="ctr"/>
          <a:lstStyle/>
          <a:p>
            <a:pPr indent="0" marL="0">
              <a:buNone/>
            </a:pPr>
            <a:r>
              <a:rPr lang="en-US" sz="800" dirty="0">
                <a:solidFill>
                  <a:srgbClr val="FFFFFF"/>
                </a:solidFill>
                <a:latin typeface="Calibri" pitchFamily="34" charset="0"/>
                <a:ea typeface="Calibri" pitchFamily="34" charset="-122"/>
                <a:cs typeface="Calibri" pitchFamily="34" charset="-120"/>
              </a:rPr>
              <a:t>notification</a:t>
            </a:r>
            <a:endParaRPr lang="en-US" sz="800" dirty="0"/>
          </a:p>
        </p:txBody>
      </p:sp>
      <p:sp>
        <p:nvSpPr>
          <p:cNvPr id="46" name="Shape 43"/>
          <p:cNvSpPr/>
          <p:nvPr/>
        </p:nvSpPr>
        <p:spPr>
          <a:xfrm>
            <a:off x="3474720" y="1737360"/>
            <a:ext cx="-1143000" cy="411480"/>
          </a:xfrm>
          <a:prstGeom prst="line">
            <a:avLst/>
          </a:prstGeom>
          <a:noFill/>
          <a:ln w="19050">
            <a:solidFill>
              <a:srgbClr val="00C896"/>
            </a:solidFill>
            <a:prstDash val="solid"/>
          </a:ln>
        </p:spPr>
      </p:sp>
      <p:sp>
        <p:nvSpPr>
          <p:cNvPr id="47" name="Shape 44"/>
          <p:cNvSpPr/>
          <p:nvPr/>
        </p:nvSpPr>
        <p:spPr>
          <a:xfrm>
            <a:off x="5669280" y="1737360"/>
            <a:ext cx="502920" cy="411480"/>
          </a:xfrm>
          <a:prstGeom prst="line">
            <a:avLst/>
          </a:prstGeom>
          <a:noFill/>
          <a:ln w="19050">
            <a:solidFill>
              <a:srgbClr val="F59E0B"/>
            </a:solidFill>
            <a:prstDash val="solid"/>
          </a:ln>
        </p:spPr>
      </p:sp>
      <p:sp>
        <p:nvSpPr>
          <p:cNvPr id="48" name="Shape 45"/>
          <p:cNvSpPr/>
          <p:nvPr/>
        </p:nvSpPr>
        <p:spPr>
          <a:xfrm>
            <a:off x="182880" y="4709160"/>
            <a:ext cx="8778240" cy="320040"/>
          </a:xfrm>
          <a:prstGeom prst="roundRect">
            <a:avLst>
              <a:gd name="adj" fmla="val 22857"/>
            </a:avLst>
          </a:prstGeom>
          <a:solidFill>
            <a:srgbClr val="0F2240"/>
          </a:solidFill>
          <a:ln w="12700">
            <a:solidFill>
              <a:srgbClr val="0077B6"/>
            </a:solidFill>
            <a:prstDash val="solid"/>
          </a:ln>
          <a:effectLst>
            <a:outerShdw sx="100000" sy="100000" kx="0" ky="0" algn="bl" rotWithShape="0" blurRad="127000" dist="38100" dir="2700000">
              <a:srgbClr val="000000">
                <a:alpha val="25000"/>
              </a:srgbClr>
            </a:outerShdw>
          </a:effectLst>
        </p:spPr>
      </p:sp>
      <p:sp>
        <p:nvSpPr>
          <p:cNvPr id="49" name="Text 46"/>
          <p:cNvSpPr/>
          <p:nvPr/>
        </p:nvSpPr>
        <p:spPr>
          <a:xfrm>
            <a:off x="274320" y="4727448"/>
            <a:ext cx="8595360" cy="274320"/>
          </a:xfrm>
          <a:prstGeom prst="rect">
            <a:avLst/>
          </a:prstGeom>
          <a:noFill/>
          <a:ln/>
        </p:spPr>
        <p:txBody>
          <a:bodyPr wrap="square" lIns="0" tIns="0" rIns="0" bIns="0" rtlCol="0" anchor="ctr"/>
          <a:lstStyle/>
          <a:p>
            <a:pPr indent="0" marL="0">
              <a:buNone/>
            </a:pPr>
            <a:r>
              <a:rPr lang="en-US" sz="850" dirty="0">
                <a:solidFill>
                  <a:srgbClr val="7B9AB5"/>
                </a:solidFill>
                <a:latin typeface="Calibri" pitchFamily="34" charset="0"/>
                <a:ea typeface="Calibri" pitchFamily="34" charset="-122"/>
                <a:cs typeface="Calibri" pitchFamily="34" charset="-120"/>
              </a:rPr>
              <a:t>Deployments   •   Services (ClusterIP)   •   ConfigMaps   •   Secrets   •   ServiceAccounts   •   Probes   •   Resource Limits</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F2240"/>
          </a:solidFill>
          <a:ln/>
        </p:spPr>
      </p:sp>
      <p:sp>
        <p:nvSpPr>
          <p:cNvPr id="3" name="Text 1"/>
          <p:cNvSpPr/>
          <p:nvPr/>
        </p:nvSpPr>
        <p:spPr>
          <a:xfrm>
            <a:off x="274320" y="73152"/>
            <a:ext cx="8595360" cy="54864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Microsoft Entra ID &amp; Access Control</a:t>
            </a:r>
            <a:endParaRPr lang="en-US" sz="2200" dirty="0"/>
          </a:p>
        </p:txBody>
      </p:sp>
      <p:sp>
        <p:nvSpPr>
          <p:cNvPr id="4" name="Text 2"/>
          <p:cNvSpPr/>
          <p:nvPr/>
        </p:nvSpPr>
        <p:spPr>
          <a:xfrm>
            <a:off x="274320" y="548640"/>
            <a:ext cx="8595360" cy="256032"/>
          </a:xfrm>
          <a:prstGeom prst="rect">
            <a:avLst/>
          </a:prstGeom>
          <a:noFill/>
          <a:ln/>
        </p:spPr>
        <p:txBody>
          <a:bodyPr wrap="square" lIns="0" tIns="0" rIns="0" bIns="0" rtlCol="0" anchor="ctr"/>
          <a:lstStyle/>
          <a:p>
            <a:pPr indent="0" marL="0">
              <a:buNone/>
            </a:pPr>
            <a:r>
              <a:rPr lang="en-US" sz="1100" dirty="0">
                <a:solidFill>
                  <a:srgbClr val="00B4D8"/>
                </a:solidFill>
                <a:latin typeface="Calibri" pitchFamily="34" charset="0"/>
                <a:ea typeface="Calibri" pitchFamily="34" charset="-122"/>
                <a:cs typeface="Calibri" pitchFamily="34" charset="-120"/>
              </a:rPr>
              <a:t>Zero-trust identity: OAuth2 + RBAC + namespace isolation</a:t>
            </a:r>
            <a:endParaRPr lang="en-US" sz="1100" dirty="0"/>
          </a:p>
        </p:txBody>
      </p:sp>
      <p:sp>
        <p:nvSpPr>
          <p:cNvPr id="5" name="Shape 3"/>
          <p:cNvSpPr/>
          <p:nvPr/>
        </p:nvSpPr>
        <p:spPr>
          <a:xfrm>
            <a:off x="274320" y="1463040"/>
            <a:ext cx="1920240" cy="1097280"/>
          </a:xfrm>
          <a:prstGeom prst="roundRect">
            <a:avLst>
              <a:gd name="adj" fmla="val 6667"/>
            </a:avLst>
          </a:prstGeom>
          <a:solidFill>
            <a:srgbClr val="0F2240"/>
          </a:solidFill>
          <a:ln w="19050">
            <a:solidFill>
              <a:srgbClr val="FFFFFF"/>
            </a:solidFill>
            <a:prstDash val="solid"/>
          </a:ln>
          <a:effectLst>
            <a:outerShdw sx="100000" sy="100000" kx="0" ky="0" algn="bl" rotWithShape="0" blurRad="127000" dist="38100" dir="2700000">
              <a:srgbClr val="000000">
                <a:alpha val="25000"/>
              </a:srgbClr>
            </a:outerShdw>
          </a:effectLst>
        </p:spPr>
      </p:sp>
      <p:pic>
        <p:nvPicPr>
          <p:cNvPr id="6" name="Image 0" descr="preencoded.png">    </p:cNvPr>
          <p:cNvPicPr>
            <a:picLocks noChangeAspect="1"/>
          </p:cNvPicPr>
          <p:nvPr/>
        </p:nvPicPr>
        <p:blipFill>
          <a:blip r:embed="rId1"/>
          <a:stretch>
            <a:fillRect/>
          </a:stretch>
        </p:blipFill>
        <p:spPr>
          <a:xfrm>
            <a:off x="1051560" y="1536192"/>
            <a:ext cx="365760" cy="365760"/>
          </a:xfrm>
          <a:prstGeom prst="rect">
            <a:avLst/>
          </a:prstGeom>
        </p:spPr>
      </p:pic>
      <p:sp>
        <p:nvSpPr>
          <p:cNvPr id="7" name="Text 4"/>
          <p:cNvSpPr/>
          <p:nvPr/>
        </p:nvSpPr>
        <p:spPr>
          <a:xfrm>
            <a:off x="320040" y="1965960"/>
            <a:ext cx="1828800" cy="548640"/>
          </a:xfrm>
          <a:prstGeom prst="rect">
            <a:avLst/>
          </a:prstGeom>
          <a:noFill/>
          <a:ln/>
        </p:spPr>
        <p:txBody>
          <a:bodyPr wrap="square" lIns="0" tIns="0" rIns="0" bIns="0" rtlCol="0" anchor="t"/>
          <a:lstStyle/>
          <a:p>
            <a:pPr algn="ctr" indent="0" marL="0">
              <a:buNone/>
            </a:pPr>
            <a:r>
              <a:rPr lang="en-US" sz="1100" dirty="0">
                <a:solidFill>
                  <a:srgbClr val="FFFFFF"/>
                </a:solidFill>
                <a:latin typeface="Calibri" pitchFamily="34" charset="0"/>
                <a:ea typeface="Calibri" pitchFamily="34" charset="-122"/>
                <a:cs typeface="Calibri" pitchFamily="34" charset="-120"/>
              </a:rPr>
              <a:t>User / Dev</a:t>
            </a:r>
            <a:endParaRPr lang="en-US" sz="1100" dirty="0"/>
          </a:p>
          <a:p>
            <a:pPr algn="ctr" indent="0" marL="0">
              <a:buNone/>
            </a:pPr>
            <a:r>
              <a:rPr lang="en-US" sz="1100" dirty="0">
                <a:solidFill>
                  <a:srgbClr val="FFFFFF"/>
                </a:solidFill>
                <a:latin typeface="Calibri" pitchFamily="34" charset="0"/>
                <a:ea typeface="Calibri" pitchFamily="34" charset="-122"/>
                <a:cs typeface="Calibri" pitchFamily="34" charset="-120"/>
              </a:rPr>
              <a:t>/ Stakeholder</a:t>
            </a:r>
            <a:endParaRPr lang="en-US" sz="1100" dirty="0"/>
          </a:p>
        </p:txBody>
      </p:sp>
      <p:sp>
        <p:nvSpPr>
          <p:cNvPr id="8" name="Shape 5"/>
          <p:cNvSpPr/>
          <p:nvPr/>
        </p:nvSpPr>
        <p:spPr>
          <a:xfrm>
            <a:off x="2194560" y="2011680"/>
            <a:ext cx="256032" cy="0"/>
          </a:xfrm>
          <a:prstGeom prst="line">
            <a:avLst/>
          </a:prstGeom>
          <a:noFill/>
          <a:ln w="25400">
            <a:solidFill>
              <a:srgbClr val="00B4D8"/>
            </a:solidFill>
            <a:prstDash val="solid"/>
          </a:ln>
        </p:spPr>
      </p:sp>
      <p:sp>
        <p:nvSpPr>
          <p:cNvPr id="9" name="Shape 6"/>
          <p:cNvSpPr/>
          <p:nvPr/>
        </p:nvSpPr>
        <p:spPr>
          <a:xfrm>
            <a:off x="2450592" y="1463040"/>
            <a:ext cx="1920240" cy="1097280"/>
          </a:xfrm>
          <a:prstGeom prst="roundRect">
            <a:avLst>
              <a:gd name="adj" fmla="val 6667"/>
            </a:avLst>
          </a:prstGeom>
          <a:solidFill>
            <a:srgbClr val="0F2240"/>
          </a:solidFill>
          <a:ln w="19050">
            <a:solidFill>
              <a:srgbClr val="0078D4"/>
            </a:solidFill>
            <a:prstDash val="solid"/>
          </a:ln>
          <a:effectLst>
            <a:outerShdw sx="100000" sy="100000" kx="0" ky="0" algn="bl" rotWithShape="0" blurRad="127000" dist="38100" dir="2700000">
              <a:srgbClr val="000000">
                <a:alpha val="25000"/>
              </a:srgbClr>
            </a:outerShdw>
          </a:effectLst>
        </p:spPr>
      </p:sp>
      <p:pic>
        <p:nvPicPr>
          <p:cNvPr id="10" name="Image 1" descr="preencoded.png">    </p:cNvPr>
          <p:cNvPicPr>
            <a:picLocks noChangeAspect="1"/>
          </p:cNvPicPr>
          <p:nvPr/>
        </p:nvPicPr>
        <p:blipFill>
          <a:blip r:embed="rId2"/>
          <a:stretch>
            <a:fillRect/>
          </a:stretch>
        </p:blipFill>
        <p:spPr>
          <a:xfrm>
            <a:off x="3227832" y="1536192"/>
            <a:ext cx="365760" cy="365760"/>
          </a:xfrm>
          <a:prstGeom prst="rect">
            <a:avLst/>
          </a:prstGeom>
        </p:spPr>
      </p:pic>
      <p:sp>
        <p:nvSpPr>
          <p:cNvPr id="11" name="Text 7"/>
          <p:cNvSpPr/>
          <p:nvPr/>
        </p:nvSpPr>
        <p:spPr>
          <a:xfrm>
            <a:off x="2496312" y="1965960"/>
            <a:ext cx="1828800" cy="548640"/>
          </a:xfrm>
          <a:prstGeom prst="rect">
            <a:avLst/>
          </a:prstGeom>
          <a:noFill/>
          <a:ln/>
        </p:spPr>
        <p:txBody>
          <a:bodyPr wrap="square" lIns="0" tIns="0" rIns="0" bIns="0" rtlCol="0" anchor="t"/>
          <a:lstStyle/>
          <a:p>
            <a:pPr algn="ctr" indent="0" marL="0">
              <a:buNone/>
            </a:pPr>
            <a:r>
              <a:rPr lang="en-US" sz="1100" dirty="0">
                <a:solidFill>
                  <a:srgbClr val="FFFFFF"/>
                </a:solidFill>
                <a:latin typeface="Calibri" pitchFamily="34" charset="0"/>
                <a:ea typeface="Calibri" pitchFamily="34" charset="-122"/>
                <a:cs typeface="Calibri" pitchFamily="34" charset="-120"/>
              </a:rPr>
              <a:t>Microsoft</a:t>
            </a:r>
            <a:endParaRPr lang="en-US" sz="1100" dirty="0"/>
          </a:p>
          <a:p>
            <a:pPr algn="ctr" indent="0" marL="0">
              <a:buNone/>
            </a:pPr>
            <a:r>
              <a:rPr lang="en-US" sz="1100" dirty="0">
                <a:solidFill>
                  <a:srgbClr val="FFFFFF"/>
                </a:solidFill>
                <a:latin typeface="Calibri" pitchFamily="34" charset="0"/>
                <a:ea typeface="Calibri" pitchFamily="34" charset="-122"/>
                <a:cs typeface="Calibri" pitchFamily="34" charset="-120"/>
              </a:rPr>
              <a:t>Entra ID</a:t>
            </a:r>
            <a:endParaRPr lang="en-US" sz="1100" dirty="0"/>
          </a:p>
        </p:txBody>
      </p:sp>
      <p:sp>
        <p:nvSpPr>
          <p:cNvPr id="12" name="Shape 8"/>
          <p:cNvSpPr/>
          <p:nvPr/>
        </p:nvSpPr>
        <p:spPr>
          <a:xfrm>
            <a:off x="4370832" y="2011680"/>
            <a:ext cx="256032" cy="0"/>
          </a:xfrm>
          <a:prstGeom prst="line">
            <a:avLst/>
          </a:prstGeom>
          <a:noFill/>
          <a:ln w="25400">
            <a:solidFill>
              <a:srgbClr val="00B4D8"/>
            </a:solidFill>
            <a:prstDash val="solid"/>
          </a:ln>
        </p:spPr>
      </p:sp>
      <p:sp>
        <p:nvSpPr>
          <p:cNvPr id="13" name="Shape 9"/>
          <p:cNvSpPr/>
          <p:nvPr/>
        </p:nvSpPr>
        <p:spPr>
          <a:xfrm>
            <a:off x="4626864" y="1463040"/>
            <a:ext cx="1920240" cy="1097280"/>
          </a:xfrm>
          <a:prstGeom prst="roundRect">
            <a:avLst>
              <a:gd name="adj" fmla="val 6667"/>
            </a:avLst>
          </a:prstGeom>
          <a:solidFill>
            <a:srgbClr val="0F2240"/>
          </a:solidFill>
          <a:ln w="19050">
            <a:solidFill>
              <a:srgbClr val="F59E0B"/>
            </a:solidFill>
            <a:prstDash val="solid"/>
          </a:ln>
          <a:effectLst>
            <a:outerShdw sx="100000" sy="100000" kx="0" ky="0" algn="bl" rotWithShape="0" blurRad="127000" dist="38100" dir="2700000">
              <a:srgbClr val="000000">
                <a:alpha val="25000"/>
              </a:srgbClr>
            </a:outerShdw>
          </a:effectLst>
        </p:spPr>
      </p:sp>
      <p:pic>
        <p:nvPicPr>
          <p:cNvPr id="14" name="Image 2" descr="preencoded.png">    </p:cNvPr>
          <p:cNvPicPr>
            <a:picLocks noChangeAspect="1"/>
          </p:cNvPicPr>
          <p:nvPr/>
        </p:nvPicPr>
        <p:blipFill>
          <a:blip r:embed="rId3"/>
          <a:stretch>
            <a:fillRect/>
          </a:stretch>
        </p:blipFill>
        <p:spPr>
          <a:xfrm>
            <a:off x="5404104" y="1536192"/>
            <a:ext cx="365760" cy="365760"/>
          </a:xfrm>
          <a:prstGeom prst="rect">
            <a:avLst/>
          </a:prstGeom>
        </p:spPr>
      </p:pic>
      <p:sp>
        <p:nvSpPr>
          <p:cNvPr id="15" name="Text 10"/>
          <p:cNvSpPr/>
          <p:nvPr/>
        </p:nvSpPr>
        <p:spPr>
          <a:xfrm>
            <a:off x="4672584" y="1965960"/>
            <a:ext cx="1828800" cy="548640"/>
          </a:xfrm>
          <a:prstGeom prst="rect">
            <a:avLst/>
          </a:prstGeom>
          <a:noFill/>
          <a:ln/>
        </p:spPr>
        <p:txBody>
          <a:bodyPr wrap="square" lIns="0" tIns="0" rIns="0" bIns="0" rtlCol="0" anchor="t"/>
          <a:lstStyle/>
          <a:p>
            <a:pPr algn="ctr" indent="0" marL="0">
              <a:buNone/>
            </a:pPr>
            <a:r>
              <a:rPr lang="en-US" sz="1100" dirty="0">
                <a:solidFill>
                  <a:srgbClr val="FFFFFF"/>
                </a:solidFill>
                <a:latin typeface="Calibri" pitchFamily="34" charset="0"/>
                <a:ea typeface="Calibri" pitchFamily="34" charset="-122"/>
                <a:cs typeface="Calibri" pitchFamily="34" charset="-120"/>
              </a:rPr>
              <a:t>JWT</a:t>
            </a:r>
            <a:endParaRPr lang="en-US" sz="1100" dirty="0"/>
          </a:p>
          <a:p>
            <a:pPr algn="ctr" indent="0" marL="0">
              <a:buNone/>
            </a:pPr>
            <a:r>
              <a:rPr lang="en-US" sz="1100" dirty="0">
                <a:solidFill>
                  <a:srgbClr val="FFFFFF"/>
                </a:solidFill>
                <a:latin typeface="Calibri" pitchFamily="34" charset="0"/>
                <a:ea typeface="Calibri" pitchFamily="34" charset="-122"/>
                <a:cs typeface="Calibri" pitchFamily="34" charset="-120"/>
              </a:rPr>
              <a:t>Token</a:t>
            </a:r>
            <a:endParaRPr lang="en-US" sz="1100" dirty="0"/>
          </a:p>
        </p:txBody>
      </p:sp>
      <p:sp>
        <p:nvSpPr>
          <p:cNvPr id="16" name="Shape 11"/>
          <p:cNvSpPr/>
          <p:nvPr/>
        </p:nvSpPr>
        <p:spPr>
          <a:xfrm>
            <a:off x="6547104" y="2011680"/>
            <a:ext cx="256032" cy="0"/>
          </a:xfrm>
          <a:prstGeom prst="line">
            <a:avLst/>
          </a:prstGeom>
          <a:noFill/>
          <a:ln w="25400">
            <a:solidFill>
              <a:srgbClr val="00B4D8"/>
            </a:solidFill>
            <a:prstDash val="solid"/>
          </a:ln>
        </p:spPr>
      </p:sp>
      <p:sp>
        <p:nvSpPr>
          <p:cNvPr id="17" name="Shape 12"/>
          <p:cNvSpPr/>
          <p:nvPr/>
        </p:nvSpPr>
        <p:spPr>
          <a:xfrm>
            <a:off x="6803136" y="1463040"/>
            <a:ext cx="1920240" cy="1097280"/>
          </a:xfrm>
          <a:prstGeom prst="roundRect">
            <a:avLst>
              <a:gd name="adj" fmla="val 6667"/>
            </a:avLst>
          </a:prstGeom>
          <a:solidFill>
            <a:srgbClr val="0F2240"/>
          </a:solidFill>
          <a:ln w="19050">
            <a:solidFill>
              <a:srgbClr val="00B4D8"/>
            </a:solidFill>
            <a:prstDash val="solid"/>
          </a:ln>
          <a:effectLst>
            <a:outerShdw sx="100000" sy="100000" kx="0" ky="0" algn="bl" rotWithShape="0" blurRad="127000" dist="38100" dir="2700000">
              <a:srgbClr val="000000">
                <a:alpha val="25000"/>
              </a:srgbClr>
            </a:outerShdw>
          </a:effectLst>
        </p:spPr>
      </p:sp>
      <p:pic>
        <p:nvPicPr>
          <p:cNvPr id="18" name="Image 3" descr="preencoded.png">    </p:cNvPr>
          <p:cNvPicPr>
            <a:picLocks noChangeAspect="1"/>
          </p:cNvPicPr>
          <p:nvPr/>
        </p:nvPicPr>
        <p:blipFill>
          <a:blip r:embed="rId4"/>
          <a:stretch>
            <a:fillRect/>
          </a:stretch>
        </p:blipFill>
        <p:spPr>
          <a:xfrm>
            <a:off x="7580376" y="1536192"/>
            <a:ext cx="365760" cy="365760"/>
          </a:xfrm>
          <a:prstGeom prst="rect">
            <a:avLst/>
          </a:prstGeom>
        </p:spPr>
      </p:pic>
      <p:sp>
        <p:nvSpPr>
          <p:cNvPr id="19" name="Text 13"/>
          <p:cNvSpPr/>
          <p:nvPr/>
        </p:nvSpPr>
        <p:spPr>
          <a:xfrm>
            <a:off x="6848856" y="1965960"/>
            <a:ext cx="1828800" cy="548640"/>
          </a:xfrm>
          <a:prstGeom prst="rect">
            <a:avLst/>
          </a:prstGeom>
          <a:noFill/>
          <a:ln/>
        </p:spPr>
        <p:txBody>
          <a:bodyPr wrap="square" lIns="0" tIns="0" rIns="0" bIns="0" rtlCol="0" anchor="t"/>
          <a:lstStyle/>
          <a:p>
            <a:pPr algn="ctr" indent="0" marL="0">
              <a:buNone/>
            </a:pPr>
            <a:r>
              <a:rPr lang="en-US" sz="1100" dirty="0">
                <a:solidFill>
                  <a:srgbClr val="FFFFFF"/>
                </a:solidFill>
                <a:latin typeface="Calibri" pitchFamily="34" charset="0"/>
                <a:ea typeface="Calibri" pitchFamily="34" charset="-122"/>
                <a:cs typeface="Calibri" pitchFamily="34" charset="-120"/>
              </a:rPr>
              <a:t>Kubernetes</a:t>
            </a:r>
            <a:endParaRPr lang="en-US" sz="1100" dirty="0"/>
          </a:p>
          <a:p>
            <a:pPr algn="ctr" indent="0" marL="0">
              <a:buNone/>
            </a:pPr>
            <a:r>
              <a:rPr lang="en-US" sz="1100" dirty="0">
                <a:solidFill>
                  <a:srgbClr val="FFFFFF"/>
                </a:solidFill>
                <a:latin typeface="Calibri" pitchFamily="34" charset="0"/>
                <a:ea typeface="Calibri" pitchFamily="34" charset="-122"/>
                <a:cs typeface="Calibri" pitchFamily="34" charset="-120"/>
              </a:rPr>
              <a:t>RBAC</a:t>
            </a:r>
            <a:endParaRPr lang="en-US" sz="1100" dirty="0"/>
          </a:p>
        </p:txBody>
      </p:sp>
      <p:sp>
        <p:nvSpPr>
          <p:cNvPr id="20" name="Shape 14"/>
          <p:cNvSpPr/>
          <p:nvPr/>
        </p:nvSpPr>
        <p:spPr>
          <a:xfrm>
            <a:off x="274320" y="2834640"/>
            <a:ext cx="4069080" cy="1645920"/>
          </a:xfrm>
          <a:prstGeom prst="roundRect">
            <a:avLst>
              <a:gd name="adj" fmla="val 4444"/>
            </a:avLst>
          </a:prstGeom>
          <a:solidFill>
            <a:srgbClr val="0F2240"/>
          </a:solidFill>
          <a:ln w="25400">
            <a:solidFill>
              <a:srgbClr val="00C896"/>
            </a:solidFill>
            <a:prstDash val="solid"/>
          </a:ln>
          <a:effectLst>
            <a:outerShdw sx="100000" sy="100000" kx="0" ky="0" algn="bl" rotWithShape="0" blurRad="127000" dist="38100" dir="2700000">
              <a:srgbClr val="000000">
                <a:alpha val="25000"/>
              </a:srgbClr>
            </a:outerShdw>
          </a:effectLst>
        </p:spPr>
      </p:sp>
      <p:sp>
        <p:nvSpPr>
          <p:cNvPr id="21" name="Text 15"/>
          <p:cNvSpPr/>
          <p:nvPr/>
        </p:nvSpPr>
        <p:spPr>
          <a:xfrm>
            <a:off x="411480" y="2880360"/>
            <a:ext cx="3200400" cy="347472"/>
          </a:xfrm>
          <a:prstGeom prst="rect">
            <a:avLst/>
          </a:prstGeom>
          <a:noFill/>
          <a:ln/>
        </p:spPr>
        <p:txBody>
          <a:bodyPr wrap="square" lIns="0" tIns="0" rIns="0" bIns="0" rtlCol="0" anchor="ctr"/>
          <a:lstStyle/>
          <a:p>
            <a:pPr indent="0" marL="0">
              <a:buNone/>
            </a:pPr>
            <a:r>
              <a:rPr lang="en-US" sz="1200" b="1" dirty="0">
                <a:solidFill>
                  <a:srgbClr val="00C896"/>
                </a:solidFill>
                <a:latin typeface="Calibri" pitchFamily="34" charset="0"/>
                <a:ea typeface="Calibri" pitchFamily="34" charset="-122"/>
                <a:cs typeface="Calibri" pitchFamily="34" charset="-120"/>
              </a:rPr>
              <a:t>ResolveOps-Dev-Users</a:t>
            </a:r>
            <a:endParaRPr lang="en-US" sz="1200" dirty="0"/>
          </a:p>
        </p:txBody>
      </p:sp>
      <p:sp>
        <p:nvSpPr>
          <p:cNvPr id="22" name="Text 16"/>
          <p:cNvSpPr/>
          <p:nvPr/>
        </p:nvSpPr>
        <p:spPr>
          <a:xfrm>
            <a:off x="411480" y="3246120"/>
            <a:ext cx="3200400" cy="274320"/>
          </a:xfrm>
          <a:prstGeom prst="rect">
            <a:avLst/>
          </a:prstGeom>
          <a:noFill/>
          <a:ln/>
        </p:spPr>
        <p:txBody>
          <a:bodyPr wrap="square" lIns="0" tIns="0" rIns="0" bIns="0" rtlCol="0" anchor="ctr"/>
          <a:lstStyle/>
          <a:p>
            <a:pPr indent="0" marL="0">
              <a:buNone/>
            </a:pPr>
            <a:r>
              <a:rPr lang="en-US" sz="950" dirty="0">
                <a:solidFill>
                  <a:srgbClr val="7B9AB5"/>
                </a:solidFill>
                <a:latin typeface="Calibri" pitchFamily="34" charset="0"/>
                <a:ea typeface="Calibri" pitchFamily="34" charset="-122"/>
                <a:cs typeface="Calibri" pitchFamily="34" charset="-120"/>
              </a:rPr>
              <a:t>↓ maps to namespace</a:t>
            </a:r>
            <a:endParaRPr lang="en-US" sz="950" dirty="0"/>
          </a:p>
        </p:txBody>
      </p:sp>
      <p:sp>
        <p:nvSpPr>
          <p:cNvPr id="23" name="Shape 17"/>
          <p:cNvSpPr/>
          <p:nvPr/>
        </p:nvSpPr>
        <p:spPr>
          <a:xfrm>
            <a:off x="411480" y="3547872"/>
            <a:ext cx="3657600" cy="502920"/>
          </a:xfrm>
          <a:prstGeom prst="roundRect">
            <a:avLst>
              <a:gd name="adj" fmla="val 14545"/>
            </a:avLst>
          </a:prstGeom>
          <a:solidFill>
            <a:srgbClr val="083330"/>
          </a:solidFill>
          <a:ln w="12700">
            <a:solidFill>
              <a:srgbClr val="00C896"/>
            </a:solidFill>
            <a:prstDash val="solid"/>
          </a:ln>
          <a:effectLst>
            <a:outerShdw sx="100000" sy="100000" kx="0" ky="0" algn="bl" rotWithShape="0" blurRad="127000" dist="38100" dir="2700000">
              <a:srgbClr val="000000">
                <a:alpha val="25000"/>
              </a:srgbClr>
            </a:outerShdw>
          </a:effectLst>
        </p:spPr>
      </p:sp>
      <p:sp>
        <p:nvSpPr>
          <p:cNvPr id="24" name="Text 18"/>
          <p:cNvSpPr/>
          <p:nvPr/>
        </p:nvSpPr>
        <p:spPr>
          <a:xfrm>
            <a:off x="457200" y="3566160"/>
            <a:ext cx="3566160" cy="466344"/>
          </a:xfrm>
          <a:prstGeom prst="rect">
            <a:avLst/>
          </a:prstGeom>
          <a:noFill/>
          <a:ln/>
        </p:spPr>
        <p:txBody>
          <a:bodyPr wrap="square" lIns="0" tIns="0" rIns="0" bIns="0" rtlCol="0" anchor="ctr"/>
          <a:lstStyle/>
          <a:p>
            <a:pPr indent="0" marL="0">
              <a:buNone/>
            </a:pPr>
            <a:r>
              <a:rPr lang="en-US" sz="1000" dirty="0">
                <a:solidFill>
                  <a:srgbClr val="00C896"/>
                </a:solidFill>
                <a:latin typeface="Calibri" pitchFamily="34" charset="0"/>
                <a:ea typeface="Calibri" pitchFamily="34" charset="-122"/>
                <a:cs typeface="Calibri" pitchFamily="34" charset="-120"/>
              </a:rPr>
              <a:t>resolveops-dev  (read/exec only)</a:t>
            </a:r>
            <a:endParaRPr lang="en-US" sz="1000" dirty="0"/>
          </a:p>
        </p:txBody>
      </p:sp>
      <p:sp>
        <p:nvSpPr>
          <p:cNvPr id="25" name="Text 19"/>
          <p:cNvSpPr/>
          <p:nvPr/>
        </p:nvSpPr>
        <p:spPr>
          <a:xfrm>
            <a:off x="411480" y="4096512"/>
            <a:ext cx="3657600" cy="320040"/>
          </a:xfrm>
          <a:prstGeom prst="rect">
            <a:avLst/>
          </a:prstGeom>
          <a:noFill/>
          <a:ln/>
        </p:spPr>
        <p:txBody>
          <a:bodyPr wrap="square" lIns="0" tIns="0" rIns="0" bIns="0" rtlCol="0" anchor="ctr"/>
          <a:lstStyle/>
          <a:p>
            <a:pPr indent="0" marL="0">
              <a:buNone/>
            </a:pPr>
            <a:r>
              <a:rPr lang="en-US" sz="900" dirty="0">
                <a:solidFill>
                  <a:srgbClr val="7B9AB5"/>
                </a:solidFill>
                <a:latin typeface="Calibri" pitchFamily="34" charset="0"/>
                <a:ea typeface="Calibri" pitchFamily="34" charset="-122"/>
                <a:cs typeface="Calibri" pitchFamily="34" charset="-120"/>
              </a:rPr>
              <a:t>kubectl exec / get / logs — no cluster-admin</a:t>
            </a:r>
            <a:endParaRPr lang="en-US" sz="900" dirty="0"/>
          </a:p>
        </p:txBody>
      </p:sp>
      <p:sp>
        <p:nvSpPr>
          <p:cNvPr id="26" name="Shape 20"/>
          <p:cNvSpPr/>
          <p:nvPr/>
        </p:nvSpPr>
        <p:spPr>
          <a:xfrm>
            <a:off x="4754880" y="2834640"/>
            <a:ext cx="4069080" cy="1645920"/>
          </a:xfrm>
          <a:prstGeom prst="roundRect">
            <a:avLst>
              <a:gd name="adj" fmla="val 4444"/>
            </a:avLst>
          </a:prstGeom>
          <a:solidFill>
            <a:srgbClr val="0F2240"/>
          </a:solidFill>
          <a:ln w="25400">
            <a:solidFill>
              <a:srgbClr val="F59E0B"/>
            </a:solidFill>
            <a:prstDash val="solid"/>
          </a:ln>
          <a:effectLst>
            <a:outerShdw sx="100000" sy="100000" kx="0" ky="0" algn="bl" rotWithShape="0" blurRad="127000" dist="38100" dir="2700000">
              <a:srgbClr val="000000">
                <a:alpha val="25000"/>
              </a:srgbClr>
            </a:outerShdw>
          </a:effectLst>
        </p:spPr>
      </p:sp>
      <p:sp>
        <p:nvSpPr>
          <p:cNvPr id="27" name="Text 21"/>
          <p:cNvSpPr/>
          <p:nvPr/>
        </p:nvSpPr>
        <p:spPr>
          <a:xfrm>
            <a:off x="4892040" y="2880360"/>
            <a:ext cx="3200400" cy="347472"/>
          </a:xfrm>
          <a:prstGeom prst="rect">
            <a:avLst/>
          </a:prstGeom>
          <a:noFill/>
          <a:ln/>
        </p:spPr>
        <p:txBody>
          <a:bodyPr wrap="square" lIns="0" tIns="0" rIns="0" bIns="0" rtlCol="0" anchor="ctr"/>
          <a:lstStyle/>
          <a:p>
            <a:pPr indent="0" marL="0">
              <a:buNone/>
            </a:pPr>
            <a:r>
              <a:rPr lang="en-US" sz="1200" b="1" dirty="0">
                <a:solidFill>
                  <a:srgbClr val="F59E0B"/>
                </a:solidFill>
                <a:latin typeface="Calibri" pitchFamily="34" charset="0"/>
                <a:ea typeface="Calibri" pitchFamily="34" charset="-122"/>
                <a:cs typeface="Calibri" pitchFamily="34" charset="-120"/>
              </a:rPr>
              <a:t>ResolveOps-Prod-Users</a:t>
            </a:r>
            <a:endParaRPr lang="en-US" sz="1200" dirty="0"/>
          </a:p>
        </p:txBody>
      </p:sp>
      <p:sp>
        <p:nvSpPr>
          <p:cNvPr id="28" name="Text 22"/>
          <p:cNvSpPr/>
          <p:nvPr/>
        </p:nvSpPr>
        <p:spPr>
          <a:xfrm>
            <a:off x="4892040" y="3246120"/>
            <a:ext cx="3200400" cy="274320"/>
          </a:xfrm>
          <a:prstGeom prst="rect">
            <a:avLst/>
          </a:prstGeom>
          <a:noFill/>
          <a:ln/>
        </p:spPr>
        <p:txBody>
          <a:bodyPr wrap="square" lIns="0" tIns="0" rIns="0" bIns="0" rtlCol="0" anchor="ctr"/>
          <a:lstStyle/>
          <a:p>
            <a:pPr indent="0" marL="0">
              <a:buNone/>
            </a:pPr>
            <a:r>
              <a:rPr lang="en-US" sz="950" dirty="0">
                <a:solidFill>
                  <a:srgbClr val="7B9AB5"/>
                </a:solidFill>
                <a:latin typeface="Calibri" pitchFamily="34" charset="0"/>
                <a:ea typeface="Calibri" pitchFamily="34" charset="-122"/>
                <a:cs typeface="Calibri" pitchFamily="34" charset="-120"/>
              </a:rPr>
              <a:t>↓ maps to namespace</a:t>
            </a:r>
            <a:endParaRPr lang="en-US" sz="950" dirty="0"/>
          </a:p>
        </p:txBody>
      </p:sp>
      <p:sp>
        <p:nvSpPr>
          <p:cNvPr id="29" name="Shape 23"/>
          <p:cNvSpPr/>
          <p:nvPr/>
        </p:nvSpPr>
        <p:spPr>
          <a:xfrm>
            <a:off x="4892040" y="3547872"/>
            <a:ext cx="3657600" cy="502920"/>
          </a:xfrm>
          <a:prstGeom prst="roundRect">
            <a:avLst>
              <a:gd name="adj" fmla="val 14545"/>
            </a:avLst>
          </a:prstGeom>
          <a:solidFill>
            <a:srgbClr val="2D1F00"/>
          </a:solidFill>
          <a:ln w="12700">
            <a:solidFill>
              <a:srgbClr val="F59E0B"/>
            </a:solidFill>
            <a:prstDash val="solid"/>
          </a:ln>
          <a:effectLst>
            <a:outerShdw sx="100000" sy="100000" kx="0" ky="0" algn="bl" rotWithShape="0" blurRad="127000" dist="38100" dir="2700000">
              <a:srgbClr val="000000">
                <a:alpha val="25000"/>
              </a:srgbClr>
            </a:outerShdw>
          </a:effectLst>
        </p:spPr>
      </p:sp>
      <p:sp>
        <p:nvSpPr>
          <p:cNvPr id="30" name="Text 24"/>
          <p:cNvSpPr/>
          <p:nvPr/>
        </p:nvSpPr>
        <p:spPr>
          <a:xfrm>
            <a:off x="4937760" y="3566160"/>
            <a:ext cx="3566160" cy="466344"/>
          </a:xfrm>
          <a:prstGeom prst="rect">
            <a:avLst/>
          </a:prstGeom>
          <a:noFill/>
          <a:ln/>
        </p:spPr>
        <p:txBody>
          <a:bodyPr wrap="square" lIns="0" tIns="0" rIns="0" bIns="0" rtlCol="0" anchor="ctr"/>
          <a:lstStyle/>
          <a:p>
            <a:pPr indent="0" marL="0">
              <a:buNone/>
            </a:pPr>
            <a:r>
              <a:rPr lang="en-US" sz="1000" dirty="0">
                <a:solidFill>
                  <a:srgbClr val="F59E0B"/>
                </a:solidFill>
                <a:latin typeface="Calibri" pitchFamily="34" charset="0"/>
                <a:ea typeface="Calibri" pitchFamily="34" charset="-122"/>
                <a:cs typeface="Calibri" pitchFamily="34" charset="-120"/>
              </a:rPr>
              <a:t>resolveops-prod  (restricted access)</a:t>
            </a:r>
            <a:endParaRPr lang="en-US" sz="1000" dirty="0"/>
          </a:p>
        </p:txBody>
      </p:sp>
      <p:sp>
        <p:nvSpPr>
          <p:cNvPr id="31" name="Text 25"/>
          <p:cNvSpPr/>
          <p:nvPr/>
        </p:nvSpPr>
        <p:spPr>
          <a:xfrm>
            <a:off x="4892040" y="4096512"/>
            <a:ext cx="3657600" cy="320040"/>
          </a:xfrm>
          <a:prstGeom prst="rect">
            <a:avLst/>
          </a:prstGeom>
          <a:noFill/>
          <a:ln/>
        </p:spPr>
        <p:txBody>
          <a:bodyPr wrap="square" lIns="0" tIns="0" rIns="0" bIns="0" rtlCol="0" anchor="ctr"/>
          <a:lstStyle/>
          <a:p>
            <a:pPr indent="0" marL="0">
              <a:buNone/>
            </a:pPr>
            <a:r>
              <a:rPr lang="en-US" sz="900" dirty="0">
                <a:solidFill>
                  <a:srgbClr val="7B9AB5"/>
                </a:solidFill>
                <a:latin typeface="Calibri" pitchFamily="34" charset="0"/>
                <a:ea typeface="Calibri" pitchFamily="34" charset="-122"/>
                <a:cs typeface="Calibri" pitchFamily="34" charset="-120"/>
              </a:rPr>
              <a:t>Entra group membership enforced — no cross-namespace access</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F2240"/>
          </a:solidFill>
          <a:ln/>
        </p:spPr>
      </p:sp>
      <p:sp>
        <p:nvSpPr>
          <p:cNvPr id="3" name="Text 1"/>
          <p:cNvSpPr/>
          <p:nvPr/>
        </p:nvSpPr>
        <p:spPr>
          <a:xfrm>
            <a:off x="274320" y="73152"/>
            <a:ext cx="8595360" cy="54864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Azure Workload Identity</a:t>
            </a:r>
            <a:endParaRPr lang="en-US" sz="2200" dirty="0"/>
          </a:p>
        </p:txBody>
      </p:sp>
      <p:sp>
        <p:nvSpPr>
          <p:cNvPr id="4" name="Text 2"/>
          <p:cNvSpPr/>
          <p:nvPr/>
        </p:nvSpPr>
        <p:spPr>
          <a:xfrm>
            <a:off x="274320" y="548640"/>
            <a:ext cx="8595360" cy="256032"/>
          </a:xfrm>
          <a:prstGeom prst="rect">
            <a:avLst/>
          </a:prstGeom>
          <a:noFill/>
          <a:ln/>
        </p:spPr>
        <p:txBody>
          <a:bodyPr wrap="square" lIns="0" tIns="0" rIns="0" bIns="0" rtlCol="0" anchor="ctr"/>
          <a:lstStyle/>
          <a:p>
            <a:pPr indent="0" marL="0">
              <a:buNone/>
            </a:pPr>
            <a:r>
              <a:rPr lang="en-US" sz="1100" dirty="0">
                <a:solidFill>
                  <a:srgbClr val="00B4D8"/>
                </a:solidFill>
                <a:latin typeface="Calibri" pitchFamily="34" charset="0"/>
                <a:ea typeface="Calibri" pitchFamily="34" charset="-122"/>
                <a:cs typeface="Calibri" pitchFamily="34" charset="-120"/>
              </a:rPr>
              <a:t>Zero static credentials — federated identity for pod-to-cloud access</a:t>
            </a:r>
            <a:endParaRPr lang="en-US" sz="1100" dirty="0"/>
          </a:p>
        </p:txBody>
      </p:sp>
      <p:sp>
        <p:nvSpPr>
          <p:cNvPr id="5" name="Shape 3"/>
          <p:cNvSpPr/>
          <p:nvPr/>
        </p:nvSpPr>
        <p:spPr>
          <a:xfrm>
            <a:off x="228600" y="1005840"/>
            <a:ext cx="1572768" cy="1188720"/>
          </a:xfrm>
          <a:prstGeom prst="roundRect">
            <a:avLst>
              <a:gd name="adj" fmla="val 6154"/>
            </a:avLst>
          </a:prstGeom>
          <a:solidFill>
            <a:srgbClr val="0F2240"/>
          </a:solidFill>
          <a:ln w="19050">
            <a:solidFill>
              <a:srgbClr val="00B4D8"/>
            </a:solidFill>
            <a:prstDash val="solid"/>
          </a:ln>
          <a:effectLst>
            <a:outerShdw sx="100000" sy="100000" kx="0" ky="0" algn="bl" rotWithShape="0" blurRad="127000" dist="38100" dir="2700000">
              <a:srgbClr val="000000">
                <a:alpha val="25000"/>
              </a:srgbClr>
            </a:outerShdw>
          </a:effectLst>
        </p:spPr>
      </p:sp>
      <p:pic>
        <p:nvPicPr>
          <p:cNvPr id="6" name="Image 0" descr="preencoded.png">    </p:cNvPr>
          <p:cNvPicPr>
            <a:picLocks noChangeAspect="1"/>
          </p:cNvPicPr>
          <p:nvPr/>
        </p:nvPicPr>
        <p:blipFill>
          <a:blip r:embed="rId1"/>
          <a:stretch>
            <a:fillRect/>
          </a:stretch>
        </p:blipFill>
        <p:spPr>
          <a:xfrm>
            <a:off x="832104" y="1078992"/>
            <a:ext cx="365760" cy="365760"/>
          </a:xfrm>
          <a:prstGeom prst="rect">
            <a:avLst/>
          </a:prstGeom>
        </p:spPr>
      </p:pic>
      <p:sp>
        <p:nvSpPr>
          <p:cNvPr id="7" name="Text 4"/>
          <p:cNvSpPr/>
          <p:nvPr/>
        </p:nvSpPr>
        <p:spPr>
          <a:xfrm>
            <a:off x="274320" y="1490472"/>
            <a:ext cx="1481328" cy="658368"/>
          </a:xfrm>
          <a:prstGeom prst="rect">
            <a:avLst/>
          </a:prstGeom>
          <a:noFill/>
          <a:ln/>
        </p:spPr>
        <p:txBody>
          <a:bodyPr wrap="square" lIns="0" tIns="0" rIns="0" bIns="0" rtlCol="0" anchor="t"/>
          <a:lstStyle/>
          <a:p>
            <a:pPr algn="ctr" indent="0" marL="0">
              <a:buNone/>
            </a:pPr>
            <a:r>
              <a:rPr lang="en-US" sz="1000" dirty="0">
                <a:solidFill>
                  <a:srgbClr val="FFFFFF"/>
                </a:solidFill>
                <a:latin typeface="Calibri" pitchFamily="34" charset="0"/>
                <a:ea typeface="Calibri" pitchFamily="34" charset="-122"/>
                <a:cs typeface="Calibri" pitchFamily="34" charset="-120"/>
              </a:rPr>
              <a:t>Kubernetes</a:t>
            </a:r>
            <a:endParaRPr lang="en-US" sz="1000" dirty="0"/>
          </a:p>
          <a:p>
            <a:pPr algn="ctr" indent="0" marL="0">
              <a:buNone/>
            </a:pPr>
            <a:r>
              <a:rPr lang="en-US" sz="1000" dirty="0">
                <a:solidFill>
                  <a:srgbClr val="FFFFFF"/>
                </a:solidFill>
                <a:latin typeface="Calibri" pitchFamily="34" charset="0"/>
                <a:ea typeface="Calibri" pitchFamily="34" charset="-122"/>
                <a:cs typeface="Calibri" pitchFamily="34" charset="-120"/>
              </a:rPr>
              <a:t>Pod</a:t>
            </a:r>
            <a:endParaRPr lang="en-US" sz="1000" dirty="0"/>
          </a:p>
        </p:txBody>
      </p:sp>
      <p:sp>
        <p:nvSpPr>
          <p:cNvPr id="8" name="Shape 5"/>
          <p:cNvSpPr/>
          <p:nvPr/>
        </p:nvSpPr>
        <p:spPr>
          <a:xfrm>
            <a:off x="1801368" y="1600200"/>
            <a:ext cx="164592" cy="0"/>
          </a:xfrm>
          <a:prstGeom prst="line">
            <a:avLst/>
          </a:prstGeom>
          <a:noFill/>
          <a:ln w="25400">
            <a:solidFill>
              <a:srgbClr val="00B4D8"/>
            </a:solidFill>
            <a:prstDash val="solid"/>
          </a:ln>
        </p:spPr>
      </p:sp>
      <p:sp>
        <p:nvSpPr>
          <p:cNvPr id="9" name="Shape 6"/>
          <p:cNvSpPr/>
          <p:nvPr/>
        </p:nvSpPr>
        <p:spPr>
          <a:xfrm>
            <a:off x="1965960" y="1005840"/>
            <a:ext cx="1572768" cy="1188720"/>
          </a:xfrm>
          <a:prstGeom prst="roundRect">
            <a:avLst>
              <a:gd name="adj" fmla="val 6154"/>
            </a:avLst>
          </a:prstGeom>
          <a:solidFill>
            <a:srgbClr val="0F2240"/>
          </a:solidFill>
          <a:ln w="19050">
            <a:solidFill>
              <a:srgbClr val="0078D4"/>
            </a:solidFill>
            <a:prstDash val="solid"/>
          </a:ln>
          <a:effectLst>
            <a:outerShdw sx="100000" sy="100000" kx="0" ky="0" algn="bl" rotWithShape="0" blurRad="127000" dist="38100" dir="2700000">
              <a:srgbClr val="000000">
                <a:alpha val="25000"/>
              </a:srgbClr>
            </a:outerShdw>
          </a:effectLst>
        </p:spPr>
      </p:sp>
      <p:pic>
        <p:nvPicPr>
          <p:cNvPr id="10" name="Image 1" descr="preencoded.png">    </p:cNvPr>
          <p:cNvPicPr>
            <a:picLocks noChangeAspect="1"/>
          </p:cNvPicPr>
          <p:nvPr/>
        </p:nvPicPr>
        <p:blipFill>
          <a:blip r:embed="rId2"/>
          <a:stretch>
            <a:fillRect/>
          </a:stretch>
        </p:blipFill>
        <p:spPr>
          <a:xfrm>
            <a:off x="2569464" y="1078992"/>
            <a:ext cx="365760" cy="365760"/>
          </a:xfrm>
          <a:prstGeom prst="rect">
            <a:avLst/>
          </a:prstGeom>
        </p:spPr>
      </p:pic>
      <p:sp>
        <p:nvSpPr>
          <p:cNvPr id="11" name="Text 7"/>
          <p:cNvSpPr/>
          <p:nvPr/>
        </p:nvSpPr>
        <p:spPr>
          <a:xfrm>
            <a:off x="2011680" y="1490472"/>
            <a:ext cx="1481328" cy="658368"/>
          </a:xfrm>
          <a:prstGeom prst="rect">
            <a:avLst/>
          </a:prstGeom>
          <a:noFill/>
          <a:ln/>
        </p:spPr>
        <p:txBody>
          <a:bodyPr wrap="square" lIns="0" tIns="0" rIns="0" bIns="0" rtlCol="0" anchor="t"/>
          <a:lstStyle/>
          <a:p>
            <a:pPr algn="ctr" indent="0" marL="0">
              <a:buNone/>
            </a:pPr>
            <a:r>
              <a:rPr lang="en-US" sz="1000" dirty="0">
                <a:solidFill>
                  <a:srgbClr val="FFFFFF"/>
                </a:solidFill>
                <a:latin typeface="Calibri" pitchFamily="34" charset="0"/>
                <a:ea typeface="Calibri" pitchFamily="34" charset="-122"/>
                <a:cs typeface="Calibri" pitchFamily="34" charset="-120"/>
              </a:rPr>
              <a:t>K8s Service</a:t>
            </a:r>
            <a:endParaRPr lang="en-US" sz="1000" dirty="0"/>
          </a:p>
          <a:p>
            <a:pPr algn="ctr" indent="0" marL="0">
              <a:buNone/>
            </a:pPr>
            <a:r>
              <a:rPr lang="en-US" sz="1000" dirty="0">
                <a:solidFill>
                  <a:srgbClr val="FFFFFF"/>
                </a:solidFill>
                <a:latin typeface="Calibri" pitchFamily="34" charset="0"/>
                <a:ea typeface="Calibri" pitchFamily="34" charset="-122"/>
                <a:cs typeface="Calibri" pitchFamily="34" charset="-120"/>
              </a:rPr>
              <a:t>Account</a:t>
            </a:r>
            <a:endParaRPr lang="en-US" sz="1000" dirty="0"/>
          </a:p>
        </p:txBody>
      </p:sp>
      <p:sp>
        <p:nvSpPr>
          <p:cNvPr id="12" name="Shape 8"/>
          <p:cNvSpPr/>
          <p:nvPr/>
        </p:nvSpPr>
        <p:spPr>
          <a:xfrm>
            <a:off x="3538728" y="1600200"/>
            <a:ext cx="164592" cy="0"/>
          </a:xfrm>
          <a:prstGeom prst="line">
            <a:avLst/>
          </a:prstGeom>
          <a:noFill/>
          <a:ln w="25400">
            <a:solidFill>
              <a:srgbClr val="0078D4"/>
            </a:solidFill>
            <a:prstDash val="solid"/>
          </a:ln>
        </p:spPr>
      </p:sp>
      <p:sp>
        <p:nvSpPr>
          <p:cNvPr id="13" name="Shape 9"/>
          <p:cNvSpPr/>
          <p:nvPr/>
        </p:nvSpPr>
        <p:spPr>
          <a:xfrm>
            <a:off x="3703320" y="1005840"/>
            <a:ext cx="1572768" cy="1188720"/>
          </a:xfrm>
          <a:prstGeom prst="roundRect">
            <a:avLst>
              <a:gd name="adj" fmla="val 6154"/>
            </a:avLst>
          </a:prstGeom>
          <a:solidFill>
            <a:srgbClr val="0F2240"/>
          </a:solidFill>
          <a:ln w="19050">
            <a:solidFill>
              <a:srgbClr val="8B5CF6"/>
            </a:solidFill>
            <a:prstDash val="solid"/>
          </a:ln>
          <a:effectLst>
            <a:outerShdw sx="100000" sy="100000" kx="0" ky="0" algn="bl" rotWithShape="0" blurRad="127000" dist="38100" dir="2700000">
              <a:srgbClr val="000000">
                <a:alpha val="25000"/>
              </a:srgbClr>
            </a:outerShdw>
          </a:effectLst>
        </p:spPr>
      </p:sp>
      <p:pic>
        <p:nvPicPr>
          <p:cNvPr id="14" name="Image 2" descr="preencoded.png">    </p:cNvPr>
          <p:cNvPicPr>
            <a:picLocks noChangeAspect="1"/>
          </p:cNvPicPr>
          <p:nvPr/>
        </p:nvPicPr>
        <p:blipFill>
          <a:blip r:embed="rId3"/>
          <a:stretch>
            <a:fillRect/>
          </a:stretch>
        </p:blipFill>
        <p:spPr>
          <a:xfrm>
            <a:off x="4306824" y="1078992"/>
            <a:ext cx="365760" cy="365760"/>
          </a:xfrm>
          <a:prstGeom prst="rect">
            <a:avLst/>
          </a:prstGeom>
        </p:spPr>
      </p:pic>
      <p:sp>
        <p:nvSpPr>
          <p:cNvPr id="15" name="Text 10"/>
          <p:cNvSpPr/>
          <p:nvPr/>
        </p:nvSpPr>
        <p:spPr>
          <a:xfrm>
            <a:off x="3749040" y="1490472"/>
            <a:ext cx="1481328" cy="658368"/>
          </a:xfrm>
          <a:prstGeom prst="rect">
            <a:avLst/>
          </a:prstGeom>
          <a:noFill/>
          <a:ln/>
        </p:spPr>
        <p:txBody>
          <a:bodyPr wrap="square" lIns="0" tIns="0" rIns="0" bIns="0" rtlCol="0" anchor="t"/>
          <a:lstStyle/>
          <a:p>
            <a:pPr algn="ctr" indent="0" marL="0">
              <a:buNone/>
            </a:pPr>
            <a:r>
              <a:rPr lang="en-US" sz="1000" dirty="0">
                <a:solidFill>
                  <a:srgbClr val="FFFFFF"/>
                </a:solidFill>
                <a:latin typeface="Calibri" pitchFamily="34" charset="0"/>
                <a:ea typeface="Calibri" pitchFamily="34" charset="-122"/>
                <a:cs typeface="Calibri" pitchFamily="34" charset="-120"/>
              </a:rPr>
              <a:t>Federated</a:t>
            </a:r>
            <a:endParaRPr lang="en-US" sz="1000" dirty="0"/>
          </a:p>
          <a:p>
            <a:pPr algn="ctr" indent="0" marL="0">
              <a:buNone/>
            </a:pPr>
            <a:r>
              <a:rPr lang="en-US" sz="1000" dirty="0">
                <a:solidFill>
                  <a:srgbClr val="FFFFFF"/>
                </a:solidFill>
                <a:latin typeface="Calibri" pitchFamily="34" charset="0"/>
                <a:ea typeface="Calibri" pitchFamily="34" charset="-122"/>
                <a:cs typeface="Calibri" pitchFamily="34" charset="-120"/>
              </a:rPr>
              <a:t>Credential</a:t>
            </a:r>
            <a:endParaRPr lang="en-US" sz="1000" dirty="0"/>
          </a:p>
        </p:txBody>
      </p:sp>
      <p:sp>
        <p:nvSpPr>
          <p:cNvPr id="16" name="Shape 11"/>
          <p:cNvSpPr/>
          <p:nvPr/>
        </p:nvSpPr>
        <p:spPr>
          <a:xfrm>
            <a:off x="5276088" y="1600200"/>
            <a:ext cx="164592" cy="0"/>
          </a:xfrm>
          <a:prstGeom prst="line">
            <a:avLst/>
          </a:prstGeom>
          <a:noFill/>
          <a:ln w="25400">
            <a:solidFill>
              <a:srgbClr val="8B5CF6"/>
            </a:solidFill>
            <a:prstDash val="solid"/>
          </a:ln>
        </p:spPr>
      </p:sp>
      <p:sp>
        <p:nvSpPr>
          <p:cNvPr id="17" name="Shape 12"/>
          <p:cNvSpPr/>
          <p:nvPr/>
        </p:nvSpPr>
        <p:spPr>
          <a:xfrm>
            <a:off x="5440680" y="1005840"/>
            <a:ext cx="1572768" cy="1188720"/>
          </a:xfrm>
          <a:prstGeom prst="roundRect">
            <a:avLst>
              <a:gd name="adj" fmla="val 6154"/>
            </a:avLst>
          </a:prstGeom>
          <a:solidFill>
            <a:srgbClr val="0F2240"/>
          </a:solidFill>
          <a:ln w="19050">
            <a:solidFill>
              <a:srgbClr val="F59E0B"/>
            </a:solidFill>
            <a:prstDash val="solid"/>
          </a:ln>
          <a:effectLst>
            <a:outerShdw sx="100000" sy="100000" kx="0" ky="0" algn="bl" rotWithShape="0" blurRad="127000" dist="38100" dir="2700000">
              <a:srgbClr val="000000">
                <a:alpha val="25000"/>
              </a:srgbClr>
            </a:outerShdw>
          </a:effectLst>
        </p:spPr>
      </p:sp>
      <p:pic>
        <p:nvPicPr>
          <p:cNvPr id="18" name="Image 3" descr="preencoded.png">    </p:cNvPr>
          <p:cNvPicPr>
            <a:picLocks noChangeAspect="1"/>
          </p:cNvPicPr>
          <p:nvPr/>
        </p:nvPicPr>
        <p:blipFill>
          <a:blip r:embed="rId4"/>
          <a:stretch>
            <a:fillRect/>
          </a:stretch>
        </p:blipFill>
        <p:spPr>
          <a:xfrm>
            <a:off x="6044184" y="1078992"/>
            <a:ext cx="365760" cy="365760"/>
          </a:xfrm>
          <a:prstGeom prst="rect">
            <a:avLst/>
          </a:prstGeom>
        </p:spPr>
      </p:pic>
      <p:sp>
        <p:nvSpPr>
          <p:cNvPr id="19" name="Text 13"/>
          <p:cNvSpPr/>
          <p:nvPr/>
        </p:nvSpPr>
        <p:spPr>
          <a:xfrm>
            <a:off x="5486400" y="1490472"/>
            <a:ext cx="1481328" cy="658368"/>
          </a:xfrm>
          <a:prstGeom prst="rect">
            <a:avLst/>
          </a:prstGeom>
          <a:noFill/>
          <a:ln/>
        </p:spPr>
        <p:txBody>
          <a:bodyPr wrap="square" lIns="0" tIns="0" rIns="0" bIns="0" rtlCol="0" anchor="t"/>
          <a:lstStyle/>
          <a:p>
            <a:pPr algn="ctr" indent="0" marL="0">
              <a:buNone/>
            </a:pPr>
            <a:r>
              <a:rPr lang="en-US" sz="1000" dirty="0">
                <a:solidFill>
                  <a:srgbClr val="FFFFFF"/>
                </a:solidFill>
                <a:latin typeface="Calibri" pitchFamily="34" charset="0"/>
                <a:ea typeface="Calibri" pitchFamily="34" charset="-122"/>
                <a:cs typeface="Calibri" pitchFamily="34" charset="-120"/>
              </a:rPr>
              <a:t>Managed</a:t>
            </a:r>
            <a:endParaRPr lang="en-US" sz="1000" dirty="0"/>
          </a:p>
          <a:p>
            <a:pPr algn="ctr" indent="0" marL="0">
              <a:buNone/>
            </a:pPr>
            <a:r>
              <a:rPr lang="en-US" sz="1000" dirty="0">
                <a:solidFill>
                  <a:srgbClr val="FFFFFF"/>
                </a:solidFill>
                <a:latin typeface="Calibri" pitchFamily="34" charset="0"/>
                <a:ea typeface="Calibri" pitchFamily="34" charset="-122"/>
                <a:cs typeface="Calibri" pitchFamily="34" charset="-120"/>
              </a:rPr>
              <a:t>Identity (MI)</a:t>
            </a:r>
            <a:endParaRPr lang="en-US" sz="1000" dirty="0"/>
          </a:p>
        </p:txBody>
      </p:sp>
      <p:sp>
        <p:nvSpPr>
          <p:cNvPr id="20" name="Shape 14"/>
          <p:cNvSpPr/>
          <p:nvPr/>
        </p:nvSpPr>
        <p:spPr>
          <a:xfrm>
            <a:off x="7013448" y="1600200"/>
            <a:ext cx="164592" cy="0"/>
          </a:xfrm>
          <a:prstGeom prst="line">
            <a:avLst/>
          </a:prstGeom>
          <a:noFill/>
          <a:ln w="25400">
            <a:solidFill>
              <a:srgbClr val="F59E0B"/>
            </a:solidFill>
            <a:prstDash val="solid"/>
          </a:ln>
        </p:spPr>
      </p:sp>
      <p:sp>
        <p:nvSpPr>
          <p:cNvPr id="21" name="Shape 15"/>
          <p:cNvSpPr/>
          <p:nvPr/>
        </p:nvSpPr>
        <p:spPr>
          <a:xfrm>
            <a:off x="7178040" y="1005840"/>
            <a:ext cx="1572768" cy="1188720"/>
          </a:xfrm>
          <a:prstGeom prst="roundRect">
            <a:avLst>
              <a:gd name="adj" fmla="val 6154"/>
            </a:avLst>
          </a:prstGeom>
          <a:solidFill>
            <a:srgbClr val="0F2240"/>
          </a:solidFill>
          <a:ln w="19050">
            <a:solidFill>
              <a:srgbClr val="00C896"/>
            </a:solidFill>
            <a:prstDash val="solid"/>
          </a:ln>
          <a:effectLst>
            <a:outerShdw sx="100000" sy="100000" kx="0" ky="0" algn="bl" rotWithShape="0" blurRad="127000" dist="38100" dir="2700000">
              <a:srgbClr val="000000">
                <a:alpha val="25000"/>
              </a:srgbClr>
            </a:outerShdw>
          </a:effectLst>
        </p:spPr>
      </p:sp>
      <p:pic>
        <p:nvPicPr>
          <p:cNvPr id="22" name="Image 4" descr="preencoded.png">    </p:cNvPr>
          <p:cNvPicPr>
            <a:picLocks noChangeAspect="1"/>
          </p:cNvPicPr>
          <p:nvPr/>
        </p:nvPicPr>
        <p:blipFill>
          <a:blip r:embed="rId5"/>
          <a:stretch>
            <a:fillRect/>
          </a:stretch>
        </p:blipFill>
        <p:spPr>
          <a:xfrm>
            <a:off x="7781544" y="1078992"/>
            <a:ext cx="365760" cy="365760"/>
          </a:xfrm>
          <a:prstGeom prst="rect">
            <a:avLst/>
          </a:prstGeom>
        </p:spPr>
      </p:pic>
      <p:sp>
        <p:nvSpPr>
          <p:cNvPr id="23" name="Text 16"/>
          <p:cNvSpPr/>
          <p:nvPr/>
        </p:nvSpPr>
        <p:spPr>
          <a:xfrm>
            <a:off x="7223760" y="1490472"/>
            <a:ext cx="1481328" cy="658368"/>
          </a:xfrm>
          <a:prstGeom prst="rect">
            <a:avLst/>
          </a:prstGeom>
          <a:noFill/>
          <a:ln/>
        </p:spPr>
        <p:txBody>
          <a:bodyPr wrap="square" lIns="0" tIns="0" rIns="0" bIns="0" rtlCol="0" anchor="t"/>
          <a:lstStyle/>
          <a:p>
            <a:pPr algn="ctr" indent="0" marL="0">
              <a:buNone/>
            </a:pPr>
            <a:r>
              <a:rPr lang="en-US" sz="1000" dirty="0">
                <a:solidFill>
                  <a:srgbClr val="FFFFFF"/>
                </a:solidFill>
                <a:latin typeface="Calibri" pitchFamily="34" charset="0"/>
                <a:ea typeface="Calibri" pitchFamily="34" charset="-122"/>
                <a:cs typeface="Calibri" pitchFamily="34" charset="-120"/>
              </a:rPr>
              <a:t>Azure</a:t>
            </a:r>
            <a:endParaRPr lang="en-US" sz="1000" dirty="0"/>
          </a:p>
          <a:p>
            <a:pPr algn="ctr" indent="0" marL="0">
              <a:buNone/>
            </a:pPr>
            <a:r>
              <a:rPr lang="en-US" sz="1000" dirty="0">
                <a:solidFill>
                  <a:srgbClr val="FFFFFF"/>
                </a:solidFill>
                <a:latin typeface="Calibri" pitchFamily="34" charset="0"/>
                <a:ea typeface="Calibri" pitchFamily="34" charset="-122"/>
                <a:cs typeface="Calibri" pitchFamily="34" charset="-120"/>
              </a:rPr>
              <a:t>Services</a:t>
            </a:r>
            <a:endParaRPr lang="en-US" sz="1000" dirty="0"/>
          </a:p>
        </p:txBody>
      </p:sp>
      <p:sp>
        <p:nvSpPr>
          <p:cNvPr id="24" name="Shape 17"/>
          <p:cNvSpPr/>
          <p:nvPr/>
        </p:nvSpPr>
        <p:spPr>
          <a:xfrm>
            <a:off x="228600" y="2423160"/>
            <a:ext cx="1993392" cy="822960"/>
          </a:xfrm>
          <a:prstGeom prst="roundRect">
            <a:avLst>
              <a:gd name="adj" fmla="val 8889"/>
            </a:avLst>
          </a:prstGeom>
          <a:solidFill>
            <a:srgbClr val="07163A"/>
          </a:solidFill>
          <a:ln w="19050">
            <a:solidFill>
              <a:srgbClr val="0078D4"/>
            </a:solidFill>
            <a:prstDash val="solid"/>
          </a:ln>
          <a:effectLst>
            <a:outerShdw sx="100000" sy="100000" kx="0" ky="0" algn="bl" rotWithShape="0" blurRad="127000" dist="38100" dir="2700000">
              <a:srgbClr val="000000">
                <a:alpha val="25000"/>
              </a:srgbClr>
            </a:outerShdw>
          </a:effectLst>
        </p:spPr>
      </p:sp>
      <p:sp>
        <p:nvSpPr>
          <p:cNvPr id="25" name="Text 18"/>
          <p:cNvSpPr/>
          <p:nvPr/>
        </p:nvSpPr>
        <p:spPr>
          <a:xfrm>
            <a:off x="301752" y="2450592"/>
            <a:ext cx="1847088" cy="768096"/>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Azure Storage</a:t>
            </a:r>
            <a:endParaRPr lang="en-US" sz="1050" dirty="0"/>
          </a:p>
          <a:p>
            <a:pPr algn="ctr" indent="0" marL="0">
              <a:buNone/>
            </a:pPr>
            <a:r>
              <a:rPr lang="en-US" sz="1050" dirty="0">
                <a:solidFill>
                  <a:srgbClr val="FFFFFF"/>
                </a:solidFill>
                <a:latin typeface="Calibri" pitchFamily="34" charset="0"/>
                <a:ea typeface="Calibri" pitchFamily="34" charset="-122"/>
                <a:cs typeface="Calibri" pitchFamily="34" charset="-120"/>
              </a:rPr>
              <a:t>Blob / Queue</a:t>
            </a:r>
            <a:endParaRPr lang="en-US" sz="1050" dirty="0"/>
          </a:p>
        </p:txBody>
      </p:sp>
      <p:sp>
        <p:nvSpPr>
          <p:cNvPr id="26" name="Shape 19"/>
          <p:cNvSpPr/>
          <p:nvPr/>
        </p:nvSpPr>
        <p:spPr>
          <a:xfrm>
            <a:off x="2404872" y="2423160"/>
            <a:ext cx="1993392" cy="822960"/>
          </a:xfrm>
          <a:prstGeom prst="roundRect">
            <a:avLst>
              <a:gd name="adj" fmla="val 8889"/>
            </a:avLst>
          </a:prstGeom>
          <a:solidFill>
            <a:srgbClr val="07163A"/>
          </a:solidFill>
          <a:ln w="19050">
            <a:solidFill>
              <a:srgbClr val="F59E0B"/>
            </a:solidFill>
            <a:prstDash val="solid"/>
          </a:ln>
          <a:effectLst>
            <a:outerShdw sx="100000" sy="100000" kx="0" ky="0" algn="bl" rotWithShape="0" blurRad="127000" dist="38100" dir="2700000">
              <a:srgbClr val="000000">
                <a:alpha val="25000"/>
              </a:srgbClr>
            </a:outerShdw>
          </a:effectLst>
        </p:spPr>
      </p:sp>
      <p:sp>
        <p:nvSpPr>
          <p:cNvPr id="27" name="Text 20"/>
          <p:cNvSpPr/>
          <p:nvPr/>
        </p:nvSpPr>
        <p:spPr>
          <a:xfrm>
            <a:off x="2478024" y="2450592"/>
            <a:ext cx="1847088" cy="768096"/>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Azure Key</a:t>
            </a:r>
            <a:endParaRPr lang="en-US" sz="1050" dirty="0"/>
          </a:p>
          <a:p>
            <a:pPr algn="ctr" indent="0" marL="0">
              <a:buNone/>
            </a:pPr>
            <a:r>
              <a:rPr lang="en-US" sz="1050" dirty="0">
                <a:solidFill>
                  <a:srgbClr val="FFFFFF"/>
                </a:solidFill>
                <a:latin typeface="Calibri" pitchFamily="34" charset="0"/>
                <a:ea typeface="Calibri" pitchFamily="34" charset="-122"/>
                <a:cs typeface="Calibri" pitchFamily="34" charset="-120"/>
              </a:rPr>
              <a:t>Vault (secrets)</a:t>
            </a:r>
            <a:endParaRPr lang="en-US" sz="1050" dirty="0"/>
          </a:p>
        </p:txBody>
      </p:sp>
      <p:sp>
        <p:nvSpPr>
          <p:cNvPr id="28" name="Shape 21"/>
          <p:cNvSpPr/>
          <p:nvPr/>
        </p:nvSpPr>
        <p:spPr>
          <a:xfrm>
            <a:off x="4581144" y="2423160"/>
            <a:ext cx="1993392" cy="822960"/>
          </a:xfrm>
          <a:prstGeom prst="roundRect">
            <a:avLst>
              <a:gd name="adj" fmla="val 8889"/>
            </a:avLst>
          </a:prstGeom>
          <a:solidFill>
            <a:srgbClr val="07163A"/>
          </a:solidFill>
          <a:ln w="19050">
            <a:solidFill>
              <a:srgbClr val="8B5CF6"/>
            </a:solidFill>
            <a:prstDash val="solid"/>
          </a:ln>
          <a:effectLst>
            <a:outerShdw sx="100000" sy="100000" kx="0" ky="0" algn="bl" rotWithShape="0" blurRad="127000" dist="38100" dir="2700000">
              <a:srgbClr val="000000">
                <a:alpha val="25000"/>
              </a:srgbClr>
            </a:outerShdw>
          </a:effectLst>
        </p:spPr>
      </p:sp>
      <p:sp>
        <p:nvSpPr>
          <p:cNvPr id="29" name="Text 22"/>
          <p:cNvSpPr/>
          <p:nvPr/>
        </p:nvSpPr>
        <p:spPr>
          <a:xfrm>
            <a:off x="4654296" y="2450592"/>
            <a:ext cx="1847088" cy="768096"/>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Azure Service</a:t>
            </a:r>
            <a:endParaRPr lang="en-US" sz="1050" dirty="0"/>
          </a:p>
          <a:p>
            <a:pPr algn="ctr" indent="0" marL="0">
              <a:buNone/>
            </a:pPr>
            <a:r>
              <a:rPr lang="en-US" sz="1050" dirty="0">
                <a:solidFill>
                  <a:srgbClr val="FFFFFF"/>
                </a:solidFill>
                <a:latin typeface="Calibri" pitchFamily="34" charset="0"/>
                <a:ea typeface="Calibri" pitchFamily="34" charset="-122"/>
                <a:cs typeface="Calibri" pitchFamily="34" charset="-120"/>
              </a:rPr>
              <a:t>Bus (events)</a:t>
            </a:r>
            <a:endParaRPr lang="en-US" sz="1050" dirty="0"/>
          </a:p>
        </p:txBody>
      </p:sp>
      <p:sp>
        <p:nvSpPr>
          <p:cNvPr id="30" name="Shape 23"/>
          <p:cNvSpPr/>
          <p:nvPr/>
        </p:nvSpPr>
        <p:spPr>
          <a:xfrm>
            <a:off x="6757416" y="2423160"/>
            <a:ext cx="1993392" cy="822960"/>
          </a:xfrm>
          <a:prstGeom prst="roundRect">
            <a:avLst>
              <a:gd name="adj" fmla="val 8889"/>
            </a:avLst>
          </a:prstGeom>
          <a:solidFill>
            <a:srgbClr val="07163A"/>
          </a:solidFill>
          <a:ln w="19050">
            <a:solidFill>
              <a:srgbClr val="00C896"/>
            </a:solidFill>
            <a:prstDash val="solid"/>
          </a:ln>
          <a:effectLst>
            <a:outerShdw sx="100000" sy="100000" kx="0" ky="0" algn="bl" rotWithShape="0" blurRad="127000" dist="38100" dir="2700000">
              <a:srgbClr val="000000">
                <a:alpha val="25000"/>
              </a:srgbClr>
            </a:outerShdw>
          </a:effectLst>
        </p:spPr>
      </p:sp>
      <p:sp>
        <p:nvSpPr>
          <p:cNvPr id="31" name="Text 24"/>
          <p:cNvSpPr/>
          <p:nvPr/>
        </p:nvSpPr>
        <p:spPr>
          <a:xfrm>
            <a:off x="6830568" y="2450592"/>
            <a:ext cx="1847088" cy="768096"/>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Azure OpenAI</a:t>
            </a:r>
            <a:endParaRPr lang="en-US" sz="1050" dirty="0"/>
          </a:p>
          <a:p>
            <a:pPr algn="ctr" indent="0" marL="0">
              <a:buNone/>
            </a:pPr>
            <a:r>
              <a:rPr lang="en-US" sz="1050" dirty="0">
                <a:solidFill>
                  <a:srgbClr val="FFFFFF"/>
                </a:solidFill>
                <a:latin typeface="Calibri" pitchFamily="34" charset="0"/>
                <a:ea typeface="Calibri" pitchFamily="34" charset="-122"/>
                <a:cs typeface="Calibri" pitchFamily="34" charset="-120"/>
              </a:rPr>
              <a:t>(LLM calls)</a:t>
            </a:r>
            <a:endParaRPr lang="en-US" sz="1050" dirty="0"/>
          </a:p>
        </p:txBody>
      </p:sp>
      <p:sp>
        <p:nvSpPr>
          <p:cNvPr id="32" name="Shape 25"/>
          <p:cNvSpPr/>
          <p:nvPr/>
        </p:nvSpPr>
        <p:spPr>
          <a:xfrm>
            <a:off x="228600" y="3429000"/>
            <a:ext cx="8686800" cy="1417320"/>
          </a:xfrm>
          <a:prstGeom prst="roundRect">
            <a:avLst>
              <a:gd name="adj" fmla="val 5161"/>
            </a:avLst>
          </a:prstGeom>
          <a:solidFill>
            <a:srgbClr val="0F2240"/>
          </a:solidFill>
          <a:ln w="19050">
            <a:solidFill>
              <a:srgbClr val="10B981"/>
            </a:solidFill>
            <a:prstDash val="solid"/>
          </a:ln>
          <a:effectLst>
            <a:outerShdw sx="100000" sy="100000" kx="0" ky="0" algn="bl" rotWithShape="0" blurRad="127000" dist="38100" dir="2700000">
              <a:srgbClr val="000000">
                <a:alpha val="25000"/>
              </a:srgbClr>
            </a:outerShdw>
          </a:effectLst>
        </p:spPr>
      </p:sp>
      <p:sp>
        <p:nvSpPr>
          <p:cNvPr id="33" name="Text 26"/>
          <p:cNvSpPr/>
          <p:nvPr/>
        </p:nvSpPr>
        <p:spPr>
          <a:xfrm>
            <a:off x="365760" y="3474720"/>
            <a:ext cx="3657600" cy="320040"/>
          </a:xfrm>
          <a:prstGeom prst="rect">
            <a:avLst/>
          </a:prstGeom>
          <a:noFill/>
          <a:ln/>
        </p:spPr>
        <p:txBody>
          <a:bodyPr wrap="square" lIns="0" tIns="0" rIns="0" bIns="0" rtlCol="0" anchor="ctr"/>
          <a:lstStyle/>
          <a:p>
            <a:pPr indent="0" marL="0">
              <a:buNone/>
            </a:pPr>
            <a:r>
              <a:rPr lang="en-US" sz="1100" b="1" dirty="0">
                <a:solidFill>
                  <a:srgbClr val="10B981"/>
                </a:solidFill>
                <a:latin typeface="Calibri" pitchFamily="34" charset="0"/>
                <a:ea typeface="Calibri" pitchFamily="34" charset="-122"/>
                <a:cs typeface="Calibri" pitchFamily="34" charset="-120"/>
              </a:rPr>
              <a:t>Why Workload Identity?</a:t>
            </a:r>
            <a:endParaRPr lang="en-US" sz="1100" dirty="0"/>
          </a:p>
        </p:txBody>
      </p:sp>
      <p:sp>
        <p:nvSpPr>
          <p:cNvPr id="34" name="Text 27"/>
          <p:cNvSpPr/>
          <p:nvPr/>
        </p:nvSpPr>
        <p:spPr>
          <a:xfrm>
            <a:off x="365760" y="3840480"/>
            <a:ext cx="8321040" cy="237744"/>
          </a:xfrm>
          <a:prstGeom prst="rect">
            <a:avLst/>
          </a:prstGeom>
          <a:noFill/>
          <a:ln/>
        </p:spPr>
        <p:txBody>
          <a:bodyPr wrap="square" lIns="0" tIns="0" rIns="0" bIns="0" rtlCol="0" anchor="ctr"/>
          <a:lstStyle/>
          <a:p>
            <a:pPr indent="0" marL="0">
              <a:buNone/>
            </a:pPr>
            <a:r>
              <a:rPr lang="en-US" sz="950" dirty="0">
                <a:solidFill>
                  <a:srgbClr val="CBD5E1"/>
                </a:solidFill>
                <a:latin typeface="Calibri" pitchFamily="34" charset="0"/>
                <a:ea typeface="Calibri" pitchFamily="34" charset="-122"/>
                <a:cs typeface="Calibri" pitchFamily="34" charset="-120"/>
              </a:rPr>
              <a:t>✔  No client secrets or access keys stored in pods or Kubernetes Secrets</a:t>
            </a:r>
            <a:endParaRPr lang="en-US" sz="950" dirty="0"/>
          </a:p>
        </p:txBody>
      </p:sp>
      <p:sp>
        <p:nvSpPr>
          <p:cNvPr id="35" name="Text 28"/>
          <p:cNvSpPr/>
          <p:nvPr/>
        </p:nvSpPr>
        <p:spPr>
          <a:xfrm>
            <a:off x="365760" y="4087368"/>
            <a:ext cx="8321040" cy="237744"/>
          </a:xfrm>
          <a:prstGeom prst="rect">
            <a:avLst/>
          </a:prstGeom>
          <a:noFill/>
          <a:ln/>
        </p:spPr>
        <p:txBody>
          <a:bodyPr wrap="square" lIns="0" tIns="0" rIns="0" bIns="0" rtlCol="0" anchor="ctr"/>
          <a:lstStyle/>
          <a:p>
            <a:pPr indent="0" marL="0">
              <a:buNone/>
            </a:pPr>
            <a:r>
              <a:rPr lang="en-US" sz="950" dirty="0">
                <a:solidFill>
                  <a:srgbClr val="CBD5E1"/>
                </a:solidFill>
                <a:latin typeface="Calibri" pitchFamily="34" charset="0"/>
                <a:ea typeface="Calibri" pitchFamily="34" charset="-122"/>
                <a:cs typeface="Calibri" pitchFamily="34" charset="-120"/>
              </a:rPr>
              <a:t>✔  OIDC token issued by AKS is trusted by Azure AD — short-lived, auto-rotated</a:t>
            </a:r>
            <a:endParaRPr lang="en-US" sz="950" dirty="0"/>
          </a:p>
        </p:txBody>
      </p:sp>
      <p:sp>
        <p:nvSpPr>
          <p:cNvPr id="36" name="Text 29"/>
          <p:cNvSpPr/>
          <p:nvPr/>
        </p:nvSpPr>
        <p:spPr>
          <a:xfrm>
            <a:off x="365760" y="4334256"/>
            <a:ext cx="8321040" cy="237744"/>
          </a:xfrm>
          <a:prstGeom prst="rect">
            <a:avLst/>
          </a:prstGeom>
          <a:noFill/>
          <a:ln/>
        </p:spPr>
        <p:txBody>
          <a:bodyPr wrap="square" lIns="0" tIns="0" rIns="0" bIns="0" rtlCol="0" anchor="ctr"/>
          <a:lstStyle/>
          <a:p>
            <a:pPr indent="0" marL="0">
              <a:buNone/>
            </a:pPr>
            <a:r>
              <a:rPr lang="en-US" sz="950" dirty="0">
                <a:solidFill>
                  <a:srgbClr val="CBD5E1"/>
                </a:solidFill>
                <a:latin typeface="Calibri" pitchFamily="34" charset="0"/>
                <a:ea typeface="Calibri" pitchFamily="34" charset="-122"/>
                <a:cs typeface="Calibri" pitchFamily="34" charset="-120"/>
              </a:rPr>
              <a:t>✔  Managed Identity scoped to exact Azure resources — least privilege</a:t>
            </a:r>
            <a:endParaRPr lang="en-US" sz="950" dirty="0"/>
          </a:p>
        </p:txBody>
      </p:sp>
      <p:sp>
        <p:nvSpPr>
          <p:cNvPr id="37" name="Text 30"/>
          <p:cNvSpPr/>
          <p:nvPr/>
        </p:nvSpPr>
        <p:spPr>
          <a:xfrm>
            <a:off x="365760" y="4581144"/>
            <a:ext cx="8321040" cy="237744"/>
          </a:xfrm>
          <a:prstGeom prst="rect">
            <a:avLst/>
          </a:prstGeom>
          <a:noFill/>
          <a:ln/>
        </p:spPr>
        <p:txBody>
          <a:bodyPr wrap="square" lIns="0" tIns="0" rIns="0" bIns="0" rtlCol="0" anchor="ctr"/>
          <a:lstStyle/>
          <a:p>
            <a:pPr indent="0" marL="0">
              <a:buNone/>
            </a:pPr>
            <a:r>
              <a:rPr lang="en-US" sz="950" dirty="0">
                <a:solidFill>
                  <a:srgbClr val="CBD5E1"/>
                </a:solidFill>
                <a:latin typeface="Calibri" pitchFamily="34" charset="0"/>
                <a:ea typeface="Calibri" pitchFamily="34" charset="-122"/>
                <a:cs typeface="Calibri" pitchFamily="34" charset="-120"/>
              </a:rPr>
              <a:t>✔  Works with Azure SDK (DefaultAzureCredential) — zero code changes</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F2240"/>
          </a:solidFill>
          <a:ln/>
        </p:spPr>
      </p:sp>
      <p:sp>
        <p:nvSpPr>
          <p:cNvPr id="3" name="Text 1"/>
          <p:cNvSpPr/>
          <p:nvPr/>
        </p:nvSpPr>
        <p:spPr>
          <a:xfrm>
            <a:off x="274320" y="73152"/>
            <a:ext cx="8595360" cy="54864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Internal Application Request Flow</a:t>
            </a:r>
            <a:endParaRPr lang="en-US" sz="2200" dirty="0"/>
          </a:p>
        </p:txBody>
      </p:sp>
      <p:sp>
        <p:nvSpPr>
          <p:cNvPr id="4" name="Text 2"/>
          <p:cNvSpPr/>
          <p:nvPr/>
        </p:nvSpPr>
        <p:spPr>
          <a:xfrm>
            <a:off x="274320" y="548640"/>
            <a:ext cx="8595360" cy="256032"/>
          </a:xfrm>
          <a:prstGeom prst="rect">
            <a:avLst/>
          </a:prstGeom>
          <a:noFill/>
          <a:ln/>
        </p:spPr>
        <p:txBody>
          <a:bodyPr wrap="square" lIns="0" tIns="0" rIns="0" bIns="0" rtlCol="0" anchor="ctr"/>
          <a:lstStyle/>
          <a:p>
            <a:pPr indent="0" marL="0">
              <a:buNone/>
            </a:pPr>
            <a:r>
              <a:rPr lang="en-US" sz="1100" dirty="0">
                <a:solidFill>
                  <a:srgbClr val="00B4D8"/>
                </a:solidFill>
                <a:latin typeface="Calibri" pitchFamily="34" charset="0"/>
                <a:ea typeface="Calibri" pitchFamily="34" charset="-122"/>
                <a:cs typeface="Calibri" pitchFamily="34" charset="-120"/>
              </a:rPr>
              <a:t>End-to-end request journey through the microservice mesh</a:t>
            </a:r>
            <a:endParaRPr lang="en-US" sz="1100" dirty="0"/>
          </a:p>
        </p:txBody>
      </p:sp>
      <p:sp>
        <p:nvSpPr>
          <p:cNvPr id="5" name="Shape 3"/>
          <p:cNvSpPr/>
          <p:nvPr/>
        </p:nvSpPr>
        <p:spPr>
          <a:xfrm>
            <a:off x="201168" y="1005840"/>
            <a:ext cx="1938528" cy="1188720"/>
          </a:xfrm>
          <a:prstGeom prst="roundRect">
            <a:avLst>
              <a:gd name="adj" fmla="val 6154"/>
            </a:avLst>
          </a:prstGeom>
          <a:solidFill>
            <a:srgbClr val="0F2240"/>
          </a:solidFill>
          <a:ln w="19050">
            <a:solidFill>
              <a:srgbClr val="FFFFFF"/>
            </a:solidFill>
            <a:prstDash val="solid"/>
          </a:ln>
          <a:effectLst>
            <a:outerShdw sx="100000" sy="100000" kx="0" ky="0" algn="bl" rotWithShape="0" blurRad="127000" dist="38100" dir="2700000">
              <a:srgbClr val="000000">
                <a:alpha val="25000"/>
              </a:srgbClr>
            </a:outerShdw>
          </a:effectLst>
        </p:spPr>
      </p:sp>
      <p:pic>
        <p:nvPicPr>
          <p:cNvPr id="6" name="Image 0" descr="preencoded.png">    </p:cNvPr>
          <p:cNvPicPr>
            <a:picLocks noChangeAspect="1"/>
          </p:cNvPicPr>
          <p:nvPr/>
        </p:nvPicPr>
        <p:blipFill>
          <a:blip r:embed="rId1"/>
          <a:stretch>
            <a:fillRect/>
          </a:stretch>
        </p:blipFill>
        <p:spPr>
          <a:xfrm>
            <a:off x="987552" y="1078992"/>
            <a:ext cx="365760" cy="365760"/>
          </a:xfrm>
          <a:prstGeom prst="rect">
            <a:avLst/>
          </a:prstGeom>
        </p:spPr>
      </p:pic>
      <p:sp>
        <p:nvSpPr>
          <p:cNvPr id="7" name="Text 4"/>
          <p:cNvSpPr/>
          <p:nvPr/>
        </p:nvSpPr>
        <p:spPr>
          <a:xfrm>
            <a:off x="256032" y="1508760"/>
            <a:ext cx="1828800" cy="640080"/>
          </a:xfrm>
          <a:prstGeom prst="rect">
            <a:avLst/>
          </a:prstGeom>
          <a:noFill/>
          <a:ln/>
        </p:spPr>
        <p:txBody>
          <a:bodyPr wrap="square" lIns="0" tIns="0" rIns="0" bIns="0" rtlCol="0" anchor="t"/>
          <a:lstStyle/>
          <a:p>
            <a:pPr algn="ctr" indent="0" marL="0">
              <a:buNone/>
            </a:pPr>
            <a:r>
              <a:rPr lang="en-US" sz="1050" dirty="0">
                <a:solidFill>
                  <a:srgbClr val="FFFFFF"/>
                </a:solidFill>
                <a:latin typeface="Calibri" pitchFamily="34" charset="0"/>
                <a:ea typeface="Calibri" pitchFamily="34" charset="-122"/>
                <a:cs typeface="Calibri" pitchFamily="34" charset="-120"/>
              </a:rPr>
              <a:t>User</a:t>
            </a:r>
            <a:endParaRPr lang="en-US" sz="1050" dirty="0"/>
          </a:p>
          <a:p>
            <a:pPr algn="ctr" indent="0" marL="0">
              <a:buNone/>
            </a:pPr>
            <a:r>
              <a:rPr lang="en-US" sz="1050" dirty="0">
                <a:solidFill>
                  <a:srgbClr val="FFFFFF"/>
                </a:solidFill>
                <a:latin typeface="Calibri" pitchFamily="34" charset="0"/>
                <a:ea typeface="Calibri" pitchFamily="34" charset="-122"/>
                <a:cs typeface="Calibri" pitchFamily="34" charset="-120"/>
              </a:rPr>
              <a:t>Browser</a:t>
            </a:r>
            <a:endParaRPr lang="en-US" sz="1050" dirty="0"/>
          </a:p>
        </p:txBody>
      </p:sp>
      <p:sp>
        <p:nvSpPr>
          <p:cNvPr id="8" name="Shape 5"/>
          <p:cNvSpPr/>
          <p:nvPr/>
        </p:nvSpPr>
        <p:spPr>
          <a:xfrm>
            <a:off x="2139696" y="1600200"/>
            <a:ext cx="256032" cy="0"/>
          </a:xfrm>
          <a:prstGeom prst="line">
            <a:avLst/>
          </a:prstGeom>
          <a:noFill/>
          <a:ln w="19050">
            <a:solidFill>
              <a:srgbClr val="FFFFFF"/>
            </a:solidFill>
            <a:prstDash val="solid"/>
          </a:ln>
        </p:spPr>
      </p:sp>
      <p:sp>
        <p:nvSpPr>
          <p:cNvPr id="9" name="Shape 6"/>
          <p:cNvSpPr/>
          <p:nvPr/>
        </p:nvSpPr>
        <p:spPr>
          <a:xfrm>
            <a:off x="2395728" y="1005840"/>
            <a:ext cx="1938528" cy="1188720"/>
          </a:xfrm>
          <a:prstGeom prst="roundRect">
            <a:avLst>
              <a:gd name="adj" fmla="val 6154"/>
            </a:avLst>
          </a:prstGeom>
          <a:solidFill>
            <a:srgbClr val="0F2240"/>
          </a:solidFill>
          <a:ln w="19050">
            <a:solidFill>
              <a:srgbClr val="0078D4"/>
            </a:solidFill>
            <a:prstDash val="solid"/>
          </a:ln>
          <a:effectLst>
            <a:outerShdw sx="100000" sy="100000" kx="0" ky="0" algn="bl" rotWithShape="0" blurRad="127000" dist="38100" dir="2700000">
              <a:srgbClr val="000000">
                <a:alpha val="25000"/>
              </a:srgbClr>
            </a:outerShdw>
          </a:effectLst>
        </p:spPr>
      </p:sp>
      <p:pic>
        <p:nvPicPr>
          <p:cNvPr id="10" name="Image 1" descr="preencoded.png">    </p:cNvPr>
          <p:cNvPicPr>
            <a:picLocks noChangeAspect="1"/>
          </p:cNvPicPr>
          <p:nvPr/>
        </p:nvPicPr>
        <p:blipFill>
          <a:blip r:embed="rId2"/>
          <a:stretch>
            <a:fillRect/>
          </a:stretch>
        </p:blipFill>
        <p:spPr>
          <a:xfrm>
            <a:off x="3182112" y="1078992"/>
            <a:ext cx="365760" cy="365760"/>
          </a:xfrm>
          <a:prstGeom prst="rect">
            <a:avLst/>
          </a:prstGeom>
        </p:spPr>
      </p:pic>
      <p:sp>
        <p:nvSpPr>
          <p:cNvPr id="11" name="Text 7"/>
          <p:cNvSpPr/>
          <p:nvPr/>
        </p:nvSpPr>
        <p:spPr>
          <a:xfrm>
            <a:off x="2450592" y="1508760"/>
            <a:ext cx="1828800" cy="640080"/>
          </a:xfrm>
          <a:prstGeom prst="rect">
            <a:avLst/>
          </a:prstGeom>
          <a:noFill/>
          <a:ln/>
        </p:spPr>
        <p:txBody>
          <a:bodyPr wrap="square" lIns="0" tIns="0" rIns="0" bIns="0" rtlCol="0" anchor="t"/>
          <a:lstStyle/>
          <a:p>
            <a:pPr algn="ctr" indent="0" marL="0">
              <a:buNone/>
            </a:pPr>
            <a:r>
              <a:rPr lang="en-US" sz="1050" dirty="0">
                <a:solidFill>
                  <a:srgbClr val="FFFFFF"/>
                </a:solidFill>
                <a:latin typeface="Calibri" pitchFamily="34" charset="0"/>
                <a:ea typeface="Calibri" pitchFamily="34" charset="-122"/>
                <a:cs typeface="Calibri" pitchFamily="34" charset="-120"/>
              </a:rPr>
              <a:t>Frontend</a:t>
            </a:r>
            <a:endParaRPr lang="en-US" sz="1050" dirty="0"/>
          </a:p>
          <a:p>
            <a:pPr algn="ctr" indent="0" marL="0">
              <a:buNone/>
            </a:pPr>
            <a:r>
              <a:rPr lang="en-US" sz="1050" dirty="0">
                <a:solidFill>
                  <a:srgbClr val="FFFFFF"/>
                </a:solidFill>
                <a:latin typeface="Calibri" pitchFamily="34" charset="0"/>
                <a:ea typeface="Calibri" pitchFamily="34" charset="-122"/>
                <a:cs typeface="Calibri" pitchFamily="34" charset="-120"/>
              </a:rPr>
              <a:t>React</a:t>
            </a:r>
            <a:endParaRPr lang="en-US" sz="1050" dirty="0"/>
          </a:p>
        </p:txBody>
      </p:sp>
      <p:sp>
        <p:nvSpPr>
          <p:cNvPr id="12" name="Shape 8"/>
          <p:cNvSpPr/>
          <p:nvPr/>
        </p:nvSpPr>
        <p:spPr>
          <a:xfrm>
            <a:off x="4334256" y="1600200"/>
            <a:ext cx="256032" cy="0"/>
          </a:xfrm>
          <a:prstGeom prst="line">
            <a:avLst/>
          </a:prstGeom>
          <a:noFill/>
          <a:ln w="19050">
            <a:solidFill>
              <a:srgbClr val="0078D4"/>
            </a:solidFill>
            <a:prstDash val="solid"/>
          </a:ln>
        </p:spPr>
      </p:sp>
      <p:sp>
        <p:nvSpPr>
          <p:cNvPr id="13" name="Shape 9"/>
          <p:cNvSpPr/>
          <p:nvPr/>
        </p:nvSpPr>
        <p:spPr>
          <a:xfrm>
            <a:off x="4590288" y="1005840"/>
            <a:ext cx="1938528" cy="1188720"/>
          </a:xfrm>
          <a:prstGeom prst="roundRect">
            <a:avLst>
              <a:gd name="adj" fmla="val 6154"/>
            </a:avLst>
          </a:prstGeom>
          <a:solidFill>
            <a:srgbClr val="0F2240"/>
          </a:solidFill>
          <a:ln w="19050">
            <a:solidFill>
              <a:srgbClr val="00B4D8"/>
            </a:solidFill>
            <a:prstDash val="solid"/>
          </a:ln>
          <a:effectLst>
            <a:outerShdw sx="100000" sy="100000" kx="0" ky="0" algn="bl" rotWithShape="0" blurRad="127000" dist="38100" dir="2700000">
              <a:srgbClr val="000000">
                <a:alpha val="25000"/>
              </a:srgbClr>
            </a:outerShdw>
          </a:effectLst>
        </p:spPr>
      </p:sp>
      <p:pic>
        <p:nvPicPr>
          <p:cNvPr id="14" name="Image 2" descr="preencoded.png">    </p:cNvPr>
          <p:cNvPicPr>
            <a:picLocks noChangeAspect="1"/>
          </p:cNvPicPr>
          <p:nvPr/>
        </p:nvPicPr>
        <p:blipFill>
          <a:blip r:embed="rId3"/>
          <a:stretch>
            <a:fillRect/>
          </a:stretch>
        </p:blipFill>
        <p:spPr>
          <a:xfrm>
            <a:off x="5376672" y="1078992"/>
            <a:ext cx="365760" cy="365760"/>
          </a:xfrm>
          <a:prstGeom prst="rect">
            <a:avLst/>
          </a:prstGeom>
        </p:spPr>
      </p:pic>
      <p:sp>
        <p:nvSpPr>
          <p:cNvPr id="15" name="Text 10"/>
          <p:cNvSpPr/>
          <p:nvPr/>
        </p:nvSpPr>
        <p:spPr>
          <a:xfrm>
            <a:off x="4645152" y="1508760"/>
            <a:ext cx="1828800" cy="640080"/>
          </a:xfrm>
          <a:prstGeom prst="rect">
            <a:avLst/>
          </a:prstGeom>
          <a:noFill/>
          <a:ln/>
        </p:spPr>
        <p:txBody>
          <a:bodyPr wrap="square" lIns="0" tIns="0" rIns="0" bIns="0" rtlCol="0" anchor="t"/>
          <a:lstStyle/>
          <a:p>
            <a:pPr algn="ctr" indent="0" marL="0">
              <a:buNone/>
            </a:pPr>
            <a:r>
              <a:rPr lang="en-US" sz="1050" dirty="0">
                <a:solidFill>
                  <a:srgbClr val="FFFFFF"/>
                </a:solidFill>
                <a:latin typeface="Calibri" pitchFamily="34" charset="0"/>
                <a:ea typeface="Calibri" pitchFamily="34" charset="-122"/>
                <a:cs typeface="Calibri" pitchFamily="34" charset="-120"/>
              </a:rPr>
              <a:t>API</a:t>
            </a:r>
            <a:endParaRPr lang="en-US" sz="1050" dirty="0"/>
          </a:p>
          <a:p>
            <a:pPr algn="ctr" indent="0" marL="0">
              <a:buNone/>
            </a:pPr>
            <a:r>
              <a:rPr lang="en-US" sz="1050" dirty="0">
                <a:solidFill>
                  <a:srgbClr val="FFFFFF"/>
                </a:solidFill>
                <a:latin typeface="Calibri" pitchFamily="34" charset="0"/>
                <a:ea typeface="Calibri" pitchFamily="34" charset="-122"/>
                <a:cs typeface="Calibri" pitchFamily="34" charset="-120"/>
              </a:rPr>
              <a:t>Gateway</a:t>
            </a:r>
            <a:endParaRPr lang="en-US" sz="1050" dirty="0"/>
          </a:p>
        </p:txBody>
      </p:sp>
      <p:sp>
        <p:nvSpPr>
          <p:cNvPr id="16" name="Shape 11"/>
          <p:cNvSpPr/>
          <p:nvPr/>
        </p:nvSpPr>
        <p:spPr>
          <a:xfrm>
            <a:off x="6528816" y="1600200"/>
            <a:ext cx="256032" cy="0"/>
          </a:xfrm>
          <a:prstGeom prst="line">
            <a:avLst/>
          </a:prstGeom>
          <a:noFill/>
          <a:ln w="19050">
            <a:solidFill>
              <a:srgbClr val="00B4D8"/>
            </a:solidFill>
            <a:prstDash val="solid"/>
          </a:ln>
        </p:spPr>
      </p:sp>
      <p:sp>
        <p:nvSpPr>
          <p:cNvPr id="17" name="Shape 12"/>
          <p:cNvSpPr/>
          <p:nvPr/>
        </p:nvSpPr>
        <p:spPr>
          <a:xfrm>
            <a:off x="6784848" y="1005840"/>
            <a:ext cx="1938528" cy="1188720"/>
          </a:xfrm>
          <a:prstGeom prst="roundRect">
            <a:avLst>
              <a:gd name="adj" fmla="val 6154"/>
            </a:avLst>
          </a:prstGeom>
          <a:solidFill>
            <a:srgbClr val="0F2240"/>
          </a:solidFill>
          <a:ln w="19050">
            <a:solidFill>
              <a:srgbClr val="F59E0B"/>
            </a:solidFill>
            <a:prstDash val="solid"/>
          </a:ln>
          <a:effectLst>
            <a:outerShdw sx="100000" sy="100000" kx="0" ky="0" algn="bl" rotWithShape="0" blurRad="127000" dist="38100" dir="2700000">
              <a:srgbClr val="000000">
                <a:alpha val="25000"/>
              </a:srgbClr>
            </a:outerShdw>
          </a:effectLst>
        </p:spPr>
      </p:sp>
      <p:pic>
        <p:nvPicPr>
          <p:cNvPr id="18" name="Image 3" descr="preencoded.png">    </p:cNvPr>
          <p:cNvPicPr>
            <a:picLocks noChangeAspect="1"/>
          </p:cNvPicPr>
          <p:nvPr/>
        </p:nvPicPr>
        <p:blipFill>
          <a:blip r:embed="rId4"/>
          <a:stretch>
            <a:fillRect/>
          </a:stretch>
        </p:blipFill>
        <p:spPr>
          <a:xfrm>
            <a:off x="7571232" y="1078992"/>
            <a:ext cx="365760" cy="365760"/>
          </a:xfrm>
          <a:prstGeom prst="rect">
            <a:avLst/>
          </a:prstGeom>
        </p:spPr>
      </p:pic>
      <p:sp>
        <p:nvSpPr>
          <p:cNvPr id="19" name="Text 13"/>
          <p:cNvSpPr/>
          <p:nvPr/>
        </p:nvSpPr>
        <p:spPr>
          <a:xfrm>
            <a:off x="6839712" y="1508760"/>
            <a:ext cx="1828800" cy="640080"/>
          </a:xfrm>
          <a:prstGeom prst="rect">
            <a:avLst/>
          </a:prstGeom>
          <a:noFill/>
          <a:ln/>
        </p:spPr>
        <p:txBody>
          <a:bodyPr wrap="square" lIns="0" tIns="0" rIns="0" bIns="0" rtlCol="0" anchor="t"/>
          <a:lstStyle/>
          <a:p>
            <a:pPr algn="ctr" indent="0" marL="0">
              <a:buNone/>
            </a:pPr>
            <a:r>
              <a:rPr lang="en-US" sz="1050" dirty="0">
                <a:solidFill>
                  <a:srgbClr val="FFFFFF"/>
                </a:solidFill>
                <a:latin typeface="Calibri" pitchFamily="34" charset="0"/>
                <a:ea typeface="Calibri" pitchFamily="34" charset="-122"/>
                <a:cs typeface="Calibri" pitchFamily="34" charset="-120"/>
              </a:rPr>
              <a:t>Auth</a:t>
            </a:r>
            <a:endParaRPr lang="en-US" sz="1050" dirty="0"/>
          </a:p>
          <a:p>
            <a:pPr algn="ctr" indent="0" marL="0">
              <a:buNone/>
            </a:pPr>
            <a:r>
              <a:rPr lang="en-US" sz="1050" dirty="0">
                <a:solidFill>
                  <a:srgbClr val="FFFFFF"/>
                </a:solidFill>
                <a:latin typeface="Calibri" pitchFamily="34" charset="0"/>
                <a:ea typeface="Calibri" pitchFamily="34" charset="-122"/>
                <a:cs typeface="Calibri" pitchFamily="34" charset="-120"/>
              </a:rPr>
              <a:t>Validation</a:t>
            </a:r>
            <a:endParaRPr lang="en-US" sz="1050" dirty="0"/>
          </a:p>
        </p:txBody>
      </p:sp>
      <p:sp>
        <p:nvSpPr>
          <p:cNvPr id="20" name="Shape 14"/>
          <p:cNvSpPr/>
          <p:nvPr/>
        </p:nvSpPr>
        <p:spPr>
          <a:xfrm>
            <a:off x="7754112" y="2194560"/>
            <a:ext cx="0" cy="411480"/>
          </a:xfrm>
          <a:prstGeom prst="line">
            <a:avLst/>
          </a:prstGeom>
          <a:noFill/>
          <a:ln w="19050">
            <a:solidFill>
              <a:srgbClr val="F59E0B"/>
            </a:solidFill>
            <a:prstDash val="solid"/>
          </a:ln>
        </p:spPr>
      </p:sp>
      <p:sp>
        <p:nvSpPr>
          <p:cNvPr id="21" name="Shape 15"/>
          <p:cNvSpPr/>
          <p:nvPr/>
        </p:nvSpPr>
        <p:spPr>
          <a:xfrm>
            <a:off x="201168" y="2606040"/>
            <a:ext cx="1938528" cy="1188720"/>
          </a:xfrm>
          <a:prstGeom prst="roundRect">
            <a:avLst>
              <a:gd name="adj" fmla="val 6154"/>
            </a:avLst>
          </a:prstGeom>
          <a:solidFill>
            <a:srgbClr val="0F2240"/>
          </a:solidFill>
          <a:ln w="19050">
            <a:solidFill>
              <a:srgbClr val="00C896"/>
            </a:solidFill>
            <a:prstDash val="solid"/>
          </a:ln>
          <a:effectLst>
            <a:outerShdw sx="100000" sy="100000" kx="0" ky="0" algn="bl" rotWithShape="0" blurRad="127000" dist="38100" dir="2700000">
              <a:srgbClr val="000000">
                <a:alpha val="25000"/>
              </a:srgbClr>
            </a:outerShdw>
          </a:effectLst>
        </p:spPr>
      </p:sp>
      <p:pic>
        <p:nvPicPr>
          <p:cNvPr id="22" name="Image 4" descr="preencoded.png">    </p:cNvPr>
          <p:cNvPicPr>
            <a:picLocks noChangeAspect="1"/>
          </p:cNvPicPr>
          <p:nvPr/>
        </p:nvPicPr>
        <p:blipFill>
          <a:blip r:embed="rId5"/>
          <a:stretch>
            <a:fillRect/>
          </a:stretch>
        </p:blipFill>
        <p:spPr>
          <a:xfrm>
            <a:off x="987552" y="2679192"/>
            <a:ext cx="365760" cy="365760"/>
          </a:xfrm>
          <a:prstGeom prst="rect">
            <a:avLst/>
          </a:prstGeom>
        </p:spPr>
      </p:pic>
      <p:sp>
        <p:nvSpPr>
          <p:cNvPr id="23" name="Text 16"/>
          <p:cNvSpPr/>
          <p:nvPr/>
        </p:nvSpPr>
        <p:spPr>
          <a:xfrm>
            <a:off x="256032" y="3108960"/>
            <a:ext cx="1828800" cy="640080"/>
          </a:xfrm>
          <a:prstGeom prst="rect">
            <a:avLst/>
          </a:prstGeom>
          <a:noFill/>
          <a:ln/>
        </p:spPr>
        <p:txBody>
          <a:bodyPr wrap="square" lIns="0" tIns="0" rIns="0" bIns="0" rtlCol="0" anchor="t"/>
          <a:lstStyle/>
          <a:p>
            <a:pPr algn="ctr" indent="0" marL="0">
              <a:buNone/>
            </a:pPr>
            <a:r>
              <a:rPr lang="en-US" sz="1050" dirty="0">
                <a:solidFill>
                  <a:srgbClr val="FFFFFF"/>
                </a:solidFill>
                <a:latin typeface="Calibri" pitchFamily="34" charset="0"/>
                <a:ea typeface="Calibri" pitchFamily="34" charset="-122"/>
                <a:cs typeface="Calibri" pitchFamily="34" charset="-120"/>
              </a:rPr>
              <a:t>Intelligence</a:t>
            </a:r>
            <a:endParaRPr lang="en-US" sz="1050" dirty="0"/>
          </a:p>
          <a:p>
            <a:pPr algn="ctr" indent="0" marL="0">
              <a:buNone/>
            </a:pPr>
            <a:r>
              <a:rPr lang="en-US" sz="1050" dirty="0">
                <a:solidFill>
                  <a:srgbClr val="FFFFFF"/>
                </a:solidFill>
                <a:latin typeface="Calibri" pitchFamily="34" charset="0"/>
                <a:ea typeface="Calibri" pitchFamily="34" charset="-122"/>
                <a:cs typeface="Calibri" pitchFamily="34" charset="-120"/>
              </a:rPr>
              <a:t>Service</a:t>
            </a:r>
            <a:endParaRPr lang="en-US" sz="1050" dirty="0"/>
          </a:p>
        </p:txBody>
      </p:sp>
      <p:sp>
        <p:nvSpPr>
          <p:cNvPr id="24" name="Shape 17"/>
          <p:cNvSpPr/>
          <p:nvPr/>
        </p:nvSpPr>
        <p:spPr>
          <a:xfrm>
            <a:off x="2139696" y="3200400"/>
            <a:ext cx="256032" cy="0"/>
          </a:xfrm>
          <a:prstGeom prst="line">
            <a:avLst/>
          </a:prstGeom>
          <a:noFill/>
          <a:ln w="19050">
            <a:solidFill>
              <a:srgbClr val="00C896"/>
            </a:solidFill>
            <a:prstDash val="solid"/>
          </a:ln>
        </p:spPr>
      </p:sp>
      <p:sp>
        <p:nvSpPr>
          <p:cNvPr id="25" name="Shape 18"/>
          <p:cNvSpPr/>
          <p:nvPr/>
        </p:nvSpPr>
        <p:spPr>
          <a:xfrm>
            <a:off x="2395728" y="2606040"/>
            <a:ext cx="1938528" cy="1188720"/>
          </a:xfrm>
          <a:prstGeom prst="roundRect">
            <a:avLst>
              <a:gd name="adj" fmla="val 6154"/>
            </a:avLst>
          </a:prstGeom>
          <a:solidFill>
            <a:srgbClr val="0F2240"/>
          </a:solidFill>
          <a:ln w="19050">
            <a:solidFill>
              <a:srgbClr val="8B5CF6"/>
            </a:solidFill>
            <a:prstDash val="solid"/>
          </a:ln>
          <a:effectLst>
            <a:outerShdw sx="100000" sy="100000" kx="0" ky="0" algn="bl" rotWithShape="0" blurRad="127000" dist="38100" dir="2700000">
              <a:srgbClr val="000000">
                <a:alpha val="25000"/>
              </a:srgbClr>
            </a:outerShdw>
          </a:effectLst>
        </p:spPr>
      </p:sp>
      <p:pic>
        <p:nvPicPr>
          <p:cNvPr id="26" name="Image 5" descr="preencoded.png">    </p:cNvPr>
          <p:cNvPicPr>
            <a:picLocks noChangeAspect="1"/>
          </p:cNvPicPr>
          <p:nvPr/>
        </p:nvPicPr>
        <p:blipFill>
          <a:blip r:embed="rId6"/>
          <a:stretch>
            <a:fillRect/>
          </a:stretch>
        </p:blipFill>
        <p:spPr>
          <a:xfrm>
            <a:off x="3182112" y="2679192"/>
            <a:ext cx="365760" cy="365760"/>
          </a:xfrm>
          <a:prstGeom prst="rect">
            <a:avLst/>
          </a:prstGeom>
        </p:spPr>
      </p:pic>
      <p:sp>
        <p:nvSpPr>
          <p:cNvPr id="27" name="Text 19"/>
          <p:cNvSpPr/>
          <p:nvPr/>
        </p:nvSpPr>
        <p:spPr>
          <a:xfrm>
            <a:off x="2450592" y="3108960"/>
            <a:ext cx="1828800" cy="640080"/>
          </a:xfrm>
          <a:prstGeom prst="rect">
            <a:avLst/>
          </a:prstGeom>
          <a:noFill/>
          <a:ln/>
        </p:spPr>
        <p:txBody>
          <a:bodyPr wrap="square" lIns="0" tIns="0" rIns="0" bIns="0" rtlCol="0" anchor="t"/>
          <a:lstStyle/>
          <a:p>
            <a:pPr algn="ctr" indent="0" marL="0">
              <a:buNone/>
            </a:pPr>
            <a:r>
              <a:rPr lang="en-US" sz="1050" dirty="0">
                <a:solidFill>
                  <a:srgbClr val="FFFFFF"/>
                </a:solidFill>
                <a:latin typeface="Calibri" pitchFamily="34" charset="0"/>
                <a:ea typeface="Calibri" pitchFamily="34" charset="-122"/>
                <a:cs typeface="Calibri" pitchFamily="34" charset="-120"/>
              </a:rPr>
              <a:t>AI RCA</a:t>
            </a:r>
            <a:endParaRPr lang="en-US" sz="1050" dirty="0"/>
          </a:p>
          <a:p>
            <a:pPr algn="ctr" indent="0" marL="0">
              <a:buNone/>
            </a:pPr>
            <a:r>
              <a:rPr lang="en-US" sz="1050" dirty="0">
                <a:solidFill>
                  <a:srgbClr val="FFFFFF"/>
                </a:solidFill>
                <a:latin typeface="Calibri" pitchFamily="34" charset="0"/>
                <a:ea typeface="Calibri" pitchFamily="34" charset="-122"/>
                <a:cs typeface="Calibri" pitchFamily="34" charset="-120"/>
              </a:rPr>
              <a:t>Service</a:t>
            </a:r>
            <a:endParaRPr lang="en-US" sz="1050" dirty="0"/>
          </a:p>
        </p:txBody>
      </p:sp>
      <p:sp>
        <p:nvSpPr>
          <p:cNvPr id="28" name="Shape 20"/>
          <p:cNvSpPr/>
          <p:nvPr/>
        </p:nvSpPr>
        <p:spPr>
          <a:xfrm>
            <a:off x="4334256" y="3200400"/>
            <a:ext cx="256032" cy="0"/>
          </a:xfrm>
          <a:prstGeom prst="line">
            <a:avLst/>
          </a:prstGeom>
          <a:noFill/>
          <a:ln w="19050">
            <a:solidFill>
              <a:srgbClr val="8B5CF6"/>
            </a:solidFill>
            <a:prstDash val="solid"/>
          </a:ln>
        </p:spPr>
      </p:sp>
      <p:sp>
        <p:nvSpPr>
          <p:cNvPr id="29" name="Shape 21"/>
          <p:cNvSpPr/>
          <p:nvPr/>
        </p:nvSpPr>
        <p:spPr>
          <a:xfrm>
            <a:off x="4590288" y="2606040"/>
            <a:ext cx="1938528" cy="1188720"/>
          </a:xfrm>
          <a:prstGeom prst="roundRect">
            <a:avLst>
              <a:gd name="adj" fmla="val 6154"/>
            </a:avLst>
          </a:prstGeom>
          <a:solidFill>
            <a:srgbClr val="0F2240"/>
          </a:solidFill>
          <a:ln w="19050">
            <a:solidFill>
              <a:srgbClr val="F59E0B"/>
            </a:solidFill>
            <a:prstDash val="solid"/>
          </a:ln>
          <a:effectLst>
            <a:outerShdw sx="100000" sy="100000" kx="0" ky="0" algn="bl" rotWithShape="0" blurRad="127000" dist="38100" dir="2700000">
              <a:srgbClr val="000000">
                <a:alpha val="25000"/>
              </a:srgbClr>
            </a:outerShdw>
          </a:effectLst>
        </p:spPr>
      </p:sp>
      <p:pic>
        <p:nvPicPr>
          <p:cNvPr id="30" name="Image 6" descr="preencoded.png">    </p:cNvPr>
          <p:cNvPicPr>
            <a:picLocks noChangeAspect="1"/>
          </p:cNvPicPr>
          <p:nvPr/>
        </p:nvPicPr>
        <p:blipFill>
          <a:blip r:embed="rId7"/>
          <a:stretch>
            <a:fillRect/>
          </a:stretch>
        </p:blipFill>
        <p:spPr>
          <a:xfrm>
            <a:off x="5376672" y="2679192"/>
            <a:ext cx="365760" cy="365760"/>
          </a:xfrm>
          <a:prstGeom prst="rect">
            <a:avLst/>
          </a:prstGeom>
        </p:spPr>
      </p:pic>
      <p:sp>
        <p:nvSpPr>
          <p:cNvPr id="31" name="Text 22"/>
          <p:cNvSpPr/>
          <p:nvPr/>
        </p:nvSpPr>
        <p:spPr>
          <a:xfrm>
            <a:off x="4645152" y="3108960"/>
            <a:ext cx="1828800" cy="640080"/>
          </a:xfrm>
          <a:prstGeom prst="rect">
            <a:avLst/>
          </a:prstGeom>
          <a:noFill/>
          <a:ln/>
        </p:spPr>
        <p:txBody>
          <a:bodyPr wrap="square" lIns="0" tIns="0" rIns="0" bIns="0" rtlCol="0" anchor="t"/>
          <a:lstStyle/>
          <a:p>
            <a:pPr algn="ctr" indent="0" marL="0">
              <a:buNone/>
            </a:pPr>
            <a:r>
              <a:rPr lang="en-US" sz="1050" dirty="0">
                <a:solidFill>
                  <a:srgbClr val="FFFFFF"/>
                </a:solidFill>
                <a:latin typeface="Calibri" pitchFamily="34" charset="0"/>
                <a:ea typeface="Calibri" pitchFamily="34" charset="-122"/>
                <a:cs typeface="Calibri" pitchFamily="34" charset="-120"/>
              </a:rPr>
              <a:t>Notification</a:t>
            </a:r>
            <a:endParaRPr lang="en-US" sz="1050" dirty="0"/>
          </a:p>
          <a:p>
            <a:pPr algn="ctr" indent="0" marL="0">
              <a:buNone/>
            </a:pPr>
            <a:r>
              <a:rPr lang="en-US" sz="1050" dirty="0">
                <a:solidFill>
                  <a:srgbClr val="FFFFFF"/>
                </a:solidFill>
                <a:latin typeface="Calibri" pitchFamily="34" charset="0"/>
                <a:ea typeface="Calibri" pitchFamily="34" charset="-122"/>
                <a:cs typeface="Calibri" pitchFamily="34" charset="-120"/>
              </a:rPr>
              <a:t>Service</a:t>
            </a:r>
            <a:endParaRPr lang="en-US" sz="1050" dirty="0"/>
          </a:p>
        </p:txBody>
      </p:sp>
      <p:sp>
        <p:nvSpPr>
          <p:cNvPr id="32" name="Shape 23"/>
          <p:cNvSpPr/>
          <p:nvPr/>
        </p:nvSpPr>
        <p:spPr>
          <a:xfrm>
            <a:off x="6528816" y="3200400"/>
            <a:ext cx="256032" cy="0"/>
          </a:xfrm>
          <a:prstGeom prst="line">
            <a:avLst/>
          </a:prstGeom>
          <a:noFill/>
          <a:ln w="19050">
            <a:solidFill>
              <a:srgbClr val="F59E0B"/>
            </a:solidFill>
            <a:prstDash val="solid"/>
          </a:ln>
        </p:spPr>
      </p:sp>
      <p:sp>
        <p:nvSpPr>
          <p:cNvPr id="33" name="Shape 24"/>
          <p:cNvSpPr/>
          <p:nvPr/>
        </p:nvSpPr>
        <p:spPr>
          <a:xfrm>
            <a:off x="6784848" y="2606040"/>
            <a:ext cx="1938528" cy="1188720"/>
          </a:xfrm>
          <a:prstGeom prst="roundRect">
            <a:avLst>
              <a:gd name="adj" fmla="val 6154"/>
            </a:avLst>
          </a:prstGeom>
          <a:solidFill>
            <a:srgbClr val="0F2240"/>
          </a:solidFill>
          <a:ln w="19050">
            <a:solidFill>
              <a:srgbClr val="10B981"/>
            </a:solidFill>
            <a:prstDash val="solid"/>
          </a:ln>
          <a:effectLst>
            <a:outerShdw sx="100000" sy="100000" kx="0" ky="0" algn="bl" rotWithShape="0" blurRad="127000" dist="38100" dir="2700000">
              <a:srgbClr val="000000">
                <a:alpha val="25000"/>
              </a:srgbClr>
            </a:outerShdw>
          </a:effectLst>
        </p:spPr>
      </p:sp>
      <p:pic>
        <p:nvPicPr>
          <p:cNvPr id="34" name="Image 7" descr="preencoded.png">    </p:cNvPr>
          <p:cNvPicPr>
            <a:picLocks noChangeAspect="1"/>
          </p:cNvPicPr>
          <p:nvPr/>
        </p:nvPicPr>
        <p:blipFill>
          <a:blip r:embed="rId8"/>
          <a:stretch>
            <a:fillRect/>
          </a:stretch>
        </p:blipFill>
        <p:spPr>
          <a:xfrm>
            <a:off x="7571232" y="2679192"/>
            <a:ext cx="365760" cy="365760"/>
          </a:xfrm>
          <a:prstGeom prst="rect">
            <a:avLst/>
          </a:prstGeom>
        </p:spPr>
      </p:pic>
      <p:sp>
        <p:nvSpPr>
          <p:cNvPr id="35" name="Text 25"/>
          <p:cNvSpPr/>
          <p:nvPr/>
        </p:nvSpPr>
        <p:spPr>
          <a:xfrm>
            <a:off x="6839712" y="3108960"/>
            <a:ext cx="1828800" cy="640080"/>
          </a:xfrm>
          <a:prstGeom prst="rect">
            <a:avLst/>
          </a:prstGeom>
          <a:noFill/>
          <a:ln/>
        </p:spPr>
        <p:txBody>
          <a:bodyPr wrap="square" lIns="0" tIns="0" rIns="0" bIns="0" rtlCol="0" anchor="t"/>
          <a:lstStyle/>
          <a:p>
            <a:pPr algn="ctr" indent="0" marL="0">
              <a:buNone/>
            </a:pPr>
            <a:r>
              <a:rPr lang="en-US" sz="1050" dirty="0">
                <a:solidFill>
                  <a:srgbClr val="FFFFFF"/>
                </a:solidFill>
                <a:latin typeface="Calibri" pitchFamily="34" charset="0"/>
                <a:ea typeface="Calibri" pitchFamily="34" charset="-122"/>
                <a:cs typeface="Calibri" pitchFamily="34" charset="-120"/>
              </a:rPr>
              <a:t>Dashboard</a:t>
            </a:r>
            <a:endParaRPr lang="en-US" sz="1050" dirty="0"/>
          </a:p>
          <a:p>
            <a:pPr algn="ctr" indent="0" marL="0">
              <a:buNone/>
            </a:pPr>
            <a:r>
              <a:rPr lang="en-US" sz="1050" dirty="0">
                <a:solidFill>
                  <a:srgbClr val="FFFFFF"/>
                </a:solidFill>
                <a:latin typeface="Calibri" pitchFamily="34" charset="0"/>
                <a:ea typeface="Calibri" pitchFamily="34" charset="-122"/>
                <a:cs typeface="Calibri" pitchFamily="34" charset="-120"/>
              </a:rPr>
              <a:t>Response</a:t>
            </a:r>
            <a:endParaRPr lang="en-US" sz="1050" dirty="0"/>
          </a:p>
        </p:txBody>
      </p:sp>
      <p:sp>
        <p:nvSpPr>
          <p:cNvPr id="36" name="Shape 26"/>
          <p:cNvSpPr/>
          <p:nvPr/>
        </p:nvSpPr>
        <p:spPr>
          <a:xfrm>
            <a:off x="201168" y="4617720"/>
            <a:ext cx="1938528" cy="365760"/>
          </a:xfrm>
          <a:prstGeom prst="roundRect">
            <a:avLst>
              <a:gd name="adj" fmla="val 20000"/>
            </a:avLst>
          </a:prstGeom>
          <a:solidFill>
            <a:srgbClr val="07163A"/>
          </a:solidFill>
          <a:ln w="12700">
            <a:solidFill>
              <a:srgbClr val="00C896"/>
            </a:solidFill>
            <a:prstDash val="solid"/>
          </a:ln>
          <a:effectLst>
            <a:outerShdw sx="100000" sy="100000" kx="0" ky="0" algn="bl" rotWithShape="0" blurRad="127000" dist="38100" dir="2700000">
              <a:srgbClr val="000000">
                <a:alpha val="25000"/>
              </a:srgbClr>
            </a:outerShdw>
          </a:effectLst>
        </p:spPr>
      </p:sp>
      <p:sp>
        <p:nvSpPr>
          <p:cNvPr id="37" name="Text 27"/>
          <p:cNvSpPr/>
          <p:nvPr/>
        </p:nvSpPr>
        <p:spPr>
          <a:xfrm>
            <a:off x="256032" y="4636008"/>
            <a:ext cx="1828800" cy="329184"/>
          </a:xfrm>
          <a:prstGeom prst="rect">
            <a:avLst/>
          </a:prstGeom>
          <a:noFill/>
          <a:ln/>
        </p:spPr>
        <p:txBody>
          <a:bodyPr wrap="square" lIns="0" tIns="0" rIns="0" bIns="0" rtlCol="0" anchor="ctr"/>
          <a:lstStyle/>
          <a:p>
            <a:pPr algn="ctr" indent="0" marL="0">
              <a:buNone/>
            </a:pPr>
            <a:r>
              <a:rPr lang="en-US" sz="850" dirty="0">
                <a:solidFill>
                  <a:srgbClr val="00C896"/>
                </a:solidFill>
                <a:latin typeface="Calibri" pitchFamily="34" charset="0"/>
                <a:ea typeface="Calibri" pitchFamily="34" charset="-122"/>
                <a:cs typeface="Calibri" pitchFamily="34" charset="-120"/>
              </a:rPr>
              <a:t>GitHub Failure Analysis</a:t>
            </a:r>
            <a:endParaRPr lang="en-US" sz="850" dirty="0"/>
          </a:p>
        </p:txBody>
      </p:sp>
      <p:sp>
        <p:nvSpPr>
          <p:cNvPr id="38" name="Shape 28"/>
          <p:cNvSpPr/>
          <p:nvPr/>
        </p:nvSpPr>
        <p:spPr>
          <a:xfrm>
            <a:off x="2395728" y="4617720"/>
            <a:ext cx="1938528" cy="365760"/>
          </a:xfrm>
          <a:prstGeom prst="roundRect">
            <a:avLst>
              <a:gd name="adj" fmla="val 20000"/>
            </a:avLst>
          </a:prstGeom>
          <a:solidFill>
            <a:srgbClr val="07163A"/>
          </a:solidFill>
          <a:ln w="12700">
            <a:solidFill>
              <a:srgbClr val="0078D4"/>
            </a:solidFill>
            <a:prstDash val="solid"/>
          </a:ln>
          <a:effectLst>
            <a:outerShdw sx="100000" sy="100000" kx="0" ky="0" algn="bl" rotWithShape="0" blurRad="127000" dist="38100" dir="2700000">
              <a:srgbClr val="000000">
                <a:alpha val="25000"/>
              </a:srgbClr>
            </a:outerShdw>
          </a:effectLst>
        </p:spPr>
      </p:sp>
      <p:sp>
        <p:nvSpPr>
          <p:cNvPr id="39" name="Text 29"/>
          <p:cNvSpPr/>
          <p:nvPr/>
        </p:nvSpPr>
        <p:spPr>
          <a:xfrm>
            <a:off x="2450592" y="4636008"/>
            <a:ext cx="1828800" cy="329184"/>
          </a:xfrm>
          <a:prstGeom prst="rect">
            <a:avLst/>
          </a:prstGeom>
          <a:noFill/>
          <a:ln/>
        </p:spPr>
        <p:txBody>
          <a:bodyPr wrap="square" lIns="0" tIns="0" rIns="0" bIns="0" rtlCol="0" anchor="ctr"/>
          <a:lstStyle/>
          <a:p>
            <a:pPr algn="ctr" indent="0" marL="0">
              <a:buNone/>
            </a:pPr>
            <a:r>
              <a:rPr lang="en-US" sz="850" dirty="0">
                <a:solidFill>
                  <a:srgbClr val="0078D4"/>
                </a:solidFill>
                <a:latin typeface="Calibri" pitchFamily="34" charset="0"/>
                <a:ea typeface="Calibri" pitchFamily="34" charset="-122"/>
                <a:cs typeface="Calibri" pitchFamily="34" charset="-120"/>
              </a:rPr>
              <a:t>Azure Resource Health</a:t>
            </a:r>
            <a:endParaRPr lang="en-US" sz="850" dirty="0"/>
          </a:p>
        </p:txBody>
      </p:sp>
      <p:sp>
        <p:nvSpPr>
          <p:cNvPr id="40" name="Shape 30"/>
          <p:cNvSpPr/>
          <p:nvPr/>
        </p:nvSpPr>
        <p:spPr>
          <a:xfrm>
            <a:off x="4590288" y="4617720"/>
            <a:ext cx="1938528" cy="365760"/>
          </a:xfrm>
          <a:prstGeom prst="roundRect">
            <a:avLst>
              <a:gd name="adj" fmla="val 20000"/>
            </a:avLst>
          </a:prstGeom>
          <a:solidFill>
            <a:srgbClr val="07163A"/>
          </a:solidFill>
          <a:ln w="12700">
            <a:solidFill>
              <a:srgbClr val="8B5CF6"/>
            </a:solidFill>
            <a:prstDash val="solid"/>
          </a:ln>
          <a:effectLst>
            <a:outerShdw sx="100000" sy="100000" kx="0" ky="0" algn="bl" rotWithShape="0" blurRad="127000" dist="38100" dir="2700000">
              <a:srgbClr val="000000">
                <a:alpha val="25000"/>
              </a:srgbClr>
            </a:outerShdw>
          </a:effectLst>
        </p:spPr>
      </p:sp>
      <p:sp>
        <p:nvSpPr>
          <p:cNvPr id="41" name="Text 31"/>
          <p:cNvSpPr/>
          <p:nvPr/>
        </p:nvSpPr>
        <p:spPr>
          <a:xfrm>
            <a:off x="4645152" y="4636008"/>
            <a:ext cx="1828800" cy="329184"/>
          </a:xfrm>
          <a:prstGeom prst="rect">
            <a:avLst/>
          </a:prstGeom>
          <a:noFill/>
          <a:ln/>
        </p:spPr>
        <p:txBody>
          <a:bodyPr wrap="square" lIns="0" tIns="0" rIns="0" bIns="0" rtlCol="0" anchor="ctr"/>
          <a:lstStyle/>
          <a:p>
            <a:pPr algn="ctr" indent="0" marL="0">
              <a:buNone/>
            </a:pPr>
            <a:r>
              <a:rPr lang="en-US" sz="850" dirty="0">
                <a:solidFill>
                  <a:srgbClr val="8B5CF6"/>
                </a:solidFill>
                <a:latin typeface="Calibri" pitchFamily="34" charset="0"/>
                <a:ea typeface="Calibri" pitchFamily="34" charset="-122"/>
                <a:cs typeface="Calibri" pitchFamily="34" charset="-120"/>
              </a:rPr>
              <a:t>AI Root Cause Analysis</a:t>
            </a:r>
            <a:endParaRPr lang="en-US" sz="850" dirty="0"/>
          </a:p>
        </p:txBody>
      </p:sp>
      <p:sp>
        <p:nvSpPr>
          <p:cNvPr id="42" name="Shape 32"/>
          <p:cNvSpPr/>
          <p:nvPr/>
        </p:nvSpPr>
        <p:spPr>
          <a:xfrm>
            <a:off x="6784848" y="4617720"/>
            <a:ext cx="1938528" cy="365760"/>
          </a:xfrm>
          <a:prstGeom prst="roundRect">
            <a:avLst>
              <a:gd name="adj" fmla="val 20000"/>
            </a:avLst>
          </a:prstGeom>
          <a:solidFill>
            <a:srgbClr val="07163A"/>
          </a:solidFill>
          <a:ln w="12700">
            <a:solidFill>
              <a:srgbClr val="F59E0B"/>
            </a:solidFill>
            <a:prstDash val="solid"/>
          </a:ln>
          <a:effectLst>
            <a:outerShdw sx="100000" sy="100000" kx="0" ky="0" algn="bl" rotWithShape="0" blurRad="127000" dist="38100" dir="2700000">
              <a:srgbClr val="000000">
                <a:alpha val="25000"/>
              </a:srgbClr>
            </a:outerShdw>
          </a:effectLst>
        </p:spPr>
      </p:sp>
      <p:sp>
        <p:nvSpPr>
          <p:cNvPr id="43" name="Text 33"/>
          <p:cNvSpPr/>
          <p:nvPr/>
        </p:nvSpPr>
        <p:spPr>
          <a:xfrm>
            <a:off x="6839712" y="4636008"/>
            <a:ext cx="1828800" cy="329184"/>
          </a:xfrm>
          <a:prstGeom prst="rect">
            <a:avLst/>
          </a:prstGeom>
          <a:noFill/>
          <a:ln/>
        </p:spPr>
        <p:txBody>
          <a:bodyPr wrap="square" lIns="0" tIns="0" rIns="0" bIns="0" rtlCol="0" anchor="ctr"/>
          <a:lstStyle/>
          <a:p>
            <a:pPr algn="ctr" indent="0" marL="0">
              <a:buNone/>
            </a:pPr>
            <a:r>
              <a:rPr lang="en-US" sz="850" dirty="0">
                <a:solidFill>
                  <a:srgbClr val="F59E0B"/>
                </a:solidFill>
                <a:latin typeface="Calibri" pitchFamily="34" charset="0"/>
                <a:ea typeface="Calibri" pitchFamily="34" charset="-122"/>
                <a:cs typeface="Calibri" pitchFamily="34" charset="-120"/>
              </a:rPr>
              <a:t>Email / Slack Alert</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F2240"/>
          </a:solidFill>
          <a:ln/>
        </p:spPr>
      </p:sp>
      <p:sp>
        <p:nvSpPr>
          <p:cNvPr id="3" name="Text 1"/>
          <p:cNvSpPr/>
          <p:nvPr/>
        </p:nvSpPr>
        <p:spPr>
          <a:xfrm>
            <a:off x="274320" y="73152"/>
            <a:ext cx="8595360" cy="54864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Security, Monitoring &amp; Reliability</a:t>
            </a:r>
            <a:endParaRPr lang="en-US" sz="2200" dirty="0"/>
          </a:p>
        </p:txBody>
      </p:sp>
      <p:sp>
        <p:nvSpPr>
          <p:cNvPr id="4" name="Text 2"/>
          <p:cNvSpPr/>
          <p:nvPr/>
        </p:nvSpPr>
        <p:spPr>
          <a:xfrm>
            <a:off x="274320" y="548640"/>
            <a:ext cx="8595360" cy="256032"/>
          </a:xfrm>
          <a:prstGeom prst="rect">
            <a:avLst/>
          </a:prstGeom>
          <a:noFill/>
          <a:ln/>
        </p:spPr>
        <p:txBody>
          <a:bodyPr wrap="square" lIns="0" tIns="0" rIns="0" bIns="0" rtlCol="0" anchor="ctr"/>
          <a:lstStyle/>
          <a:p>
            <a:pPr indent="0" marL="0">
              <a:buNone/>
            </a:pPr>
            <a:r>
              <a:rPr lang="en-US" sz="1100" dirty="0">
                <a:solidFill>
                  <a:srgbClr val="00B4D8"/>
                </a:solidFill>
                <a:latin typeface="Calibri" pitchFamily="34" charset="0"/>
                <a:ea typeface="Calibri" pitchFamily="34" charset="-122"/>
                <a:cs typeface="Calibri" pitchFamily="34" charset="-120"/>
              </a:rPr>
              <a:t>Defence in depth — shift-left scanning, zero-trust, and observability</a:t>
            </a:r>
            <a:endParaRPr lang="en-US" sz="1100" dirty="0"/>
          </a:p>
        </p:txBody>
      </p:sp>
      <p:sp>
        <p:nvSpPr>
          <p:cNvPr id="5" name="Shape 3"/>
          <p:cNvSpPr/>
          <p:nvPr/>
        </p:nvSpPr>
        <p:spPr>
          <a:xfrm>
            <a:off x="228600" y="960120"/>
            <a:ext cx="4251960" cy="1920240"/>
          </a:xfrm>
          <a:prstGeom prst="roundRect">
            <a:avLst>
              <a:gd name="adj" fmla="val 3810"/>
            </a:avLst>
          </a:prstGeom>
          <a:solidFill>
            <a:srgbClr val="0F2240"/>
          </a:solidFill>
          <a:ln w="19050">
            <a:solidFill>
              <a:srgbClr val="F59E0B"/>
            </a:solidFill>
            <a:prstDash val="solid"/>
          </a:ln>
          <a:effectLst>
            <a:outerShdw sx="100000" sy="100000" kx="0" ky="0" algn="bl" rotWithShape="0" blurRad="127000" dist="38100" dir="2700000">
              <a:srgbClr val="000000">
                <a:alpha val="25000"/>
              </a:srgbClr>
            </a:outerShdw>
          </a:effectLst>
        </p:spPr>
      </p:sp>
      <p:pic>
        <p:nvPicPr>
          <p:cNvPr id="6" name="Image 0" descr="preencoded.png">    </p:cNvPr>
          <p:cNvPicPr>
            <a:picLocks noChangeAspect="1"/>
          </p:cNvPicPr>
          <p:nvPr/>
        </p:nvPicPr>
        <p:blipFill>
          <a:blip r:embed="rId1"/>
          <a:stretch>
            <a:fillRect/>
          </a:stretch>
        </p:blipFill>
        <p:spPr>
          <a:xfrm>
            <a:off x="338328" y="1051560"/>
            <a:ext cx="365760" cy="365760"/>
          </a:xfrm>
          <a:prstGeom prst="rect">
            <a:avLst/>
          </a:prstGeom>
        </p:spPr>
      </p:pic>
      <p:sp>
        <p:nvSpPr>
          <p:cNvPr id="7" name="Text 4"/>
          <p:cNvSpPr/>
          <p:nvPr/>
        </p:nvSpPr>
        <p:spPr>
          <a:xfrm>
            <a:off x="758952" y="1069848"/>
            <a:ext cx="3657600" cy="320040"/>
          </a:xfrm>
          <a:prstGeom prst="rect">
            <a:avLst/>
          </a:prstGeom>
          <a:noFill/>
          <a:ln/>
        </p:spPr>
        <p:txBody>
          <a:bodyPr wrap="square" lIns="0" tIns="0" rIns="0" bIns="0" rtlCol="0" anchor="ctr"/>
          <a:lstStyle/>
          <a:p>
            <a:pPr indent="0" marL="0">
              <a:buNone/>
            </a:pPr>
            <a:r>
              <a:rPr lang="en-US" sz="1200" b="1" dirty="0">
                <a:solidFill>
                  <a:srgbClr val="F59E0B"/>
                </a:solidFill>
                <a:latin typeface="Calibri" pitchFamily="34" charset="0"/>
                <a:ea typeface="Calibri" pitchFamily="34" charset="-122"/>
                <a:cs typeface="Calibri" pitchFamily="34" charset="-120"/>
              </a:rPr>
              <a:t>Secrets &amp; Identity</a:t>
            </a:r>
            <a:endParaRPr lang="en-US" sz="1200" dirty="0"/>
          </a:p>
        </p:txBody>
      </p:sp>
      <p:sp>
        <p:nvSpPr>
          <p:cNvPr id="8" name="Text 5"/>
          <p:cNvSpPr/>
          <p:nvPr/>
        </p:nvSpPr>
        <p:spPr>
          <a:xfrm>
            <a:off x="365760" y="1490472"/>
            <a:ext cx="3977640" cy="310896"/>
          </a:xfrm>
          <a:prstGeom prst="rect">
            <a:avLst/>
          </a:prstGeom>
          <a:noFill/>
          <a:ln/>
        </p:spPr>
        <p:txBody>
          <a:bodyPr wrap="square" lIns="0" tIns="0" rIns="0" bIns="0" rtlCol="0" anchor="ctr"/>
          <a:lstStyle/>
          <a:p>
            <a:pPr indent="0" marL="0">
              <a:buNone/>
            </a:pPr>
            <a:r>
              <a:rPr lang="en-US" sz="1000" dirty="0">
                <a:solidFill>
                  <a:srgbClr val="CBD5E1"/>
                </a:solidFill>
                <a:latin typeface="Calibri" pitchFamily="34" charset="0"/>
                <a:ea typeface="Calibri" pitchFamily="34" charset="-122"/>
                <a:cs typeface="Calibri" pitchFamily="34" charset="-120"/>
              </a:rPr>
              <a:t>✔  No hardcoded secrets anywhere</a:t>
            </a:r>
            <a:endParaRPr lang="en-US" sz="1000" dirty="0"/>
          </a:p>
        </p:txBody>
      </p:sp>
      <p:sp>
        <p:nvSpPr>
          <p:cNvPr id="9" name="Text 6"/>
          <p:cNvSpPr/>
          <p:nvPr/>
        </p:nvSpPr>
        <p:spPr>
          <a:xfrm>
            <a:off x="365760" y="1828800"/>
            <a:ext cx="3977640" cy="310896"/>
          </a:xfrm>
          <a:prstGeom prst="rect">
            <a:avLst/>
          </a:prstGeom>
          <a:noFill/>
          <a:ln/>
        </p:spPr>
        <p:txBody>
          <a:bodyPr wrap="square" lIns="0" tIns="0" rIns="0" bIns="0" rtlCol="0" anchor="ctr"/>
          <a:lstStyle/>
          <a:p>
            <a:pPr indent="0" marL="0">
              <a:buNone/>
            </a:pPr>
            <a:r>
              <a:rPr lang="en-US" sz="1000" dirty="0">
                <a:solidFill>
                  <a:srgbClr val="CBD5E1"/>
                </a:solidFill>
                <a:latin typeface="Calibri" pitchFamily="34" charset="0"/>
                <a:ea typeface="Calibri" pitchFamily="34" charset="-122"/>
                <a:cs typeface="Calibri" pitchFamily="34" charset="-120"/>
              </a:rPr>
              <a:t>✔  GitHub Secrets for pipeline credentials only</a:t>
            </a:r>
            <a:endParaRPr lang="en-US" sz="1000" dirty="0"/>
          </a:p>
        </p:txBody>
      </p:sp>
      <p:sp>
        <p:nvSpPr>
          <p:cNvPr id="10" name="Text 7"/>
          <p:cNvSpPr/>
          <p:nvPr/>
        </p:nvSpPr>
        <p:spPr>
          <a:xfrm>
            <a:off x="365760" y="2167128"/>
            <a:ext cx="3977640" cy="310896"/>
          </a:xfrm>
          <a:prstGeom prst="rect">
            <a:avLst/>
          </a:prstGeom>
          <a:noFill/>
          <a:ln/>
        </p:spPr>
        <p:txBody>
          <a:bodyPr wrap="square" lIns="0" tIns="0" rIns="0" bIns="0" rtlCol="0" anchor="ctr"/>
          <a:lstStyle/>
          <a:p>
            <a:pPr indent="0" marL="0">
              <a:buNone/>
            </a:pPr>
            <a:r>
              <a:rPr lang="en-US" sz="1000" dirty="0">
                <a:solidFill>
                  <a:srgbClr val="CBD5E1"/>
                </a:solidFill>
                <a:latin typeface="Calibri" pitchFamily="34" charset="0"/>
                <a:ea typeface="Calibri" pitchFamily="34" charset="-122"/>
                <a:cs typeface="Calibri" pitchFamily="34" charset="-120"/>
              </a:rPr>
              <a:t>✔  Azure Key Vault + Secrets Store CSI Driver for pod secrets</a:t>
            </a:r>
            <a:endParaRPr lang="en-US" sz="1000" dirty="0"/>
          </a:p>
        </p:txBody>
      </p:sp>
      <p:sp>
        <p:nvSpPr>
          <p:cNvPr id="11" name="Text 8"/>
          <p:cNvSpPr/>
          <p:nvPr/>
        </p:nvSpPr>
        <p:spPr>
          <a:xfrm>
            <a:off x="365760" y="2505456"/>
            <a:ext cx="3977640" cy="310896"/>
          </a:xfrm>
          <a:prstGeom prst="rect">
            <a:avLst/>
          </a:prstGeom>
          <a:noFill/>
          <a:ln/>
        </p:spPr>
        <p:txBody>
          <a:bodyPr wrap="square" lIns="0" tIns="0" rIns="0" bIns="0" rtlCol="0" anchor="ctr"/>
          <a:lstStyle/>
          <a:p>
            <a:pPr indent="0" marL="0">
              <a:buNone/>
            </a:pPr>
            <a:r>
              <a:rPr lang="en-US" sz="1000" dirty="0">
                <a:solidFill>
                  <a:srgbClr val="CBD5E1"/>
                </a:solidFill>
                <a:latin typeface="Calibri" pitchFamily="34" charset="0"/>
                <a:ea typeface="Calibri" pitchFamily="34" charset="-122"/>
                <a:cs typeface="Calibri" pitchFamily="34" charset="-120"/>
              </a:rPr>
              <a:t>✔  Workload Identity removes need for static secrets in pods</a:t>
            </a:r>
            <a:endParaRPr lang="en-US" sz="1000" dirty="0"/>
          </a:p>
        </p:txBody>
      </p:sp>
      <p:sp>
        <p:nvSpPr>
          <p:cNvPr id="12" name="Shape 9"/>
          <p:cNvSpPr/>
          <p:nvPr/>
        </p:nvSpPr>
        <p:spPr>
          <a:xfrm>
            <a:off x="4663440" y="960120"/>
            <a:ext cx="4251960" cy="1920240"/>
          </a:xfrm>
          <a:prstGeom prst="roundRect">
            <a:avLst>
              <a:gd name="adj" fmla="val 3810"/>
            </a:avLst>
          </a:prstGeom>
          <a:solidFill>
            <a:srgbClr val="0F2240"/>
          </a:solidFill>
          <a:ln w="19050">
            <a:solidFill>
              <a:srgbClr val="EF4444"/>
            </a:solidFill>
            <a:prstDash val="solid"/>
          </a:ln>
          <a:effectLst>
            <a:outerShdw sx="100000" sy="100000" kx="0" ky="0" algn="bl" rotWithShape="0" blurRad="127000" dist="38100" dir="2700000">
              <a:srgbClr val="000000">
                <a:alpha val="25000"/>
              </a:srgbClr>
            </a:outerShdw>
          </a:effectLst>
        </p:spPr>
      </p:sp>
      <p:pic>
        <p:nvPicPr>
          <p:cNvPr id="13" name="Image 1" descr="preencoded.png">    </p:cNvPr>
          <p:cNvPicPr>
            <a:picLocks noChangeAspect="1"/>
          </p:cNvPicPr>
          <p:nvPr/>
        </p:nvPicPr>
        <p:blipFill>
          <a:blip r:embed="rId2"/>
          <a:stretch>
            <a:fillRect/>
          </a:stretch>
        </p:blipFill>
        <p:spPr>
          <a:xfrm>
            <a:off x="4773168" y="1051560"/>
            <a:ext cx="365760" cy="365760"/>
          </a:xfrm>
          <a:prstGeom prst="rect">
            <a:avLst/>
          </a:prstGeom>
        </p:spPr>
      </p:pic>
      <p:sp>
        <p:nvSpPr>
          <p:cNvPr id="14" name="Text 10"/>
          <p:cNvSpPr/>
          <p:nvPr/>
        </p:nvSpPr>
        <p:spPr>
          <a:xfrm>
            <a:off x="5193792" y="1069848"/>
            <a:ext cx="3657600" cy="320040"/>
          </a:xfrm>
          <a:prstGeom prst="rect">
            <a:avLst/>
          </a:prstGeom>
          <a:noFill/>
          <a:ln/>
        </p:spPr>
        <p:txBody>
          <a:bodyPr wrap="square" lIns="0" tIns="0" rIns="0" bIns="0" rtlCol="0" anchor="ctr"/>
          <a:lstStyle/>
          <a:p>
            <a:pPr indent="0" marL="0">
              <a:buNone/>
            </a:pPr>
            <a:r>
              <a:rPr lang="en-US" sz="1200" b="1" dirty="0">
                <a:solidFill>
                  <a:srgbClr val="EF4444"/>
                </a:solidFill>
                <a:latin typeface="Calibri" pitchFamily="34" charset="0"/>
                <a:ea typeface="Calibri" pitchFamily="34" charset="-122"/>
                <a:cs typeface="Calibri" pitchFamily="34" charset="-120"/>
              </a:rPr>
              <a:t>Code &amp; Image Scanning</a:t>
            </a:r>
            <a:endParaRPr lang="en-US" sz="1200" dirty="0"/>
          </a:p>
        </p:txBody>
      </p:sp>
      <p:sp>
        <p:nvSpPr>
          <p:cNvPr id="15" name="Text 11"/>
          <p:cNvSpPr/>
          <p:nvPr/>
        </p:nvSpPr>
        <p:spPr>
          <a:xfrm>
            <a:off x="4800600" y="1490472"/>
            <a:ext cx="3977640" cy="310896"/>
          </a:xfrm>
          <a:prstGeom prst="rect">
            <a:avLst/>
          </a:prstGeom>
          <a:noFill/>
          <a:ln/>
        </p:spPr>
        <p:txBody>
          <a:bodyPr wrap="square" lIns="0" tIns="0" rIns="0" bIns="0" rtlCol="0" anchor="ctr"/>
          <a:lstStyle/>
          <a:p>
            <a:pPr indent="0" marL="0">
              <a:buNone/>
            </a:pPr>
            <a:r>
              <a:rPr lang="en-US" sz="1000" dirty="0">
                <a:solidFill>
                  <a:srgbClr val="CBD5E1"/>
                </a:solidFill>
                <a:latin typeface="Calibri" pitchFamily="34" charset="0"/>
                <a:ea typeface="Calibri" pitchFamily="34" charset="-122"/>
                <a:cs typeface="Calibri" pitchFamily="34" charset="-120"/>
              </a:rPr>
              <a:t>✔  SonarQube — SAST code quality</a:t>
            </a:r>
            <a:endParaRPr lang="en-US" sz="1000" dirty="0"/>
          </a:p>
        </p:txBody>
      </p:sp>
      <p:sp>
        <p:nvSpPr>
          <p:cNvPr id="16" name="Text 12"/>
          <p:cNvSpPr/>
          <p:nvPr/>
        </p:nvSpPr>
        <p:spPr>
          <a:xfrm>
            <a:off x="4800600" y="1828800"/>
            <a:ext cx="3977640" cy="310896"/>
          </a:xfrm>
          <a:prstGeom prst="rect">
            <a:avLst/>
          </a:prstGeom>
          <a:noFill/>
          <a:ln/>
        </p:spPr>
        <p:txBody>
          <a:bodyPr wrap="square" lIns="0" tIns="0" rIns="0" bIns="0" rtlCol="0" anchor="ctr"/>
          <a:lstStyle/>
          <a:p>
            <a:pPr indent="0" marL="0">
              <a:buNone/>
            </a:pPr>
            <a:r>
              <a:rPr lang="en-US" sz="1000" dirty="0">
                <a:solidFill>
                  <a:srgbClr val="CBD5E1"/>
                </a:solidFill>
                <a:latin typeface="Calibri" pitchFamily="34" charset="0"/>
                <a:ea typeface="Calibri" pitchFamily="34" charset="-122"/>
                <a:cs typeface="Calibri" pitchFamily="34" charset="-120"/>
              </a:rPr>
              <a:t>✔  Snyk — dependency vulnerabilities</a:t>
            </a:r>
            <a:endParaRPr lang="en-US" sz="1000" dirty="0"/>
          </a:p>
        </p:txBody>
      </p:sp>
      <p:sp>
        <p:nvSpPr>
          <p:cNvPr id="17" name="Text 13"/>
          <p:cNvSpPr/>
          <p:nvPr/>
        </p:nvSpPr>
        <p:spPr>
          <a:xfrm>
            <a:off x="4800600" y="2167128"/>
            <a:ext cx="3977640" cy="310896"/>
          </a:xfrm>
          <a:prstGeom prst="rect">
            <a:avLst/>
          </a:prstGeom>
          <a:noFill/>
          <a:ln/>
        </p:spPr>
        <p:txBody>
          <a:bodyPr wrap="square" lIns="0" tIns="0" rIns="0" bIns="0" rtlCol="0" anchor="ctr"/>
          <a:lstStyle/>
          <a:p>
            <a:pPr indent="0" marL="0">
              <a:buNone/>
            </a:pPr>
            <a:r>
              <a:rPr lang="en-US" sz="1000" dirty="0">
                <a:solidFill>
                  <a:srgbClr val="CBD5E1"/>
                </a:solidFill>
                <a:latin typeface="Calibri" pitchFamily="34" charset="0"/>
                <a:ea typeface="Calibri" pitchFamily="34" charset="-122"/>
                <a:cs typeface="Calibri" pitchFamily="34" charset="-120"/>
              </a:rPr>
              <a:t>✔  Trivy — container image CVEs</a:t>
            </a:r>
            <a:endParaRPr lang="en-US" sz="1000" dirty="0"/>
          </a:p>
        </p:txBody>
      </p:sp>
      <p:sp>
        <p:nvSpPr>
          <p:cNvPr id="18" name="Text 14"/>
          <p:cNvSpPr/>
          <p:nvPr/>
        </p:nvSpPr>
        <p:spPr>
          <a:xfrm>
            <a:off x="4800600" y="2505456"/>
            <a:ext cx="3977640" cy="310896"/>
          </a:xfrm>
          <a:prstGeom prst="rect">
            <a:avLst/>
          </a:prstGeom>
          <a:noFill/>
          <a:ln/>
        </p:spPr>
        <p:txBody>
          <a:bodyPr wrap="square" lIns="0" tIns="0" rIns="0" bIns="0" rtlCol="0" anchor="ctr"/>
          <a:lstStyle/>
          <a:p>
            <a:pPr indent="0" marL="0">
              <a:buNone/>
            </a:pPr>
            <a:r>
              <a:rPr lang="en-US" sz="1000" dirty="0">
                <a:solidFill>
                  <a:srgbClr val="CBD5E1"/>
                </a:solidFill>
                <a:latin typeface="Calibri" pitchFamily="34" charset="0"/>
                <a:ea typeface="Calibri" pitchFamily="34" charset="-122"/>
                <a:cs typeface="Calibri" pitchFamily="34" charset="-120"/>
              </a:rPr>
              <a:t>✔  Checkov — IaC policy scan</a:t>
            </a:r>
            <a:endParaRPr lang="en-US" sz="1000" dirty="0"/>
          </a:p>
        </p:txBody>
      </p:sp>
      <p:sp>
        <p:nvSpPr>
          <p:cNvPr id="19" name="Shape 15"/>
          <p:cNvSpPr/>
          <p:nvPr/>
        </p:nvSpPr>
        <p:spPr>
          <a:xfrm>
            <a:off x="228600" y="3017520"/>
            <a:ext cx="4251960" cy="1920240"/>
          </a:xfrm>
          <a:prstGeom prst="roundRect">
            <a:avLst>
              <a:gd name="adj" fmla="val 3810"/>
            </a:avLst>
          </a:prstGeom>
          <a:solidFill>
            <a:srgbClr val="0F2240"/>
          </a:solidFill>
          <a:ln w="19050">
            <a:solidFill>
              <a:srgbClr val="00C896"/>
            </a:solidFill>
            <a:prstDash val="solid"/>
          </a:ln>
          <a:effectLst>
            <a:outerShdw sx="100000" sy="100000" kx="0" ky="0" algn="bl" rotWithShape="0" blurRad="127000" dist="38100" dir="2700000">
              <a:srgbClr val="000000">
                <a:alpha val="25000"/>
              </a:srgbClr>
            </a:outerShdw>
          </a:effectLst>
        </p:spPr>
      </p:sp>
      <p:pic>
        <p:nvPicPr>
          <p:cNvPr id="20" name="Image 2" descr="preencoded.png">    </p:cNvPr>
          <p:cNvPicPr>
            <a:picLocks noChangeAspect="1"/>
          </p:cNvPicPr>
          <p:nvPr/>
        </p:nvPicPr>
        <p:blipFill>
          <a:blip r:embed="rId3"/>
          <a:stretch>
            <a:fillRect/>
          </a:stretch>
        </p:blipFill>
        <p:spPr>
          <a:xfrm>
            <a:off x="338328" y="3108960"/>
            <a:ext cx="365760" cy="365760"/>
          </a:xfrm>
          <a:prstGeom prst="rect">
            <a:avLst/>
          </a:prstGeom>
        </p:spPr>
      </p:pic>
      <p:sp>
        <p:nvSpPr>
          <p:cNvPr id="21" name="Text 16"/>
          <p:cNvSpPr/>
          <p:nvPr/>
        </p:nvSpPr>
        <p:spPr>
          <a:xfrm>
            <a:off x="758952" y="3127248"/>
            <a:ext cx="3657600" cy="320040"/>
          </a:xfrm>
          <a:prstGeom prst="rect">
            <a:avLst/>
          </a:prstGeom>
          <a:noFill/>
          <a:ln/>
        </p:spPr>
        <p:txBody>
          <a:bodyPr wrap="square" lIns="0" tIns="0" rIns="0" bIns="0" rtlCol="0" anchor="ctr"/>
          <a:lstStyle/>
          <a:p>
            <a:pPr indent="0" marL="0">
              <a:buNone/>
            </a:pPr>
            <a:r>
              <a:rPr lang="en-US" sz="1200" b="1" dirty="0">
                <a:solidFill>
                  <a:srgbClr val="00C896"/>
                </a:solidFill>
                <a:latin typeface="Calibri" pitchFamily="34" charset="0"/>
                <a:ea typeface="Calibri" pitchFamily="34" charset="-122"/>
                <a:cs typeface="Calibri" pitchFamily="34" charset="-120"/>
              </a:rPr>
              <a:t>Reliability &amp; HA</a:t>
            </a:r>
            <a:endParaRPr lang="en-US" sz="1200" dirty="0"/>
          </a:p>
        </p:txBody>
      </p:sp>
      <p:sp>
        <p:nvSpPr>
          <p:cNvPr id="22" name="Text 17"/>
          <p:cNvSpPr/>
          <p:nvPr/>
        </p:nvSpPr>
        <p:spPr>
          <a:xfrm>
            <a:off x="365760" y="3547872"/>
            <a:ext cx="3977640" cy="310896"/>
          </a:xfrm>
          <a:prstGeom prst="rect">
            <a:avLst/>
          </a:prstGeom>
          <a:noFill/>
          <a:ln/>
        </p:spPr>
        <p:txBody>
          <a:bodyPr wrap="square" lIns="0" tIns="0" rIns="0" bIns="0" rtlCol="0" anchor="ctr"/>
          <a:lstStyle/>
          <a:p>
            <a:pPr indent="0" marL="0">
              <a:buNone/>
            </a:pPr>
            <a:r>
              <a:rPr lang="en-US" sz="1000" dirty="0">
                <a:solidFill>
                  <a:srgbClr val="CBD5E1"/>
                </a:solidFill>
                <a:latin typeface="Calibri" pitchFamily="34" charset="0"/>
                <a:ea typeface="Calibri" pitchFamily="34" charset="-122"/>
                <a:cs typeface="Calibri" pitchFamily="34" charset="-120"/>
              </a:rPr>
              <a:t>✔  Liveness &amp; readiness probes</a:t>
            </a:r>
            <a:endParaRPr lang="en-US" sz="1000" dirty="0"/>
          </a:p>
        </p:txBody>
      </p:sp>
      <p:sp>
        <p:nvSpPr>
          <p:cNvPr id="23" name="Text 18"/>
          <p:cNvSpPr/>
          <p:nvPr/>
        </p:nvSpPr>
        <p:spPr>
          <a:xfrm>
            <a:off x="365760" y="3886200"/>
            <a:ext cx="3977640" cy="310896"/>
          </a:xfrm>
          <a:prstGeom prst="rect">
            <a:avLst/>
          </a:prstGeom>
          <a:noFill/>
          <a:ln/>
        </p:spPr>
        <p:txBody>
          <a:bodyPr wrap="square" lIns="0" tIns="0" rIns="0" bIns="0" rtlCol="0" anchor="ctr"/>
          <a:lstStyle/>
          <a:p>
            <a:pPr indent="0" marL="0">
              <a:buNone/>
            </a:pPr>
            <a:r>
              <a:rPr lang="en-US" sz="1000" dirty="0">
                <a:solidFill>
                  <a:srgbClr val="CBD5E1"/>
                </a:solidFill>
                <a:latin typeface="Calibri" pitchFamily="34" charset="0"/>
                <a:ea typeface="Calibri" pitchFamily="34" charset="-122"/>
                <a:cs typeface="Calibri" pitchFamily="34" charset="-120"/>
              </a:rPr>
              <a:t>✔  Multiple replicas per service</a:t>
            </a:r>
            <a:endParaRPr lang="en-US" sz="1000" dirty="0"/>
          </a:p>
        </p:txBody>
      </p:sp>
      <p:sp>
        <p:nvSpPr>
          <p:cNvPr id="24" name="Text 19"/>
          <p:cNvSpPr/>
          <p:nvPr/>
        </p:nvSpPr>
        <p:spPr>
          <a:xfrm>
            <a:off x="365760" y="4224528"/>
            <a:ext cx="3977640" cy="310896"/>
          </a:xfrm>
          <a:prstGeom prst="rect">
            <a:avLst/>
          </a:prstGeom>
          <a:noFill/>
          <a:ln/>
        </p:spPr>
        <p:txBody>
          <a:bodyPr wrap="square" lIns="0" tIns="0" rIns="0" bIns="0" rtlCol="0" anchor="ctr"/>
          <a:lstStyle/>
          <a:p>
            <a:pPr indent="0" marL="0">
              <a:buNone/>
            </a:pPr>
            <a:r>
              <a:rPr lang="en-US" sz="1000" dirty="0">
                <a:solidFill>
                  <a:srgbClr val="CBD5E1"/>
                </a:solidFill>
                <a:latin typeface="Calibri" pitchFamily="34" charset="0"/>
                <a:ea typeface="Calibri" pitchFamily="34" charset="-122"/>
                <a:cs typeface="Calibri" pitchFamily="34" charset="-120"/>
              </a:rPr>
              <a:t>✔  CPU &amp; memory resource limits</a:t>
            </a:r>
            <a:endParaRPr lang="en-US" sz="1000" dirty="0"/>
          </a:p>
        </p:txBody>
      </p:sp>
      <p:sp>
        <p:nvSpPr>
          <p:cNvPr id="25" name="Text 20"/>
          <p:cNvSpPr/>
          <p:nvPr/>
        </p:nvSpPr>
        <p:spPr>
          <a:xfrm>
            <a:off x="365760" y="4562856"/>
            <a:ext cx="3977640" cy="310896"/>
          </a:xfrm>
          <a:prstGeom prst="rect">
            <a:avLst/>
          </a:prstGeom>
          <a:noFill/>
          <a:ln/>
        </p:spPr>
        <p:txBody>
          <a:bodyPr wrap="square" lIns="0" tIns="0" rIns="0" bIns="0" rtlCol="0" anchor="ctr"/>
          <a:lstStyle/>
          <a:p>
            <a:pPr indent="0" marL="0">
              <a:buNone/>
            </a:pPr>
            <a:r>
              <a:rPr lang="en-US" sz="1000" dirty="0">
                <a:solidFill>
                  <a:srgbClr val="CBD5E1"/>
                </a:solidFill>
                <a:latin typeface="Calibri" pitchFamily="34" charset="0"/>
                <a:ea typeface="Calibri" pitchFamily="34" charset="-122"/>
                <a:cs typeface="Calibri" pitchFamily="34" charset="-120"/>
              </a:rPr>
              <a:t>✔  Pod disruption budgets</a:t>
            </a:r>
            <a:endParaRPr lang="en-US" sz="1000" dirty="0"/>
          </a:p>
        </p:txBody>
      </p:sp>
      <p:sp>
        <p:nvSpPr>
          <p:cNvPr id="26" name="Shape 21"/>
          <p:cNvSpPr/>
          <p:nvPr/>
        </p:nvSpPr>
        <p:spPr>
          <a:xfrm>
            <a:off x="4663440" y="3017520"/>
            <a:ext cx="4251960" cy="1920240"/>
          </a:xfrm>
          <a:prstGeom prst="roundRect">
            <a:avLst>
              <a:gd name="adj" fmla="val 3810"/>
            </a:avLst>
          </a:prstGeom>
          <a:solidFill>
            <a:srgbClr val="0F2240"/>
          </a:solidFill>
          <a:ln w="19050">
            <a:solidFill>
              <a:srgbClr val="0078D4"/>
            </a:solidFill>
            <a:prstDash val="solid"/>
          </a:ln>
          <a:effectLst>
            <a:outerShdw sx="100000" sy="100000" kx="0" ky="0" algn="bl" rotWithShape="0" blurRad="127000" dist="38100" dir="2700000">
              <a:srgbClr val="000000">
                <a:alpha val="25000"/>
              </a:srgbClr>
            </a:outerShdw>
          </a:effectLst>
        </p:spPr>
      </p:sp>
      <p:pic>
        <p:nvPicPr>
          <p:cNvPr id="27" name="Image 3" descr="preencoded.png">    </p:cNvPr>
          <p:cNvPicPr>
            <a:picLocks noChangeAspect="1"/>
          </p:cNvPicPr>
          <p:nvPr/>
        </p:nvPicPr>
        <p:blipFill>
          <a:blip r:embed="rId4"/>
          <a:stretch>
            <a:fillRect/>
          </a:stretch>
        </p:blipFill>
        <p:spPr>
          <a:xfrm>
            <a:off x="4773168" y="3108960"/>
            <a:ext cx="365760" cy="365760"/>
          </a:xfrm>
          <a:prstGeom prst="rect">
            <a:avLst/>
          </a:prstGeom>
        </p:spPr>
      </p:pic>
      <p:sp>
        <p:nvSpPr>
          <p:cNvPr id="28" name="Text 22"/>
          <p:cNvSpPr/>
          <p:nvPr/>
        </p:nvSpPr>
        <p:spPr>
          <a:xfrm>
            <a:off x="5193792" y="3127248"/>
            <a:ext cx="3657600" cy="320040"/>
          </a:xfrm>
          <a:prstGeom prst="rect">
            <a:avLst/>
          </a:prstGeom>
          <a:noFill/>
          <a:ln/>
        </p:spPr>
        <p:txBody>
          <a:bodyPr wrap="square" lIns="0" tIns="0" rIns="0" bIns="0" rtlCol="0" anchor="ctr"/>
          <a:lstStyle/>
          <a:p>
            <a:pPr indent="0" marL="0">
              <a:buNone/>
            </a:pPr>
            <a:r>
              <a:rPr lang="en-US" sz="1200" b="1" dirty="0">
                <a:solidFill>
                  <a:srgbClr val="0078D4"/>
                </a:solidFill>
                <a:latin typeface="Calibri" pitchFamily="34" charset="0"/>
                <a:ea typeface="Calibri" pitchFamily="34" charset="-122"/>
                <a:cs typeface="Calibri" pitchFamily="34" charset="-120"/>
              </a:rPr>
              <a:t>Observability</a:t>
            </a:r>
            <a:endParaRPr lang="en-US" sz="1200" dirty="0"/>
          </a:p>
        </p:txBody>
      </p:sp>
      <p:sp>
        <p:nvSpPr>
          <p:cNvPr id="29" name="Text 23"/>
          <p:cNvSpPr/>
          <p:nvPr/>
        </p:nvSpPr>
        <p:spPr>
          <a:xfrm>
            <a:off x="4800600" y="3547872"/>
            <a:ext cx="3977640" cy="310896"/>
          </a:xfrm>
          <a:prstGeom prst="rect">
            <a:avLst/>
          </a:prstGeom>
          <a:noFill/>
          <a:ln/>
        </p:spPr>
        <p:txBody>
          <a:bodyPr wrap="square" lIns="0" tIns="0" rIns="0" bIns="0" rtlCol="0" anchor="ctr"/>
          <a:lstStyle/>
          <a:p>
            <a:pPr indent="0" marL="0">
              <a:buNone/>
            </a:pPr>
            <a:r>
              <a:rPr lang="en-US" sz="1000" dirty="0">
                <a:solidFill>
                  <a:srgbClr val="CBD5E1"/>
                </a:solidFill>
                <a:latin typeface="Calibri" pitchFamily="34" charset="0"/>
                <a:ea typeface="Calibri" pitchFamily="34" charset="-122"/>
                <a:cs typeface="Calibri" pitchFamily="34" charset="-120"/>
              </a:rPr>
              <a:t>✔  Azure Monitor &amp; Log Analytics</a:t>
            </a:r>
            <a:endParaRPr lang="en-US" sz="1000" dirty="0"/>
          </a:p>
        </p:txBody>
      </p:sp>
      <p:sp>
        <p:nvSpPr>
          <p:cNvPr id="30" name="Text 24"/>
          <p:cNvSpPr/>
          <p:nvPr/>
        </p:nvSpPr>
        <p:spPr>
          <a:xfrm>
            <a:off x="4800600" y="3886200"/>
            <a:ext cx="3977640" cy="310896"/>
          </a:xfrm>
          <a:prstGeom prst="rect">
            <a:avLst/>
          </a:prstGeom>
          <a:noFill/>
          <a:ln/>
        </p:spPr>
        <p:txBody>
          <a:bodyPr wrap="square" lIns="0" tIns="0" rIns="0" bIns="0" rtlCol="0" anchor="ctr"/>
          <a:lstStyle/>
          <a:p>
            <a:pPr indent="0" marL="0">
              <a:buNone/>
            </a:pPr>
            <a:r>
              <a:rPr lang="en-US" sz="1000" dirty="0">
                <a:solidFill>
                  <a:srgbClr val="CBD5E1"/>
                </a:solidFill>
                <a:latin typeface="Calibri" pitchFamily="34" charset="0"/>
                <a:ea typeface="Calibri" pitchFamily="34" charset="-122"/>
                <a:cs typeface="Calibri" pitchFamily="34" charset="-120"/>
              </a:rPr>
              <a:t>✔  Application Insights (APM)</a:t>
            </a:r>
            <a:endParaRPr lang="en-US" sz="1000" dirty="0"/>
          </a:p>
        </p:txBody>
      </p:sp>
      <p:sp>
        <p:nvSpPr>
          <p:cNvPr id="31" name="Text 25"/>
          <p:cNvSpPr/>
          <p:nvPr/>
        </p:nvSpPr>
        <p:spPr>
          <a:xfrm>
            <a:off x="4800600" y="4224528"/>
            <a:ext cx="3977640" cy="310896"/>
          </a:xfrm>
          <a:prstGeom prst="rect">
            <a:avLst/>
          </a:prstGeom>
          <a:noFill/>
          <a:ln/>
        </p:spPr>
        <p:txBody>
          <a:bodyPr wrap="square" lIns="0" tIns="0" rIns="0" bIns="0" rtlCol="0" anchor="ctr"/>
          <a:lstStyle/>
          <a:p>
            <a:pPr indent="0" marL="0">
              <a:buNone/>
            </a:pPr>
            <a:r>
              <a:rPr lang="en-US" sz="1000" dirty="0">
                <a:solidFill>
                  <a:srgbClr val="CBD5E1"/>
                </a:solidFill>
                <a:latin typeface="Calibri" pitchFamily="34" charset="0"/>
                <a:ea typeface="Calibri" pitchFamily="34" charset="-122"/>
                <a:cs typeface="Calibri" pitchFamily="34" charset="-120"/>
              </a:rPr>
              <a:t>✔  Container Insights for AKS</a:t>
            </a:r>
            <a:endParaRPr lang="en-US" sz="1000" dirty="0"/>
          </a:p>
        </p:txBody>
      </p:sp>
      <p:sp>
        <p:nvSpPr>
          <p:cNvPr id="32" name="Text 26"/>
          <p:cNvSpPr/>
          <p:nvPr/>
        </p:nvSpPr>
        <p:spPr>
          <a:xfrm>
            <a:off x="4800600" y="4562856"/>
            <a:ext cx="3977640" cy="310896"/>
          </a:xfrm>
          <a:prstGeom prst="rect">
            <a:avLst/>
          </a:prstGeom>
          <a:noFill/>
          <a:ln/>
        </p:spPr>
        <p:txBody>
          <a:bodyPr wrap="square" lIns="0" tIns="0" rIns="0" bIns="0" rtlCol="0" anchor="ctr"/>
          <a:lstStyle/>
          <a:p>
            <a:pPr indent="0" marL="0">
              <a:buNone/>
            </a:pPr>
            <a:r>
              <a:rPr lang="en-US" sz="1000" dirty="0">
                <a:solidFill>
                  <a:srgbClr val="CBD5E1"/>
                </a:solidFill>
                <a:latin typeface="Calibri" pitchFamily="34" charset="0"/>
                <a:ea typeface="Calibri" pitchFamily="34" charset="-122"/>
                <a:cs typeface="Calibri" pitchFamily="34" charset="-120"/>
              </a:rPr>
              <a:t>✔  Structured JSON logging</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F2240"/>
          </a:solidFill>
          <a:ln/>
        </p:spPr>
      </p:sp>
      <p:sp>
        <p:nvSpPr>
          <p:cNvPr id="3" name="Text 1"/>
          <p:cNvSpPr/>
          <p:nvPr/>
        </p:nvSpPr>
        <p:spPr>
          <a:xfrm>
            <a:off x="274320" y="73152"/>
            <a:ext cx="8595360" cy="54864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Implementation Challenges &amp; Resolutions</a:t>
            </a:r>
            <a:endParaRPr lang="en-US" sz="2200" dirty="0"/>
          </a:p>
        </p:txBody>
      </p:sp>
      <p:sp>
        <p:nvSpPr>
          <p:cNvPr id="4" name="Text 2"/>
          <p:cNvSpPr/>
          <p:nvPr/>
        </p:nvSpPr>
        <p:spPr>
          <a:xfrm>
            <a:off x="274320" y="548640"/>
            <a:ext cx="8595360" cy="256032"/>
          </a:xfrm>
          <a:prstGeom prst="rect">
            <a:avLst/>
          </a:prstGeom>
          <a:noFill/>
          <a:ln/>
        </p:spPr>
        <p:txBody>
          <a:bodyPr wrap="square" lIns="0" tIns="0" rIns="0" bIns="0" rtlCol="0" anchor="ctr"/>
          <a:lstStyle/>
          <a:p>
            <a:pPr indent="0" marL="0">
              <a:buNone/>
            </a:pPr>
            <a:r>
              <a:rPr lang="en-US" sz="1100" dirty="0">
                <a:solidFill>
                  <a:srgbClr val="00B4D8"/>
                </a:solidFill>
                <a:latin typeface="Calibri" pitchFamily="34" charset="0"/>
                <a:ea typeface="Calibri" pitchFamily="34" charset="-122"/>
                <a:cs typeface="Calibri" pitchFamily="34" charset="-120"/>
              </a:rPr>
              <a:t>Key problems faced during migration, deployment design, and security hardening</a:t>
            </a:r>
            <a:endParaRPr lang="en-US" sz="1100" dirty="0"/>
          </a:p>
        </p:txBody>
      </p:sp>
      <p:sp>
        <p:nvSpPr>
          <p:cNvPr id="5" name="Shape 3"/>
          <p:cNvSpPr/>
          <p:nvPr/>
        </p:nvSpPr>
        <p:spPr>
          <a:xfrm>
            <a:off x="201168" y="914400"/>
            <a:ext cx="4251960" cy="1298448"/>
          </a:xfrm>
          <a:prstGeom prst="roundRect">
            <a:avLst>
              <a:gd name="adj" fmla="val 5634"/>
            </a:avLst>
          </a:prstGeom>
          <a:solidFill>
            <a:srgbClr val="0F2240"/>
          </a:solidFill>
          <a:ln w="19050">
            <a:solidFill>
              <a:srgbClr val="0078D4"/>
            </a:solidFill>
            <a:prstDash val="solid"/>
          </a:ln>
          <a:effectLst>
            <a:outerShdw sx="100000" sy="100000" kx="0" ky="0" algn="bl" rotWithShape="0" blurRad="127000" dist="38100" dir="2700000">
              <a:srgbClr val="000000">
                <a:alpha val="25000"/>
              </a:srgbClr>
            </a:outerShdw>
          </a:effectLst>
        </p:spPr>
      </p:sp>
      <p:pic>
        <p:nvPicPr>
          <p:cNvPr id="6" name="Image 0" descr="preencoded.png">    </p:cNvPr>
          <p:cNvPicPr>
            <a:picLocks noChangeAspect="1"/>
          </p:cNvPicPr>
          <p:nvPr/>
        </p:nvPicPr>
        <p:blipFill>
          <a:blip r:embed="rId1"/>
          <a:stretch>
            <a:fillRect/>
          </a:stretch>
        </p:blipFill>
        <p:spPr>
          <a:xfrm>
            <a:off x="292608" y="1005840"/>
            <a:ext cx="292608" cy="292608"/>
          </a:xfrm>
          <a:prstGeom prst="rect">
            <a:avLst/>
          </a:prstGeom>
        </p:spPr>
      </p:pic>
      <p:sp>
        <p:nvSpPr>
          <p:cNvPr id="7" name="Text 4"/>
          <p:cNvSpPr/>
          <p:nvPr/>
        </p:nvSpPr>
        <p:spPr>
          <a:xfrm>
            <a:off x="640080" y="987552"/>
            <a:ext cx="3749040" cy="274320"/>
          </a:xfrm>
          <a:prstGeom prst="rect">
            <a:avLst/>
          </a:prstGeom>
          <a:noFill/>
          <a:ln/>
        </p:spPr>
        <p:txBody>
          <a:bodyPr wrap="square" lIns="0" tIns="0" rIns="0" bIns="0" rtlCol="0" anchor="ctr"/>
          <a:lstStyle/>
          <a:p>
            <a:pPr indent="0" marL="0">
              <a:buNone/>
            </a:pPr>
            <a:r>
              <a:rPr lang="en-US" sz="850" b="1" dirty="0">
                <a:solidFill>
                  <a:srgbClr val="0078D4"/>
                </a:solidFill>
                <a:latin typeface="Calibri" pitchFamily="34" charset="0"/>
                <a:ea typeface="Calibri" pitchFamily="34" charset="-122"/>
                <a:cs typeface="Calibri" pitchFamily="34" charset="-120"/>
              </a:rPr>
              <a:t>⚠  Initially planned a 12-repo microservice split</a:t>
            </a:r>
            <a:endParaRPr lang="en-US" sz="850" dirty="0"/>
          </a:p>
        </p:txBody>
      </p:sp>
      <p:sp>
        <p:nvSpPr>
          <p:cNvPr id="8" name="Shape 5"/>
          <p:cNvSpPr/>
          <p:nvPr/>
        </p:nvSpPr>
        <p:spPr>
          <a:xfrm>
            <a:off x="292608" y="1316736"/>
            <a:ext cx="4041648" cy="0"/>
          </a:xfrm>
          <a:prstGeom prst="line">
            <a:avLst/>
          </a:prstGeom>
          <a:noFill/>
          <a:ln w="6350">
            <a:solidFill>
              <a:srgbClr val="0078D4"/>
            </a:solidFill>
            <a:prstDash val="solid"/>
          </a:ln>
        </p:spPr>
      </p:sp>
      <p:sp>
        <p:nvSpPr>
          <p:cNvPr id="9" name="Text 6"/>
          <p:cNvSpPr/>
          <p:nvPr/>
        </p:nvSpPr>
        <p:spPr>
          <a:xfrm>
            <a:off x="292608" y="1389888"/>
            <a:ext cx="4069080" cy="768096"/>
          </a:xfrm>
          <a:prstGeom prst="rect">
            <a:avLst/>
          </a:prstGeom>
          <a:noFill/>
          <a:ln/>
        </p:spPr>
        <p:txBody>
          <a:bodyPr wrap="square" lIns="0" tIns="0" rIns="0" bIns="0" rtlCol="0" anchor="ctr"/>
          <a:lstStyle/>
          <a:p>
            <a:pPr indent="0" marL="0">
              <a:buNone/>
            </a:pPr>
            <a:r>
              <a:rPr lang="en-US" sz="800" dirty="0">
                <a:solidFill>
                  <a:srgbClr val="CBD5E1"/>
                </a:solidFill>
                <a:latin typeface="Calibri" pitchFamily="34" charset="0"/>
                <a:ea typeface="Calibri" pitchFamily="34" charset="-122"/>
                <a:cs typeface="Calibri" pitchFamily="34" charset="-120"/>
              </a:rPr>
              <a:t>✔  Consolidated into 3-repo capstone structure: resolveops-application, resolveops-cicd, resolveops-infrastructure. Simplified evaluation and reduced overhead.</a:t>
            </a:r>
            <a:endParaRPr lang="en-US" sz="800" dirty="0"/>
          </a:p>
        </p:txBody>
      </p:sp>
      <p:sp>
        <p:nvSpPr>
          <p:cNvPr id="10" name="Shape 7"/>
          <p:cNvSpPr/>
          <p:nvPr/>
        </p:nvSpPr>
        <p:spPr>
          <a:xfrm>
            <a:off x="4681728" y="914400"/>
            <a:ext cx="4251960" cy="1298448"/>
          </a:xfrm>
          <a:prstGeom prst="roundRect">
            <a:avLst>
              <a:gd name="adj" fmla="val 5634"/>
            </a:avLst>
          </a:prstGeom>
          <a:solidFill>
            <a:srgbClr val="0F2240"/>
          </a:solidFill>
          <a:ln w="19050">
            <a:solidFill>
              <a:srgbClr val="F59E0B"/>
            </a:solidFill>
            <a:prstDash val="solid"/>
          </a:ln>
          <a:effectLst>
            <a:outerShdw sx="100000" sy="100000" kx="0" ky="0" algn="bl" rotWithShape="0" blurRad="127000" dist="38100" dir="2700000">
              <a:srgbClr val="000000">
                <a:alpha val="25000"/>
              </a:srgbClr>
            </a:outerShdw>
          </a:effectLst>
        </p:spPr>
      </p:sp>
      <p:pic>
        <p:nvPicPr>
          <p:cNvPr id="11" name="Image 1" descr="preencoded.png">    </p:cNvPr>
          <p:cNvPicPr>
            <a:picLocks noChangeAspect="1"/>
          </p:cNvPicPr>
          <p:nvPr/>
        </p:nvPicPr>
        <p:blipFill>
          <a:blip r:embed="rId2"/>
          <a:stretch>
            <a:fillRect/>
          </a:stretch>
        </p:blipFill>
        <p:spPr>
          <a:xfrm>
            <a:off x="4773168" y="1005840"/>
            <a:ext cx="292608" cy="292608"/>
          </a:xfrm>
          <a:prstGeom prst="rect">
            <a:avLst/>
          </a:prstGeom>
        </p:spPr>
      </p:pic>
      <p:sp>
        <p:nvSpPr>
          <p:cNvPr id="12" name="Text 8"/>
          <p:cNvSpPr/>
          <p:nvPr/>
        </p:nvSpPr>
        <p:spPr>
          <a:xfrm>
            <a:off x="5120640" y="987552"/>
            <a:ext cx="3749040" cy="274320"/>
          </a:xfrm>
          <a:prstGeom prst="rect">
            <a:avLst/>
          </a:prstGeom>
          <a:noFill/>
          <a:ln/>
        </p:spPr>
        <p:txBody>
          <a:bodyPr wrap="square" lIns="0" tIns="0" rIns="0" bIns="0" rtlCol="0" anchor="ctr"/>
          <a:lstStyle/>
          <a:p>
            <a:pPr indent="0" marL="0">
              <a:buNone/>
            </a:pPr>
            <a:r>
              <a:rPr lang="en-US" sz="850" b="1" dirty="0">
                <a:solidFill>
                  <a:srgbClr val="F59E0B"/>
                </a:solidFill>
                <a:latin typeface="Calibri" pitchFamily="34" charset="0"/>
                <a:ea typeface="Calibri" pitchFamily="34" charset="-122"/>
                <a:cs typeface="Calibri" pitchFamily="34" charset="-120"/>
              </a:rPr>
              <a:t>⚠  Application secrets considered for K8s Secrets / ConfigMaps</a:t>
            </a:r>
            <a:endParaRPr lang="en-US" sz="850" dirty="0"/>
          </a:p>
        </p:txBody>
      </p:sp>
      <p:sp>
        <p:nvSpPr>
          <p:cNvPr id="13" name="Shape 9"/>
          <p:cNvSpPr/>
          <p:nvPr/>
        </p:nvSpPr>
        <p:spPr>
          <a:xfrm>
            <a:off x="4773168" y="1316736"/>
            <a:ext cx="4041648" cy="0"/>
          </a:xfrm>
          <a:prstGeom prst="line">
            <a:avLst/>
          </a:prstGeom>
          <a:noFill/>
          <a:ln w="6350">
            <a:solidFill>
              <a:srgbClr val="F59E0B"/>
            </a:solidFill>
            <a:prstDash val="solid"/>
          </a:ln>
        </p:spPr>
      </p:sp>
      <p:sp>
        <p:nvSpPr>
          <p:cNvPr id="14" name="Text 10"/>
          <p:cNvSpPr/>
          <p:nvPr/>
        </p:nvSpPr>
        <p:spPr>
          <a:xfrm>
            <a:off x="4773168" y="1389888"/>
            <a:ext cx="4069080" cy="768096"/>
          </a:xfrm>
          <a:prstGeom prst="rect">
            <a:avLst/>
          </a:prstGeom>
          <a:noFill/>
          <a:ln/>
        </p:spPr>
        <p:txBody>
          <a:bodyPr wrap="square" lIns="0" tIns="0" rIns="0" bIns="0" rtlCol="0" anchor="ctr"/>
          <a:lstStyle/>
          <a:p>
            <a:pPr indent="0" marL="0">
              <a:buNone/>
            </a:pPr>
            <a:r>
              <a:rPr lang="en-US" sz="800" dirty="0">
                <a:solidFill>
                  <a:srgbClr val="CBD5E1"/>
                </a:solidFill>
                <a:latin typeface="Calibri" pitchFamily="34" charset="0"/>
                <a:ea typeface="Calibri" pitchFamily="34" charset="-122"/>
                <a:cs typeface="Calibri" pitchFamily="34" charset="-120"/>
              </a:rPr>
              <a:t>✔  Moved all sensitive secrets to Azure Key Vault. ConfigMaps hold only non-sensitive values. Pods access secrets via Workload Identity + Secrets Store CSI Driver.</a:t>
            </a:r>
            <a:endParaRPr lang="en-US" sz="800" dirty="0"/>
          </a:p>
        </p:txBody>
      </p:sp>
      <p:sp>
        <p:nvSpPr>
          <p:cNvPr id="15" name="Shape 11"/>
          <p:cNvSpPr/>
          <p:nvPr/>
        </p:nvSpPr>
        <p:spPr>
          <a:xfrm>
            <a:off x="201168" y="2304288"/>
            <a:ext cx="4251960" cy="1298448"/>
          </a:xfrm>
          <a:prstGeom prst="roundRect">
            <a:avLst>
              <a:gd name="adj" fmla="val 5634"/>
            </a:avLst>
          </a:prstGeom>
          <a:solidFill>
            <a:srgbClr val="0F2240"/>
          </a:solidFill>
          <a:ln w="19050">
            <a:solidFill>
              <a:srgbClr val="00C896"/>
            </a:solidFill>
            <a:prstDash val="solid"/>
          </a:ln>
          <a:effectLst>
            <a:outerShdw sx="100000" sy="100000" kx="0" ky="0" algn="bl" rotWithShape="0" blurRad="127000" dist="38100" dir="2700000">
              <a:srgbClr val="000000">
                <a:alpha val="25000"/>
              </a:srgbClr>
            </a:outerShdw>
          </a:effectLst>
        </p:spPr>
      </p:sp>
      <p:pic>
        <p:nvPicPr>
          <p:cNvPr id="16" name="Image 2" descr="preencoded.png">    </p:cNvPr>
          <p:cNvPicPr>
            <a:picLocks noChangeAspect="1"/>
          </p:cNvPicPr>
          <p:nvPr/>
        </p:nvPicPr>
        <p:blipFill>
          <a:blip r:embed="rId3"/>
          <a:stretch>
            <a:fillRect/>
          </a:stretch>
        </p:blipFill>
        <p:spPr>
          <a:xfrm>
            <a:off x="292608" y="2395728"/>
            <a:ext cx="292608" cy="292608"/>
          </a:xfrm>
          <a:prstGeom prst="rect">
            <a:avLst/>
          </a:prstGeom>
        </p:spPr>
      </p:pic>
      <p:sp>
        <p:nvSpPr>
          <p:cNvPr id="17" name="Text 12"/>
          <p:cNvSpPr/>
          <p:nvPr/>
        </p:nvSpPr>
        <p:spPr>
          <a:xfrm>
            <a:off x="640080" y="2377440"/>
            <a:ext cx="3749040" cy="274320"/>
          </a:xfrm>
          <a:prstGeom prst="rect">
            <a:avLst/>
          </a:prstGeom>
          <a:noFill/>
          <a:ln/>
        </p:spPr>
        <p:txBody>
          <a:bodyPr wrap="square" lIns="0" tIns="0" rIns="0" bIns="0" rtlCol="0" anchor="ctr"/>
          <a:lstStyle/>
          <a:p>
            <a:pPr indent="0" marL="0">
              <a:buNone/>
            </a:pPr>
            <a:r>
              <a:rPr lang="en-US" sz="850" b="1" dirty="0">
                <a:solidFill>
                  <a:srgbClr val="00C896"/>
                </a:solidFill>
                <a:latin typeface="Calibri" pitchFamily="34" charset="0"/>
                <a:ea typeface="Calibri" pitchFamily="34" charset="-122"/>
                <a:cs typeface="Calibri" pitchFamily="34" charset="-120"/>
              </a:rPr>
              <a:t>⚠  Private AKS API server unreachable from GitHub-hosted runners</a:t>
            </a:r>
            <a:endParaRPr lang="en-US" sz="850" dirty="0"/>
          </a:p>
        </p:txBody>
      </p:sp>
      <p:sp>
        <p:nvSpPr>
          <p:cNvPr id="18" name="Shape 13"/>
          <p:cNvSpPr/>
          <p:nvPr/>
        </p:nvSpPr>
        <p:spPr>
          <a:xfrm>
            <a:off x="292608" y="2706624"/>
            <a:ext cx="4041648" cy="0"/>
          </a:xfrm>
          <a:prstGeom prst="line">
            <a:avLst/>
          </a:prstGeom>
          <a:noFill/>
          <a:ln w="6350">
            <a:solidFill>
              <a:srgbClr val="00C896"/>
            </a:solidFill>
            <a:prstDash val="solid"/>
          </a:ln>
        </p:spPr>
      </p:sp>
      <p:sp>
        <p:nvSpPr>
          <p:cNvPr id="19" name="Text 14"/>
          <p:cNvSpPr/>
          <p:nvPr/>
        </p:nvSpPr>
        <p:spPr>
          <a:xfrm>
            <a:off x="292608" y="2779776"/>
            <a:ext cx="4069080" cy="768096"/>
          </a:xfrm>
          <a:prstGeom prst="rect">
            <a:avLst/>
          </a:prstGeom>
          <a:noFill/>
          <a:ln/>
        </p:spPr>
        <p:txBody>
          <a:bodyPr wrap="square" lIns="0" tIns="0" rIns="0" bIns="0" rtlCol="0" anchor="ctr"/>
          <a:lstStyle/>
          <a:p>
            <a:pPr indent="0" marL="0">
              <a:buNone/>
            </a:pPr>
            <a:r>
              <a:rPr lang="en-US" sz="800" dirty="0">
                <a:solidFill>
                  <a:srgbClr val="CBD5E1"/>
                </a:solidFill>
                <a:latin typeface="Calibri" pitchFamily="34" charset="0"/>
                <a:ea typeface="Calibri" pitchFamily="34" charset="-122"/>
                <a:cs typeface="Calibri" pitchFamily="34" charset="-120"/>
              </a:rPr>
              <a:t>✔  Documented requirement for a self-hosted runner inside the Azure VNet or deployment via Bastion/jumpbox VM for private AKS environments.</a:t>
            </a:r>
            <a:endParaRPr lang="en-US" sz="800" dirty="0"/>
          </a:p>
        </p:txBody>
      </p:sp>
      <p:sp>
        <p:nvSpPr>
          <p:cNvPr id="20" name="Shape 15"/>
          <p:cNvSpPr/>
          <p:nvPr/>
        </p:nvSpPr>
        <p:spPr>
          <a:xfrm>
            <a:off x="4681728" y="2304288"/>
            <a:ext cx="4251960" cy="1298448"/>
          </a:xfrm>
          <a:prstGeom prst="roundRect">
            <a:avLst>
              <a:gd name="adj" fmla="val 5634"/>
            </a:avLst>
          </a:prstGeom>
          <a:solidFill>
            <a:srgbClr val="0F2240"/>
          </a:solidFill>
          <a:ln w="19050">
            <a:solidFill>
              <a:srgbClr val="8B5CF6"/>
            </a:solidFill>
            <a:prstDash val="solid"/>
          </a:ln>
          <a:effectLst>
            <a:outerShdw sx="100000" sy="100000" kx="0" ky="0" algn="bl" rotWithShape="0" blurRad="127000" dist="38100" dir="2700000">
              <a:srgbClr val="000000">
                <a:alpha val="25000"/>
              </a:srgbClr>
            </a:outerShdw>
          </a:effectLst>
        </p:spPr>
      </p:sp>
      <p:pic>
        <p:nvPicPr>
          <p:cNvPr id="21" name="Image 3" descr="preencoded.png">    </p:cNvPr>
          <p:cNvPicPr>
            <a:picLocks noChangeAspect="1"/>
          </p:cNvPicPr>
          <p:nvPr/>
        </p:nvPicPr>
        <p:blipFill>
          <a:blip r:embed="rId4"/>
          <a:stretch>
            <a:fillRect/>
          </a:stretch>
        </p:blipFill>
        <p:spPr>
          <a:xfrm>
            <a:off x="4773168" y="2395728"/>
            <a:ext cx="292608" cy="292608"/>
          </a:xfrm>
          <a:prstGeom prst="rect">
            <a:avLst/>
          </a:prstGeom>
        </p:spPr>
      </p:pic>
      <p:sp>
        <p:nvSpPr>
          <p:cNvPr id="22" name="Text 16"/>
          <p:cNvSpPr/>
          <p:nvPr/>
        </p:nvSpPr>
        <p:spPr>
          <a:xfrm>
            <a:off x="5120640" y="2377440"/>
            <a:ext cx="3749040" cy="274320"/>
          </a:xfrm>
          <a:prstGeom prst="rect">
            <a:avLst/>
          </a:prstGeom>
          <a:noFill/>
          <a:ln/>
        </p:spPr>
        <p:txBody>
          <a:bodyPr wrap="square" lIns="0" tIns="0" rIns="0" bIns="0" rtlCol="0" anchor="ctr"/>
          <a:lstStyle/>
          <a:p>
            <a:pPr indent="0" marL="0">
              <a:buNone/>
            </a:pPr>
            <a:r>
              <a:rPr lang="en-US" sz="850" b="1" dirty="0">
                <a:solidFill>
                  <a:srgbClr val="8B5CF6"/>
                </a:solidFill>
                <a:latin typeface="Calibri" pitchFamily="34" charset="0"/>
                <a:ea typeface="Calibri" pitchFamily="34" charset="-122"/>
                <a:cs typeface="Calibri" pitchFamily="34" charset="-120"/>
              </a:rPr>
              <a:t>⚠  Terraform design risk: too complex and costly from day one</a:t>
            </a:r>
            <a:endParaRPr lang="en-US" sz="850" dirty="0"/>
          </a:p>
        </p:txBody>
      </p:sp>
      <p:sp>
        <p:nvSpPr>
          <p:cNvPr id="23" name="Shape 17"/>
          <p:cNvSpPr/>
          <p:nvPr/>
        </p:nvSpPr>
        <p:spPr>
          <a:xfrm>
            <a:off x="4773168" y="2706624"/>
            <a:ext cx="4041648" cy="0"/>
          </a:xfrm>
          <a:prstGeom prst="line">
            <a:avLst/>
          </a:prstGeom>
          <a:noFill/>
          <a:ln w="6350">
            <a:solidFill>
              <a:srgbClr val="8B5CF6"/>
            </a:solidFill>
            <a:prstDash val="solid"/>
          </a:ln>
        </p:spPr>
      </p:sp>
      <p:sp>
        <p:nvSpPr>
          <p:cNvPr id="24" name="Text 18"/>
          <p:cNvSpPr/>
          <p:nvPr/>
        </p:nvSpPr>
        <p:spPr>
          <a:xfrm>
            <a:off x="4773168" y="2779776"/>
            <a:ext cx="4069080" cy="768096"/>
          </a:xfrm>
          <a:prstGeom prst="rect">
            <a:avLst/>
          </a:prstGeom>
          <a:noFill/>
          <a:ln/>
        </p:spPr>
        <p:txBody>
          <a:bodyPr wrap="square" lIns="0" tIns="0" rIns="0" bIns="0" rtlCol="0" anchor="ctr"/>
          <a:lstStyle/>
          <a:p>
            <a:pPr indent="0" marL="0">
              <a:buNone/>
            </a:pPr>
            <a:r>
              <a:rPr lang="en-US" sz="800" dirty="0">
                <a:solidFill>
                  <a:srgbClr val="CBD5E1"/>
                </a:solidFill>
                <a:latin typeface="Calibri" pitchFamily="34" charset="0"/>
                <a:ea typeface="Calibri" pitchFamily="34" charset="-122"/>
                <a:cs typeface="Calibri" pitchFamily="34" charset="-120"/>
              </a:rPr>
              <a:t>✔  Modular design with low-cost dev defaults. Expensive resources toggled via variables: enable_service_bus, enable_private_endpoints, enable_app_gateway, enable_postgres.</a:t>
            </a:r>
            <a:endParaRPr lang="en-US" sz="800" dirty="0"/>
          </a:p>
        </p:txBody>
      </p:sp>
      <p:sp>
        <p:nvSpPr>
          <p:cNvPr id="25" name="Shape 19"/>
          <p:cNvSpPr/>
          <p:nvPr/>
        </p:nvSpPr>
        <p:spPr>
          <a:xfrm>
            <a:off x="201168" y="3694176"/>
            <a:ext cx="4251960" cy="1298448"/>
          </a:xfrm>
          <a:prstGeom prst="roundRect">
            <a:avLst>
              <a:gd name="adj" fmla="val 5634"/>
            </a:avLst>
          </a:prstGeom>
          <a:solidFill>
            <a:srgbClr val="0F2240"/>
          </a:solidFill>
          <a:ln w="19050">
            <a:solidFill>
              <a:srgbClr val="EF4444"/>
            </a:solidFill>
            <a:prstDash val="solid"/>
          </a:ln>
          <a:effectLst>
            <a:outerShdw sx="100000" sy="100000" kx="0" ky="0" algn="bl" rotWithShape="0" blurRad="127000" dist="38100" dir="2700000">
              <a:srgbClr val="000000">
                <a:alpha val="25000"/>
              </a:srgbClr>
            </a:outerShdw>
          </a:effectLst>
        </p:spPr>
      </p:sp>
      <p:pic>
        <p:nvPicPr>
          <p:cNvPr id="26" name="Image 4" descr="preencoded.png">    </p:cNvPr>
          <p:cNvPicPr>
            <a:picLocks noChangeAspect="1"/>
          </p:cNvPicPr>
          <p:nvPr/>
        </p:nvPicPr>
        <p:blipFill>
          <a:blip r:embed="rId5"/>
          <a:stretch>
            <a:fillRect/>
          </a:stretch>
        </p:blipFill>
        <p:spPr>
          <a:xfrm>
            <a:off x="292608" y="3785616"/>
            <a:ext cx="292608" cy="292608"/>
          </a:xfrm>
          <a:prstGeom prst="rect">
            <a:avLst/>
          </a:prstGeom>
        </p:spPr>
      </p:pic>
      <p:sp>
        <p:nvSpPr>
          <p:cNvPr id="27" name="Text 20"/>
          <p:cNvSpPr/>
          <p:nvPr/>
        </p:nvSpPr>
        <p:spPr>
          <a:xfrm>
            <a:off x="640080" y="3767328"/>
            <a:ext cx="3749040" cy="274320"/>
          </a:xfrm>
          <a:prstGeom prst="rect">
            <a:avLst/>
          </a:prstGeom>
          <a:noFill/>
          <a:ln/>
        </p:spPr>
        <p:txBody>
          <a:bodyPr wrap="square" lIns="0" tIns="0" rIns="0" bIns="0" rtlCol="0" anchor="ctr"/>
          <a:lstStyle/>
          <a:p>
            <a:pPr indent="0" marL="0">
              <a:buNone/>
            </a:pPr>
            <a:r>
              <a:rPr lang="en-US" sz="850" b="1" dirty="0">
                <a:solidFill>
                  <a:srgbClr val="EF4444"/>
                </a:solidFill>
                <a:latin typeface="Calibri" pitchFamily="34" charset="0"/>
                <a:ea typeface="Calibri" pitchFamily="34" charset="-122"/>
                <a:cs typeface="Calibri" pitchFamily="34" charset="-120"/>
              </a:rPr>
              <a:t>⚠  Security scans initially planned but could be bypassed as warnings</a:t>
            </a:r>
            <a:endParaRPr lang="en-US" sz="850" dirty="0"/>
          </a:p>
        </p:txBody>
      </p:sp>
      <p:sp>
        <p:nvSpPr>
          <p:cNvPr id="28" name="Shape 21"/>
          <p:cNvSpPr/>
          <p:nvPr/>
        </p:nvSpPr>
        <p:spPr>
          <a:xfrm>
            <a:off x="292608" y="4096512"/>
            <a:ext cx="4041648" cy="0"/>
          </a:xfrm>
          <a:prstGeom prst="line">
            <a:avLst/>
          </a:prstGeom>
          <a:noFill/>
          <a:ln w="6350">
            <a:solidFill>
              <a:srgbClr val="EF4444"/>
            </a:solidFill>
            <a:prstDash val="solid"/>
          </a:ln>
        </p:spPr>
      </p:sp>
      <p:sp>
        <p:nvSpPr>
          <p:cNvPr id="29" name="Text 22"/>
          <p:cNvSpPr/>
          <p:nvPr/>
        </p:nvSpPr>
        <p:spPr>
          <a:xfrm>
            <a:off x="292608" y="4169664"/>
            <a:ext cx="4069080" cy="768096"/>
          </a:xfrm>
          <a:prstGeom prst="rect">
            <a:avLst/>
          </a:prstGeom>
          <a:noFill/>
          <a:ln/>
        </p:spPr>
        <p:txBody>
          <a:bodyPr wrap="square" lIns="0" tIns="0" rIns="0" bIns="0" rtlCol="0" anchor="ctr"/>
          <a:lstStyle/>
          <a:p>
            <a:pPr indent="0" marL="0">
              <a:buNone/>
            </a:pPr>
            <a:r>
              <a:rPr lang="en-US" sz="800" dirty="0">
                <a:solidFill>
                  <a:srgbClr val="CBD5E1"/>
                </a:solidFill>
                <a:latin typeface="Calibri" pitchFamily="34" charset="0"/>
                <a:ea typeface="Calibri" pitchFamily="34" charset="-122"/>
                <a:cs typeface="Calibri" pitchFamily="34" charset="-120"/>
              </a:rPr>
              <a:t>✔  Made all security gates blocking. SonarQube, Snyk, Trivy, and Checkov must pass before image push, deploy, or terraform apply. No soft-fail or continue-on-error.</a:t>
            </a:r>
            <a:endParaRPr lang="en-US" sz="800" dirty="0"/>
          </a:p>
        </p:txBody>
      </p:sp>
      <p:sp>
        <p:nvSpPr>
          <p:cNvPr id="30" name="Shape 23"/>
          <p:cNvSpPr/>
          <p:nvPr/>
        </p:nvSpPr>
        <p:spPr>
          <a:xfrm>
            <a:off x="4681728" y="3694176"/>
            <a:ext cx="4251960" cy="1298448"/>
          </a:xfrm>
          <a:prstGeom prst="roundRect">
            <a:avLst>
              <a:gd name="adj" fmla="val 5634"/>
            </a:avLst>
          </a:prstGeom>
          <a:solidFill>
            <a:srgbClr val="0F2240"/>
          </a:solidFill>
          <a:ln w="19050">
            <a:solidFill>
              <a:srgbClr val="00B4D8"/>
            </a:solidFill>
            <a:prstDash val="solid"/>
          </a:ln>
          <a:effectLst>
            <a:outerShdw sx="100000" sy="100000" kx="0" ky="0" algn="bl" rotWithShape="0" blurRad="127000" dist="38100" dir="2700000">
              <a:srgbClr val="000000">
                <a:alpha val="25000"/>
              </a:srgbClr>
            </a:outerShdw>
          </a:effectLst>
        </p:spPr>
      </p:sp>
      <p:pic>
        <p:nvPicPr>
          <p:cNvPr id="31" name="Image 5" descr="preencoded.png">    </p:cNvPr>
          <p:cNvPicPr>
            <a:picLocks noChangeAspect="1"/>
          </p:cNvPicPr>
          <p:nvPr/>
        </p:nvPicPr>
        <p:blipFill>
          <a:blip r:embed="rId6"/>
          <a:stretch>
            <a:fillRect/>
          </a:stretch>
        </p:blipFill>
        <p:spPr>
          <a:xfrm>
            <a:off x="4773168" y="3785616"/>
            <a:ext cx="292608" cy="292608"/>
          </a:xfrm>
          <a:prstGeom prst="rect">
            <a:avLst/>
          </a:prstGeom>
        </p:spPr>
      </p:pic>
      <p:sp>
        <p:nvSpPr>
          <p:cNvPr id="32" name="Text 24"/>
          <p:cNvSpPr/>
          <p:nvPr/>
        </p:nvSpPr>
        <p:spPr>
          <a:xfrm>
            <a:off x="5120640" y="3767328"/>
            <a:ext cx="3749040" cy="274320"/>
          </a:xfrm>
          <a:prstGeom prst="rect">
            <a:avLst/>
          </a:prstGeom>
          <a:noFill/>
          <a:ln/>
        </p:spPr>
        <p:txBody>
          <a:bodyPr wrap="square" lIns="0" tIns="0" rIns="0" bIns="0" rtlCol="0" anchor="ctr"/>
          <a:lstStyle/>
          <a:p>
            <a:pPr indent="0" marL="0">
              <a:buNone/>
            </a:pPr>
            <a:r>
              <a:rPr lang="en-US" sz="850" b="1" dirty="0">
                <a:solidFill>
                  <a:srgbClr val="00B4D8"/>
                </a:solidFill>
                <a:latin typeface="Calibri" pitchFamily="34" charset="0"/>
                <a:ea typeface="Calibri" pitchFamily="34" charset="-122"/>
                <a:cs typeface="Calibri" pitchFamily="34" charset="-120"/>
              </a:rPr>
              <a:t>⚠  Some services partially scaffolded; API Gateway contains extractable logic</a:t>
            </a:r>
            <a:endParaRPr lang="en-US" sz="850" dirty="0"/>
          </a:p>
        </p:txBody>
      </p:sp>
      <p:sp>
        <p:nvSpPr>
          <p:cNvPr id="33" name="Shape 25"/>
          <p:cNvSpPr/>
          <p:nvPr/>
        </p:nvSpPr>
        <p:spPr>
          <a:xfrm>
            <a:off x="4773168" y="4096512"/>
            <a:ext cx="4041648" cy="0"/>
          </a:xfrm>
          <a:prstGeom prst="line">
            <a:avLst/>
          </a:prstGeom>
          <a:noFill/>
          <a:ln w="6350">
            <a:solidFill>
              <a:srgbClr val="00B4D8"/>
            </a:solidFill>
            <a:prstDash val="solid"/>
          </a:ln>
        </p:spPr>
      </p:sp>
      <p:sp>
        <p:nvSpPr>
          <p:cNvPr id="34" name="Text 26"/>
          <p:cNvSpPr/>
          <p:nvPr/>
        </p:nvSpPr>
        <p:spPr>
          <a:xfrm>
            <a:off x="4773168" y="4169664"/>
            <a:ext cx="4069080" cy="768096"/>
          </a:xfrm>
          <a:prstGeom prst="rect">
            <a:avLst/>
          </a:prstGeom>
          <a:noFill/>
          <a:ln/>
        </p:spPr>
        <p:txBody>
          <a:bodyPr wrap="square" lIns="0" tIns="0" rIns="0" bIns="0" rtlCol="0" anchor="ctr"/>
          <a:lstStyle/>
          <a:p>
            <a:pPr indent="0" marL="0">
              <a:buNone/>
            </a:pPr>
            <a:r>
              <a:rPr lang="en-US" sz="800" dirty="0">
                <a:solidFill>
                  <a:srgbClr val="CBD5E1"/>
                </a:solidFill>
                <a:latin typeface="Calibri" pitchFamily="34" charset="0"/>
                <a:ea typeface="Calibri" pitchFamily="34" charset="-122"/>
                <a:cs typeface="Calibri" pitchFamily="34" charset="-120"/>
              </a:rPr>
              <a:t>✔  Kept logic stable for capstone delivery. Phase 2: extract auth, Azure intelligence, and RAG logic into dedicated services after core DevOps pipeline is stable.</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60E1F"/>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F2240"/>
          </a:solidFill>
          <a:ln/>
        </p:spPr>
      </p:sp>
      <p:sp>
        <p:nvSpPr>
          <p:cNvPr id="3" name="Text 1"/>
          <p:cNvSpPr/>
          <p:nvPr/>
        </p:nvSpPr>
        <p:spPr>
          <a:xfrm>
            <a:off x="274320" y="73152"/>
            <a:ext cx="8595360" cy="54864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Demo Flow &amp; Future Improvements</a:t>
            </a:r>
            <a:endParaRPr lang="en-US" sz="2200" dirty="0"/>
          </a:p>
        </p:txBody>
      </p:sp>
      <p:sp>
        <p:nvSpPr>
          <p:cNvPr id="4" name="Text 2"/>
          <p:cNvSpPr/>
          <p:nvPr/>
        </p:nvSpPr>
        <p:spPr>
          <a:xfrm>
            <a:off x="274320" y="548640"/>
            <a:ext cx="8595360" cy="256032"/>
          </a:xfrm>
          <a:prstGeom prst="rect">
            <a:avLst/>
          </a:prstGeom>
          <a:noFill/>
          <a:ln/>
        </p:spPr>
        <p:txBody>
          <a:bodyPr wrap="square" lIns="0" tIns="0" rIns="0" bIns="0" rtlCol="0" anchor="ctr"/>
          <a:lstStyle/>
          <a:p>
            <a:pPr indent="0" marL="0">
              <a:buNone/>
            </a:pPr>
            <a:r>
              <a:rPr lang="en-US" sz="1100" dirty="0">
                <a:solidFill>
                  <a:srgbClr val="00B4D8"/>
                </a:solidFill>
                <a:latin typeface="Calibri" pitchFamily="34" charset="0"/>
                <a:ea typeface="Calibri" pitchFamily="34" charset="-122"/>
                <a:cs typeface="Calibri" pitchFamily="34" charset="-120"/>
              </a:rPr>
              <a:t>Live walkthrough + roadmap to production-grade GitOps</a:t>
            </a:r>
            <a:endParaRPr lang="en-US" sz="1100" dirty="0"/>
          </a:p>
        </p:txBody>
      </p:sp>
      <p:sp>
        <p:nvSpPr>
          <p:cNvPr id="5" name="Shape 3"/>
          <p:cNvSpPr/>
          <p:nvPr/>
        </p:nvSpPr>
        <p:spPr>
          <a:xfrm>
            <a:off x="228600" y="868680"/>
            <a:ext cx="4160520" cy="3977640"/>
          </a:xfrm>
          <a:prstGeom prst="roundRect">
            <a:avLst>
              <a:gd name="adj" fmla="val 1839"/>
            </a:avLst>
          </a:prstGeom>
          <a:solidFill>
            <a:srgbClr val="0F2240"/>
          </a:solidFill>
          <a:ln w="19050">
            <a:solidFill>
              <a:srgbClr val="00B4D8"/>
            </a:solidFill>
            <a:prstDash val="solid"/>
          </a:ln>
          <a:effectLst>
            <a:outerShdw sx="100000" sy="100000" kx="0" ky="0" algn="bl" rotWithShape="0" blurRad="127000" dist="38100" dir="2700000">
              <a:srgbClr val="000000">
                <a:alpha val="25000"/>
              </a:srgbClr>
            </a:outerShdw>
          </a:effectLst>
        </p:spPr>
      </p:sp>
      <p:sp>
        <p:nvSpPr>
          <p:cNvPr id="6" name="Text 4"/>
          <p:cNvSpPr/>
          <p:nvPr/>
        </p:nvSpPr>
        <p:spPr>
          <a:xfrm>
            <a:off x="365760" y="896112"/>
            <a:ext cx="3657600" cy="365760"/>
          </a:xfrm>
          <a:prstGeom prst="rect">
            <a:avLst/>
          </a:prstGeom>
          <a:noFill/>
          <a:ln/>
        </p:spPr>
        <p:txBody>
          <a:bodyPr wrap="square" lIns="0" tIns="0" rIns="0" bIns="0" rtlCol="0" anchor="ctr"/>
          <a:lstStyle/>
          <a:p>
            <a:pPr indent="0" marL="0">
              <a:buNone/>
            </a:pPr>
            <a:r>
              <a:rPr lang="en-US" sz="1300" b="1" dirty="0">
                <a:solidFill>
                  <a:srgbClr val="00B4D8"/>
                </a:solidFill>
                <a:latin typeface="Calibri" pitchFamily="34" charset="0"/>
                <a:ea typeface="Calibri" pitchFamily="34" charset="-122"/>
                <a:cs typeface="Calibri" pitchFamily="34" charset="-120"/>
              </a:rPr>
              <a:t>Live Demo Flow</a:t>
            </a:r>
            <a:endParaRPr lang="en-US" sz="1300" dirty="0"/>
          </a:p>
        </p:txBody>
      </p:sp>
      <p:sp>
        <p:nvSpPr>
          <p:cNvPr id="7" name="Shape 5"/>
          <p:cNvSpPr/>
          <p:nvPr/>
        </p:nvSpPr>
        <p:spPr>
          <a:xfrm>
            <a:off x="320040" y="1389888"/>
            <a:ext cx="274320" cy="274320"/>
          </a:xfrm>
          <a:prstGeom prst="ellipse">
            <a:avLst/>
          </a:prstGeom>
          <a:solidFill>
            <a:srgbClr val="0078D4"/>
          </a:solidFill>
          <a:ln/>
        </p:spPr>
      </p:sp>
      <p:sp>
        <p:nvSpPr>
          <p:cNvPr id="8" name="Text 6"/>
          <p:cNvSpPr/>
          <p:nvPr/>
        </p:nvSpPr>
        <p:spPr>
          <a:xfrm>
            <a:off x="320040" y="1389888"/>
            <a:ext cx="27432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9" name="Text 7"/>
          <p:cNvSpPr/>
          <p:nvPr/>
        </p:nvSpPr>
        <p:spPr>
          <a:xfrm>
            <a:off x="658368" y="1389888"/>
            <a:ext cx="3611880" cy="320040"/>
          </a:xfrm>
          <a:prstGeom prst="rect">
            <a:avLst/>
          </a:prstGeom>
          <a:noFill/>
          <a:ln/>
        </p:spPr>
        <p:txBody>
          <a:bodyPr wrap="square" lIns="0" tIns="0" rIns="0" bIns="0" rtlCol="0" anchor="ctr"/>
          <a:lstStyle/>
          <a:p>
            <a:pPr indent="0" marL="0">
              <a:buNone/>
            </a:pPr>
            <a:r>
              <a:rPr lang="en-US" sz="950" dirty="0">
                <a:solidFill>
                  <a:srgbClr val="CBD5E1"/>
                </a:solidFill>
                <a:latin typeface="Calibri" pitchFamily="34" charset="0"/>
                <a:ea typeface="Calibri" pitchFamily="34" charset="-122"/>
                <a:cs typeface="Calibri" pitchFamily="34" charset="-120"/>
              </a:rPr>
              <a:t>Terraform pipeline creates all Azure infra</a:t>
            </a:r>
            <a:endParaRPr lang="en-US" sz="950" dirty="0"/>
          </a:p>
        </p:txBody>
      </p:sp>
      <p:sp>
        <p:nvSpPr>
          <p:cNvPr id="10" name="Shape 8"/>
          <p:cNvSpPr/>
          <p:nvPr/>
        </p:nvSpPr>
        <p:spPr>
          <a:xfrm>
            <a:off x="320040" y="1819656"/>
            <a:ext cx="274320" cy="274320"/>
          </a:xfrm>
          <a:prstGeom prst="ellipse">
            <a:avLst/>
          </a:prstGeom>
          <a:solidFill>
            <a:srgbClr val="0078D4"/>
          </a:solidFill>
          <a:ln/>
        </p:spPr>
      </p:sp>
      <p:sp>
        <p:nvSpPr>
          <p:cNvPr id="11" name="Text 9"/>
          <p:cNvSpPr/>
          <p:nvPr/>
        </p:nvSpPr>
        <p:spPr>
          <a:xfrm>
            <a:off x="320040" y="1819656"/>
            <a:ext cx="27432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12" name="Text 10"/>
          <p:cNvSpPr/>
          <p:nvPr/>
        </p:nvSpPr>
        <p:spPr>
          <a:xfrm>
            <a:off x="658368" y="1819656"/>
            <a:ext cx="3611880" cy="320040"/>
          </a:xfrm>
          <a:prstGeom prst="rect">
            <a:avLst/>
          </a:prstGeom>
          <a:noFill/>
          <a:ln/>
        </p:spPr>
        <p:txBody>
          <a:bodyPr wrap="square" lIns="0" tIns="0" rIns="0" bIns="0" rtlCol="0" anchor="ctr"/>
          <a:lstStyle/>
          <a:p>
            <a:pPr indent="0" marL="0">
              <a:buNone/>
            </a:pPr>
            <a:r>
              <a:rPr lang="en-US" sz="950" dirty="0">
                <a:solidFill>
                  <a:srgbClr val="CBD5E1"/>
                </a:solidFill>
                <a:latin typeface="Calibri" pitchFamily="34" charset="0"/>
                <a:ea typeface="Calibri" pitchFamily="34" charset="-122"/>
                <a:cs typeface="Calibri" pitchFamily="34" charset="-120"/>
              </a:rPr>
              <a:t>Service pipeline builds, scans &amp; pushes image to ACR</a:t>
            </a:r>
            <a:endParaRPr lang="en-US" sz="950" dirty="0"/>
          </a:p>
        </p:txBody>
      </p:sp>
      <p:sp>
        <p:nvSpPr>
          <p:cNvPr id="13" name="Shape 11"/>
          <p:cNvSpPr/>
          <p:nvPr/>
        </p:nvSpPr>
        <p:spPr>
          <a:xfrm>
            <a:off x="320040" y="2249424"/>
            <a:ext cx="274320" cy="274320"/>
          </a:xfrm>
          <a:prstGeom prst="ellipse">
            <a:avLst/>
          </a:prstGeom>
          <a:solidFill>
            <a:srgbClr val="0078D4"/>
          </a:solidFill>
          <a:ln/>
        </p:spPr>
      </p:sp>
      <p:sp>
        <p:nvSpPr>
          <p:cNvPr id="14" name="Text 12"/>
          <p:cNvSpPr/>
          <p:nvPr/>
        </p:nvSpPr>
        <p:spPr>
          <a:xfrm>
            <a:off x="320040" y="2249424"/>
            <a:ext cx="27432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15" name="Text 13"/>
          <p:cNvSpPr/>
          <p:nvPr/>
        </p:nvSpPr>
        <p:spPr>
          <a:xfrm>
            <a:off x="658368" y="2249424"/>
            <a:ext cx="3611880" cy="320040"/>
          </a:xfrm>
          <a:prstGeom prst="rect">
            <a:avLst/>
          </a:prstGeom>
          <a:noFill/>
          <a:ln/>
        </p:spPr>
        <p:txBody>
          <a:bodyPr wrap="square" lIns="0" tIns="0" rIns="0" bIns="0" rtlCol="0" anchor="ctr"/>
          <a:lstStyle/>
          <a:p>
            <a:pPr indent="0" marL="0">
              <a:buNone/>
            </a:pPr>
            <a:r>
              <a:rPr lang="en-US" sz="950" dirty="0">
                <a:solidFill>
                  <a:srgbClr val="CBD5E1"/>
                </a:solidFill>
                <a:latin typeface="Calibri" pitchFamily="34" charset="0"/>
                <a:ea typeface="Calibri" pitchFamily="34" charset="-122"/>
                <a:cs typeface="Calibri" pitchFamily="34" charset="-120"/>
              </a:rPr>
              <a:t>Application repo deploys Kustomize manifests to AKS</a:t>
            </a:r>
            <a:endParaRPr lang="en-US" sz="950" dirty="0"/>
          </a:p>
        </p:txBody>
      </p:sp>
      <p:sp>
        <p:nvSpPr>
          <p:cNvPr id="16" name="Shape 14"/>
          <p:cNvSpPr/>
          <p:nvPr/>
        </p:nvSpPr>
        <p:spPr>
          <a:xfrm>
            <a:off x="320040" y="2679192"/>
            <a:ext cx="274320" cy="274320"/>
          </a:xfrm>
          <a:prstGeom prst="ellipse">
            <a:avLst/>
          </a:prstGeom>
          <a:solidFill>
            <a:srgbClr val="0078D4"/>
          </a:solidFill>
          <a:ln/>
        </p:spPr>
      </p:sp>
      <p:sp>
        <p:nvSpPr>
          <p:cNvPr id="17" name="Text 15"/>
          <p:cNvSpPr/>
          <p:nvPr/>
        </p:nvSpPr>
        <p:spPr>
          <a:xfrm>
            <a:off x="320040" y="2679192"/>
            <a:ext cx="27432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4</a:t>
            </a:r>
            <a:endParaRPr lang="en-US" sz="800" dirty="0"/>
          </a:p>
        </p:txBody>
      </p:sp>
      <p:sp>
        <p:nvSpPr>
          <p:cNvPr id="18" name="Text 16"/>
          <p:cNvSpPr/>
          <p:nvPr/>
        </p:nvSpPr>
        <p:spPr>
          <a:xfrm>
            <a:off x="658368" y="2679192"/>
            <a:ext cx="3611880" cy="320040"/>
          </a:xfrm>
          <a:prstGeom prst="rect">
            <a:avLst/>
          </a:prstGeom>
          <a:noFill/>
          <a:ln/>
        </p:spPr>
        <p:txBody>
          <a:bodyPr wrap="square" lIns="0" tIns="0" rIns="0" bIns="0" rtlCol="0" anchor="ctr"/>
          <a:lstStyle/>
          <a:p>
            <a:pPr indent="0" marL="0">
              <a:buNone/>
            </a:pPr>
            <a:r>
              <a:rPr lang="en-US" sz="950" dirty="0">
                <a:solidFill>
                  <a:srgbClr val="CBD5E1"/>
                </a:solidFill>
                <a:latin typeface="Calibri" pitchFamily="34" charset="0"/>
                <a:ea typeface="Calibri" pitchFamily="34" charset="-122"/>
                <a:cs typeface="Calibri" pitchFamily="34" charset="-120"/>
              </a:rPr>
              <a:t>Frontend loads — Dashboard shows pipeline health</a:t>
            </a:r>
            <a:endParaRPr lang="en-US" sz="950" dirty="0"/>
          </a:p>
        </p:txBody>
      </p:sp>
      <p:sp>
        <p:nvSpPr>
          <p:cNvPr id="19" name="Shape 17"/>
          <p:cNvSpPr/>
          <p:nvPr/>
        </p:nvSpPr>
        <p:spPr>
          <a:xfrm>
            <a:off x="320040" y="3108960"/>
            <a:ext cx="274320" cy="274320"/>
          </a:xfrm>
          <a:prstGeom prst="ellipse">
            <a:avLst/>
          </a:prstGeom>
          <a:solidFill>
            <a:srgbClr val="0078D4"/>
          </a:solidFill>
          <a:ln/>
        </p:spPr>
      </p:sp>
      <p:sp>
        <p:nvSpPr>
          <p:cNvPr id="20" name="Text 18"/>
          <p:cNvSpPr/>
          <p:nvPr/>
        </p:nvSpPr>
        <p:spPr>
          <a:xfrm>
            <a:off x="320040" y="3108960"/>
            <a:ext cx="27432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5</a:t>
            </a:r>
            <a:endParaRPr lang="en-US" sz="800" dirty="0"/>
          </a:p>
        </p:txBody>
      </p:sp>
      <p:sp>
        <p:nvSpPr>
          <p:cNvPr id="21" name="Text 19"/>
          <p:cNvSpPr/>
          <p:nvPr/>
        </p:nvSpPr>
        <p:spPr>
          <a:xfrm>
            <a:off x="658368" y="3108960"/>
            <a:ext cx="3611880" cy="320040"/>
          </a:xfrm>
          <a:prstGeom prst="rect">
            <a:avLst/>
          </a:prstGeom>
          <a:noFill/>
          <a:ln/>
        </p:spPr>
        <p:txBody>
          <a:bodyPr wrap="square" lIns="0" tIns="0" rIns="0" bIns="0" rtlCol="0" anchor="ctr"/>
          <a:lstStyle/>
          <a:p>
            <a:pPr indent="0" marL="0">
              <a:buNone/>
            </a:pPr>
            <a:r>
              <a:rPr lang="en-US" sz="950" dirty="0">
                <a:solidFill>
                  <a:srgbClr val="CBD5E1"/>
                </a:solidFill>
                <a:latin typeface="Calibri" pitchFamily="34" charset="0"/>
                <a:ea typeface="Calibri" pitchFamily="34" charset="-122"/>
                <a:cs typeface="Calibri" pitchFamily="34" charset="-120"/>
              </a:rPr>
              <a:t>API Gateway health endpoint returns 200 OK</a:t>
            </a:r>
            <a:endParaRPr lang="en-US" sz="950" dirty="0"/>
          </a:p>
        </p:txBody>
      </p:sp>
      <p:sp>
        <p:nvSpPr>
          <p:cNvPr id="22" name="Shape 20"/>
          <p:cNvSpPr/>
          <p:nvPr/>
        </p:nvSpPr>
        <p:spPr>
          <a:xfrm>
            <a:off x="320040" y="3538728"/>
            <a:ext cx="274320" cy="274320"/>
          </a:xfrm>
          <a:prstGeom prst="ellipse">
            <a:avLst/>
          </a:prstGeom>
          <a:solidFill>
            <a:srgbClr val="0078D4"/>
          </a:solidFill>
          <a:ln/>
        </p:spPr>
      </p:sp>
      <p:sp>
        <p:nvSpPr>
          <p:cNvPr id="23" name="Text 21"/>
          <p:cNvSpPr/>
          <p:nvPr/>
        </p:nvSpPr>
        <p:spPr>
          <a:xfrm>
            <a:off x="320040" y="3538728"/>
            <a:ext cx="27432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6</a:t>
            </a:r>
            <a:endParaRPr lang="en-US" sz="800" dirty="0"/>
          </a:p>
        </p:txBody>
      </p:sp>
      <p:sp>
        <p:nvSpPr>
          <p:cNvPr id="24" name="Text 22"/>
          <p:cNvSpPr/>
          <p:nvPr/>
        </p:nvSpPr>
        <p:spPr>
          <a:xfrm>
            <a:off x="658368" y="3538728"/>
            <a:ext cx="3611880" cy="320040"/>
          </a:xfrm>
          <a:prstGeom prst="rect">
            <a:avLst/>
          </a:prstGeom>
          <a:noFill/>
          <a:ln/>
        </p:spPr>
        <p:txBody>
          <a:bodyPr wrap="square" lIns="0" tIns="0" rIns="0" bIns="0" rtlCol="0" anchor="ctr"/>
          <a:lstStyle/>
          <a:p>
            <a:pPr indent="0" marL="0">
              <a:buNone/>
            </a:pPr>
            <a:r>
              <a:rPr lang="en-US" sz="950" dirty="0">
                <a:solidFill>
                  <a:srgbClr val="CBD5E1"/>
                </a:solidFill>
                <a:latin typeface="Calibri" pitchFamily="34" charset="0"/>
                <a:ea typeface="Calibri" pitchFamily="34" charset="-122"/>
                <a:cs typeface="Calibri" pitchFamily="34" charset="-120"/>
              </a:rPr>
              <a:t>Pod accesses Azure Storage via Workload Identity</a:t>
            </a:r>
            <a:endParaRPr lang="en-US" sz="950" dirty="0"/>
          </a:p>
        </p:txBody>
      </p:sp>
      <p:sp>
        <p:nvSpPr>
          <p:cNvPr id="25" name="Shape 23"/>
          <p:cNvSpPr/>
          <p:nvPr/>
        </p:nvSpPr>
        <p:spPr>
          <a:xfrm>
            <a:off x="320040" y="3968496"/>
            <a:ext cx="274320" cy="274320"/>
          </a:xfrm>
          <a:prstGeom prst="ellipse">
            <a:avLst/>
          </a:prstGeom>
          <a:solidFill>
            <a:srgbClr val="0078D4"/>
          </a:solidFill>
          <a:ln/>
        </p:spPr>
      </p:sp>
      <p:sp>
        <p:nvSpPr>
          <p:cNvPr id="26" name="Text 24"/>
          <p:cNvSpPr/>
          <p:nvPr/>
        </p:nvSpPr>
        <p:spPr>
          <a:xfrm>
            <a:off x="320040" y="3968496"/>
            <a:ext cx="27432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7</a:t>
            </a:r>
            <a:endParaRPr lang="en-US" sz="800" dirty="0"/>
          </a:p>
        </p:txBody>
      </p:sp>
      <p:sp>
        <p:nvSpPr>
          <p:cNvPr id="27" name="Text 25"/>
          <p:cNvSpPr/>
          <p:nvPr/>
        </p:nvSpPr>
        <p:spPr>
          <a:xfrm>
            <a:off x="658368" y="3968496"/>
            <a:ext cx="3611880" cy="320040"/>
          </a:xfrm>
          <a:prstGeom prst="rect">
            <a:avLst/>
          </a:prstGeom>
          <a:noFill/>
          <a:ln/>
        </p:spPr>
        <p:txBody>
          <a:bodyPr wrap="square" lIns="0" tIns="0" rIns="0" bIns="0" rtlCol="0" anchor="ctr"/>
          <a:lstStyle/>
          <a:p>
            <a:pPr indent="0" marL="0">
              <a:buNone/>
            </a:pPr>
            <a:r>
              <a:rPr lang="en-US" sz="950" dirty="0">
                <a:solidFill>
                  <a:srgbClr val="CBD5E1"/>
                </a:solidFill>
                <a:latin typeface="Calibri" pitchFamily="34" charset="0"/>
                <a:ea typeface="Calibri" pitchFamily="34" charset="-122"/>
                <a:cs typeface="Calibri" pitchFamily="34" charset="-120"/>
              </a:rPr>
              <a:t>AI RCA generates root cause from injected failure</a:t>
            </a:r>
            <a:endParaRPr lang="en-US" sz="950" dirty="0"/>
          </a:p>
        </p:txBody>
      </p:sp>
      <p:sp>
        <p:nvSpPr>
          <p:cNvPr id="28" name="Shape 26"/>
          <p:cNvSpPr/>
          <p:nvPr/>
        </p:nvSpPr>
        <p:spPr>
          <a:xfrm>
            <a:off x="320040" y="4398264"/>
            <a:ext cx="274320" cy="274320"/>
          </a:xfrm>
          <a:prstGeom prst="ellipse">
            <a:avLst/>
          </a:prstGeom>
          <a:solidFill>
            <a:srgbClr val="0078D4"/>
          </a:solidFill>
          <a:ln/>
        </p:spPr>
      </p:sp>
      <p:sp>
        <p:nvSpPr>
          <p:cNvPr id="29" name="Text 27"/>
          <p:cNvSpPr/>
          <p:nvPr/>
        </p:nvSpPr>
        <p:spPr>
          <a:xfrm>
            <a:off x="320040" y="4398264"/>
            <a:ext cx="27432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8</a:t>
            </a:r>
            <a:endParaRPr lang="en-US" sz="800" dirty="0"/>
          </a:p>
        </p:txBody>
      </p:sp>
      <p:sp>
        <p:nvSpPr>
          <p:cNvPr id="30" name="Text 28"/>
          <p:cNvSpPr/>
          <p:nvPr/>
        </p:nvSpPr>
        <p:spPr>
          <a:xfrm>
            <a:off x="658368" y="4398264"/>
            <a:ext cx="3611880" cy="320040"/>
          </a:xfrm>
          <a:prstGeom prst="rect">
            <a:avLst/>
          </a:prstGeom>
          <a:noFill/>
          <a:ln/>
        </p:spPr>
        <p:txBody>
          <a:bodyPr wrap="square" lIns="0" tIns="0" rIns="0" bIns="0" rtlCol="0" anchor="ctr"/>
          <a:lstStyle/>
          <a:p>
            <a:pPr indent="0" marL="0">
              <a:buNone/>
            </a:pPr>
            <a:r>
              <a:rPr lang="en-US" sz="950" dirty="0">
                <a:solidFill>
                  <a:srgbClr val="CBD5E1"/>
                </a:solidFill>
                <a:latin typeface="Calibri" pitchFamily="34" charset="0"/>
                <a:ea typeface="Calibri" pitchFamily="34" charset="-122"/>
                <a:cs typeface="Calibri" pitchFamily="34" charset="-120"/>
              </a:rPr>
              <a:t>Notification service sends email / Slack alert</a:t>
            </a:r>
            <a:endParaRPr lang="en-US" sz="950" dirty="0"/>
          </a:p>
        </p:txBody>
      </p:sp>
      <p:sp>
        <p:nvSpPr>
          <p:cNvPr id="31" name="Shape 29"/>
          <p:cNvSpPr/>
          <p:nvPr/>
        </p:nvSpPr>
        <p:spPr>
          <a:xfrm>
            <a:off x="4663440" y="868680"/>
            <a:ext cx="4251960" cy="3977640"/>
          </a:xfrm>
          <a:prstGeom prst="roundRect">
            <a:avLst>
              <a:gd name="adj" fmla="val 1839"/>
            </a:avLst>
          </a:prstGeom>
          <a:solidFill>
            <a:srgbClr val="0F2240"/>
          </a:solidFill>
          <a:ln w="19050">
            <a:solidFill>
              <a:srgbClr val="F59E0B"/>
            </a:solidFill>
            <a:prstDash val="solid"/>
          </a:ln>
          <a:effectLst>
            <a:outerShdw sx="100000" sy="100000" kx="0" ky="0" algn="bl" rotWithShape="0" blurRad="127000" dist="38100" dir="2700000">
              <a:srgbClr val="000000">
                <a:alpha val="25000"/>
              </a:srgbClr>
            </a:outerShdw>
          </a:effectLst>
        </p:spPr>
      </p:sp>
      <p:sp>
        <p:nvSpPr>
          <p:cNvPr id="32" name="Text 30"/>
          <p:cNvSpPr/>
          <p:nvPr/>
        </p:nvSpPr>
        <p:spPr>
          <a:xfrm>
            <a:off x="4800600" y="896112"/>
            <a:ext cx="3657600" cy="365760"/>
          </a:xfrm>
          <a:prstGeom prst="rect">
            <a:avLst/>
          </a:prstGeom>
          <a:noFill/>
          <a:ln/>
        </p:spPr>
        <p:txBody>
          <a:bodyPr wrap="square" lIns="0" tIns="0" rIns="0" bIns="0" rtlCol="0" anchor="ctr"/>
          <a:lstStyle/>
          <a:p>
            <a:pPr indent="0" marL="0">
              <a:buNone/>
            </a:pPr>
            <a:r>
              <a:rPr lang="en-US" sz="1300" b="1" dirty="0">
                <a:solidFill>
                  <a:srgbClr val="F59E0B"/>
                </a:solidFill>
                <a:latin typeface="Calibri" pitchFamily="34" charset="0"/>
                <a:ea typeface="Calibri" pitchFamily="34" charset="-122"/>
                <a:cs typeface="Calibri" pitchFamily="34" charset="-120"/>
              </a:rPr>
              <a:t>Future Improvements</a:t>
            </a:r>
            <a:endParaRPr lang="en-US" sz="1300" dirty="0"/>
          </a:p>
        </p:txBody>
      </p:sp>
      <p:pic>
        <p:nvPicPr>
          <p:cNvPr id="33" name="Image 0" descr="preencoded.png">    </p:cNvPr>
          <p:cNvPicPr>
            <a:picLocks noChangeAspect="1"/>
          </p:cNvPicPr>
          <p:nvPr/>
        </p:nvPicPr>
        <p:blipFill>
          <a:blip r:embed="rId1"/>
          <a:stretch>
            <a:fillRect/>
          </a:stretch>
        </p:blipFill>
        <p:spPr>
          <a:xfrm>
            <a:off x="4773168" y="1389888"/>
            <a:ext cx="256032" cy="256032"/>
          </a:xfrm>
          <a:prstGeom prst="rect">
            <a:avLst/>
          </a:prstGeom>
        </p:spPr>
      </p:pic>
      <p:sp>
        <p:nvSpPr>
          <p:cNvPr id="34" name="Text 31"/>
          <p:cNvSpPr/>
          <p:nvPr/>
        </p:nvSpPr>
        <p:spPr>
          <a:xfrm>
            <a:off x="5084064" y="1353312"/>
            <a:ext cx="1691640" cy="219456"/>
          </a:xfrm>
          <a:prstGeom prst="rect">
            <a:avLst/>
          </a:prstGeom>
          <a:noFill/>
          <a:ln/>
        </p:spPr>
        <p:txBody>
          <a:bodyPr wrap="square" lIns="0" tIns="0" rIns="0" bIns="0" rtlCol="0" anchor="ctr"/>
          <a:lstStyle/>
          <a:p>
            <a:pPr indent="0" marL="0">
              <a:buNone/>
            </a:pPr>
            <a:r>
              <a:rPr lang="en-US" sz="900" b="1" dirty="0">
                <a:solidFill>
                  <a:srgbClr val="F59E0B"/>
                </a:solidFill>
                <a:latin typeface="Calibri" pitchFamily="34" charset="0"/>
                <a:ea typeface="Calibri" pitchFamily="34" charset="-122"/>
                <a:cs typeface="Calibri" pitchFamily="34" charset="-120"/>
              </a:rPr>
              <a:t>Helm Umbrella Chart</a:t>
            </a:r>
            <a:endParaRPr lang="en-US" sz="900" dirty="0"/>
          </a:p>
        </p:txBody>
      </p:sp>
      <p:sp>
        <p:nvSpPr>
          <p:cNvPr id="35" name="Text 32"/>
          <p:cNvSpPr/>
          <p:nvPr/>
        </p:nvSpPr>
        <p:spPr>
          <a:xfrm>
            <a:off x="5084064" y="1581912"/>
            <a:ext cx="3749040" cy="201168"/>
          </a:xfrm>
          <a:prstGeom prst="rect">
            <a:avLst/>
          </a:prstGeom>
          <a:noFill/>
          <a:ln/>
        </p:spPr>
        <p:txBody>
          <a:bodyPr wrap="square" lIns="0" tIns="0" rIns="0" bIns="0" rtlCol="0" anchor="ctr"/>
          <a:lstStyle/>
          <a:p>
            <a:pPr indent="0" marL="0">
              <a:buNone/>
            </a:pPr>
            <a:r>
              <a:rPr lang="en-US" sz="850" dirty="0">
                <a:solidFill>
                  <a:srgbClr val="7B9AB5"/>
                </a:solidFill>
                <a:latin typeface="Calibri" pitchFamily="34" charset="0"/>
                <a:ea typeface="Calibri" pitchFamily="34" charset="-122"/>
                <a:cs typeface="Calibri" pitchFamily="34" charset="-120"/>
              </a:rPr>
              <a:t>Package all 8 services into a single Helm release</a:t>
            </a:r>
            <a:endParaRPr lang="en-US" sz="850" dirty="0"/>
          </a:p>
        </p:txBody>
      </p:sp>
      <p:pic>
        <p:nvPicPr>
          <p:cNvPr id="36" name="Image 1" descr="preencoded.png">    </p:cNvPr>
          <p:cNvPicPr>
            <a:picLocks noChangeAspect="1"/>
          </p:cNvPicPr>
          <p:nvPr/>
        </p:nvPicPr>
        <p:blipFill>
          <a:blip r:embed="rId2"/>
          <a:stretch>
            <a:fillRect/>
          </a:stretch>
        </p:blipFill>
        <p:spPr>
          <a:xfrm>
            <a:off x="4773168" y="1847088"/>
            <a:ext cx="256032" cy="256032"/>
          </a:xfrm>
          <a:prstGeom prst="rect">
            <a:avLst/>
          </a:prstGeom>
        </p:spPr>
      </p:pic>
      <p:sp>
        <p:nvSpPr>
          <p:cNvPr id="37" name="Text 33"/>
          <p:cNvSpPr/>
          <p:nvPr/>
        </p:nvSpPr>
        <p:spPr>
          <a:xfrm>
            <a:off x="5084064" y="1810512"/>
            <a:ext cx="1691640" cy="219456"/>
          </a:xfrm>
          <a:prstGeom prst="rect">
            <a:avLst/>
          </a:prstGeom>
          <a:noFill/>
          <a:ln/>
        </p:spPr>
        <p:txBody>
          <a:bodyPr wrap="square" lIns="0" tIns="0" rIns="0" bIns="0" rtlCol="0" anchor="ctr"/>
          <a:lstStyle/>
          <a:p>
            <a:pPr indent="0" marL="0">
              <a:buNone/>
            </a:pPr>
            <a:r>
              <a:rPr lang="en-US" sz="900" b="1" dirty="0">
                <a:solidFill>
                  <a:srgbClr val="F59E0B"/>
                </a:solidFill>
                <a:latin typeface="Calibri" pitchFamily="34" charset="0"/>
                <a:ea typeface="Calibri" pitchFamily="34" charset="-122"/>
                <a:cs typeface="Calibri" pitchFamily="34" charset="-120"/>
              </a:rPr>
              <a:t>Argo CD GitOps</a:t>
            </a:r>
            <a:endParaRPr lang="en-US" sz="900" dirty="0"/>
          </a:p>
        </p:txBody>
      </p:sp>
      <p:sp>
        <p:nvSpPr>
          <p:cNvPr id="38" name="Text 34"/>
          <p:cNvSpPr/>
          <p:nvPr/>
        </p:nvSpPr>
        <p:spPr>
          <a:xfrm>
            <a:off x="5084064" y="2039112"/>
            <a:ext cx="3749040" cy="201168"/>
          </a:xfrm>
          <a:prstGeom prst="rect">
            <a:avLst/>
          </a:prstGeom>
          <a:noFill/>
          <a:ln/>
        </p:spPr>
        <p:txBody>
          <a:bodyPr wrap="square" lIns="0" tIns="0" rIns="0" bIns="0" rtlCol="0" anchor="ctr"/>
          <a:lstStyle/>
          <a:p>
            <a:pPr indent="0" marL="0">
              <a:buNone/>
            </a:pPr>
            <a:r>
              <a:rPr lang="en-US" sz="850" dirty="0">
                <a:solidFill>
                  <a:srgbClr val="7B9AB5"/>
                </a:solidFill>
                <a:latin typeface="Calibri" pitchFamily="34" charset="0"/>
                <a:ea typeface="Calibri" pitchFamily="34" charset="-122"/>
                <a:cs typeface="Calibri" pitchFamily="34" charset="-120"/>
              </a:rPr>
              <a:t>Declarative continuous delivery with sync policies</a:t>
            </a:r>
            <a:endParaRPr lang="en-US" sz="850" dirty="0"/>
          </a:p>
        </p:txBody>
      </p:sp>
      <p:pic>
        <p:nvPicPr>
          <p:cNvPr id="39" name="Image 2" descr="preencoded.png">    </p:cNvPr>
          <p:cNvPicPr>
            <a:picLocks noChangeAspect="1"/>
          </p:cNvPicPr>
          <p:nvPr/>
        </p:nvPicPr>
        <p:blipFill>
          <a:blip r:embed="rId3"/>
          <a:stretch>
            <a:fillRect/>
          </a:stretch>
        </p:blipFill>
        <p:spPr>
          <a:xfrm>
            <a:off x="4773168" y="2304288"/>
            <a:ext cx="256032" cy="256032"/>
          </a:xfrm>
          <a:prstGeom prst="rect">
            <a:avLst/>
          </a:prstGeom>
        </p:spPr>
      </p:pic>
      <p:sp>
        <p:nvSpPr>
          <p:cNvPr id="40" name="Text 35"/>
          <p:cNvSpPr/>
          <p:nvPr/>
        </p:nvSpPr>
        <p:spPr>
          <a:xfrm>
            <a:off x="5084064" y="2267712"/>
            <a:ext cx="1691640" cy="219456"/>
          </a:xfrm>
          <a:prstGeom prst="rect">
            <a:avLst/>
          </a:prstGeom>
          <a:noFill/>
          <a:ln/>
        </p:spPr>
        <p:txBody>
          <a:bodyPr wrap="square" lIns="0" tIns="0" rIns="0" bIns="0" rtlCol="0" anchor="ctr"/>
          <a:lstStyle/>
          <a:p>
            <a:pPr indent="0" marL="0">
              <a:buNone/>
            </a:pPr>
            <a:r>
              <a:rPr lang="en-US" sz="900" b="1" dirty="0">
                <a:solidFill>
                  <a:srgbClr val="F59E0B"/>
                </a:solidFill>
                <a:latin typeface="Calibri" pitchFamily="34" charset="0"/>
                <a:ea typeface="Calibri" pitchFamily="34" charset="-122"/>
                <a:cs typeface="Calibri" pitchFamily="34" charset="-120"/>
              </a:rPr>
              <a:t>Prometheus + Grafana</a:t>
            </a:r>
            <a:endParaRPr lang="en-US" sz="900" dirty="0"/>
          </a:p>
        </p:txBody>
      </p:sp>
      <p:sp>
        <p:nvSpPr>
          <p:cNvPr id="41" name="Text 36"/>
          <p:cNvSpPr/>
          <p:nvPr/>
        </p:nvSpPr>
        <p:spPr>
          <a:xfrm>
            <a:off x="5084064" y="2496312"/>
            <a:ext cx="3749040" cy="201168"/>
          </a:xfrm>
          <a:prstGeom prst="rect">
            <a:avLst/>
          </a:prstGeom>
          <a:noFill/>
          <a:ln/>
        </p:spPr>
        <p:txBody>
          <a:bodyPr wrap="square" lIns="0" tIns="0" rIns="0" bIns="0" rtlCol="0" anchor="ctr"/>
          <a:lstStyle/>
          <a:p>
            <a:pPr indent="0" marL="0">
              <a:buNone/>
            </a:pPr>
            <a:r>
              <a:rPr lang="en-US" sz="850" dirty="0">
                <a:solidFill>
                  <a:srgbClr val="7B9AB5"/>
                </a:solidFill>
                <a:latin typeface="Calibri" pitchFamily="34" charset="0"/>
                <a:ea typeface="Calibri" pitchFamily="34" charset="-122"/>
                <a:cs typeface="Calibri" pitchFamily="34" charset="-120"/>
              </a:rPr>
              <a:t>Open-source metrics &amp; dashboards replacing Monitor</a:t>
            </a:r>
            <a:endParaRPr lang="en-US" sz="850" dirty="0"/>
          </a:p>
        </p:txBody>
      </p:sp>
      <p:pic>
        <p:nvPicPr>
          <p:cNvPr id="42" name="Image 3" descr="preencoded.png">    </p:cNvPr>
          <p:cNvPicPr>
            <a:picLocks noChangeAspect="1"/>
          </p:cNvPicPr>
          <p:nvPr/>
        </p:nvPicPr>
        <p:blipFill>
          <a:blip r:embed="rId4"/>
          <a:stretch>
            <a:fillRect/>
          </a:stretch>
        </p:blipFill>
        <p:spPr>
          <a:xfrm>
            <a:off x="4773168" y="2761488"/>
            <a:ext cx="256032" cy="256032"/>
          </a:xfrm>
          <a:prstGeom prst="rect">
            <a:avLst/>
          </a:prstGeom>
        </p:spPr>
      </p:pic>
      <p:sp>
        <p:nvSpPr>
          <p:cNvPr id="43" name="Text 37"/>
          <p:cNvSpPr/>
          <p:nvPr/>
        </p:nvSpPr>
        <p:spPr>
          <a:xfrm>
            <a:off x="5084064" y="2724912"/>
            <a:ext cx="1691640" cy="219456"/>
          </a:xfrm>
          <a:prstGeom prst="rect">
            <a:avLst/>
          </a:prstGeom>
          <a:noFill/>
          <a:ln/>
        </p:spPr>
        <p:txBody>
          <a:bodyPr wrap="square" lIns="0" tIns="0" rIns="0" bIns="0" rtlCol="0" anchor="ctr"/>
          <a:lstStyle/>
          <a:p>
            <a:pPr indent="0" marL="0">
              <a:buNone/>
            </a:pPr>
            <a:r>
              <a:rPr lang="en-US" sz="900" b="1" dirty="0">
                <a:solidFill>
                  <a:srgbClr val="F59E0B"/>
                </a:solidFill>
                <a:latin typeface="Calibri" pitchFamily="34" charset="0"/>
                <a:ea typeface="Calibri" pitchFamily="34" charset="-122"/>
                <a:cs typeface="Calibri" pitchFamily="34" charset="-120"/>
              </a:rPr>
              <a:t>Network Policies</a:t>
            </a:r>
            <a:endParaRPr lang="en-US" sz="900" dirty="0"/>
          </a:p>
        </p:txBody>
      </p:sp>
      <p:sp>
        <p:nvSpPr>
          <p:cNvPr id="44" name="Text 38"/>
          <p:cNvSpPr/>
          <p:nvPr/>
        </p:nvSpPr>
        <p:spPr>
          <a:xfrm>
            <a:off x="5084064" y="2953512"/>
            <a:ext cx="3749040" cy="201168"/>
          </a:xfrm>
          <a:prstGeom prst="rect">
            <a:avLst/>
          </a:prstGeom>
          <a:noFill/>
          <a:ln/>
        </p:spPr>
        <p:txBody>
          <a:bodyPr wrap="square" lIns="0" tIns="0" rIns="0" bIns="0" rtlCol="0" anchor="ctr"/>
          <a:lstStyle/>
          <a:p>
            <a:pPr indent="0" marL="0">
              <a:buNone/>
            </a:pPr>
            <a:r>
              <a:rPr lang="en-US" sz="850" dirty="0">
                <a:solidFill>
                  <a:srgbClr val="7B9AB5"/>
                </a:solidFill>
                <a:latin typeface="Calibri" pitchFamily="34" charset="0"/>
                <a:ea typeface="Calibri" pitchFamily="34" charset="-122"/>
                <a:cs typeface="Calibri" pitchFamily="34" charset="-120"/>
              </a:rPr>
              <a:t>Restrict pod-to-pod traffic beyond namespace isolation</a:t>
            </a:r>
            <a:endParaRPr lang="en-US" sz="850" dirty="0"/>
          </a:p>
        </p:txBody>
      </p:sp>
      <p:pic>
        <p:nvPicPr>
          <p:cNvPr id="45" name="Image 4" descr="preencoded.png">    </p:cNvPr>
          <p:cNvPicPr>
            <a:picLocks noChangeAspect="1"/>
          </p:cNvPicPr>
          <p:nvPr/>
        </p:nvPicPr>
        <p:blipFill>
          <a:blip r:embed="rId5"/>
          <a:stretch>
            <a:fillRect/>
          </a:stretch>
        </p:blipFill>
        <p:spPr>
          <a:xfrm>
            <a:off x="4773168" y="3218688"/>
            <a:ext cx="256032" cy="256032"/>
          </a:xfrm>
          <a:prstGeom prst="rect">
            <a:avLst/>
          </a:prstGeom>
        </p:spPr>
      </p:pic>
      <p:sp>
        <p:nvSpPr>
          <p:cNvPr id="46" name="Text 39"/>
          <p:cNvSpPr/>
          <p:nvPr/>
        </p:nvSpPr>
        <p:spPr>
          <a:xfrm>
            <a:off x="5084064" y="3182112"/>
            <a:ext cx="1691640" cy="219456"/>
          </a:xfrm>
          <a:prstGeom prst="rect">
            <a:avLst/>
          </a:prstGeom>
          <a:noFill/>
          <a:ln/>
        </p:spPr>
        <p:txBody>
          <a:bodyPr wrap="square" lIns="0" tIns="0" rIns="0" bIns="0" rtlCol="0" anchor="ctr"/>
          <a:lstStyle/>
          <a:p>
            <a:pPr indent="0" marL="0">
              <a:buNone/>
            </a:pPr>
            <a:r>
              <a:rPr lang="en-US" sz="900" b="1" dirty="0">
                <a:solidFill>
                  <a:srgbClr val="F59E0B"/>
                </a:solidFill>
                <a:latin typeface="Calibri" pitchFamily="34" charset="0"/>
                <a:ea typeface="Calibri" pitchFamily="34" charset="-122"/>
                <a:cs typeface="Calibri" pitchFamily="34" charset="-120"/>
              </a:rPr>
              <a:t>Multi-Region Deployment</a:t>
            </a:r>
            <a:endParaRPr lang="en-US" sz="900" dirty="0"/>
          </a:p>
        </p:txBody>
      </p:sp>
      <p:sp>
        <p:nvSpPr>
          <p:cNvPr id="47" name="Text 40"/>
          <p:cNvSpPr/>
          <p:nvPr/>
        </p:nvSpPr>
        <p:spPr>
          <a:xfrm>
            <a:off x="5084064" y="3410712"/>
            <a:ext cx="3749040" cy="201168"/>
          </a:xfrm>
          <a:prstGeom prst="rect">
            <a:avLst/>
          </a:prstGeom>
          <a:noFill/>
          <a:ln/>
        </p:spPr>
        <p:txBody>
          <a:bodyPr wrap="square" lIns="0" tIns="0" rIns="0" bIns="0" rtlCol="0" anchor="ctr"/>
          <a:lstStyle/>
          <a:p>
            <a:pPr indent="0" marL="0">
              <a:buNone/>
            </a:pPr>
            <a:r>
              <a:rPr lang="en-US" sz="850" dirty="0">
                <a:solidFill>
                  <a:srgbClr val="7B9AB5"/>
                </a:solidFill>
                <a:latin typeface="Calibri" pitchFamily="34" charset="0"/>
                <a:ea typeface="Calibri" pitchFamily="34" charset="-122"/>
                <a:cs typeface="Calibri" pitchFamily="34" charset="-120"/>
              </a:rPr>
              <a:t>Active-active across Azure regions for HA</a:t>
            </a:r>
            <a:endParaRPr lang="en-US" sz="850" dirty="0"/>
          </a:p>
        </p:txBody>
      </p:sp>
      <p:pic>
        <p:nvPicPr>
          <p:cNvPr id="48" name="Image 5" descr="preencoded.png">    </p:cNvPr>
          <p:cNvPicPr>
            <a:picLocks noChangeAspect="1"/>
          </p:cNvPicPr>
          <p:nvPr/>
        </p:nvPicPr>
        <p:blipFill>
          <a:blip r:embed="rId6"/>
          <a:stretch>
            <a:fillRect/>
          </a:stretch>
        </p:blipFill>
        <p:spPr>
          <a:xfrm>
            <a:off x="4773168" y="3675888"/>
            <a:ext cx="256032" cy="256032"/>
          </a:xfrm>
          <a:prstGeom prst="rect">
            <a:avLst/>
          </a:prstGeom>
        </p:spPr>
      </p:pic>
      <p:sp>
        <p:nvSpPr>
          <p:cNvPr id="49" name="Text 41"/>
          <p:cNvSpPr/>
          <p:nvPr/>
        </p:nvSpPr>
        <p:spPr>
          <a:xfrm>
            <a:off x="5084064" y="3639312"/>
            <a:ext cx="1691640" cy="219456"/>
          </a:xfrm>
          <a:prstGeom prst="rect">
            <a:avLst/>
          </a:prstGeom>
          <a:noFill/>
          <a:ln/>
        </p:spPr>
        <p:txBody>
          <a:bodyPr wrap="square" lIns="0" tIns="0" rIns="0" bIns="0" rtlCol="0" anchor="ctr"/>
          <a:lstStyle/>
          <a:p>
            <a:pPr indent="0" marL="0">
              <a:buNone/>
            </a:pPr>
            <a:r>
              <a:rPr lang="en-US" sz="900" b="1" dirty="0">
                <a:solidFill>
                  <a:srgbClr val="F59E0B"/>
                </a:solidFill>
                <a:latin typeface="Calibri" pitchFamily="34" charset="0"/>
                <a:ea typeface="Calibri" pitchFamily="34" charset="-122"/>
                <a:cs typeface="Calibri" pitchFamily="34" charset="-120"/>
              </a:rPr>
              <a:t>DR &amp; Backup Strategy</a:t>
            </a:r>
            <a:endParaRPr lang="en-US" sz="900" dirty="0"/>
          </a:p>
        </p:txBody>
      </p:sp>
      <p:sp>
        <p:nvSpPr>
          <p:cNvPr id="50" name="Text 42"/>
          <p:cNvSpPr/>
          <p:nvPr/>
        </p:nvSpPr>
        <p:spPr>
          <a:xfrm>
            <a:off x="5084064" y="3867912"/>
            <a:ext cx="3749040" cy="201168"/>
          </a:xfrm>
          <a:prstGeom prst="rect">
            <a:avLst/>
          </a:prstGeom>
          <a:noFill/>
          <a:ln/>
        </p:spPr>
        <p:txBody>
          <a:bodyPr wrap="square" lIns="0" tIns="0" rIns="0" bIns="0" rtlCol="0" anchor="ctr"/>
          <a:lstStyle/>
          <a:p>
            <a:pPr indent="0" marL="0">
              <a:buNone/>
            </a:pPr>
            <a:r>
              <a:rPr lang="en-US" sz="850" dirty="0">
                <a:solidFill>
                  <a:srgbClr val="7B9AB5"/>
                </a:solidFill>
                <a:latin typeface="Calibri" pitchFamily="34" charset="0"/>
                <a:ea typeface="Calibri" pitchFamily="34" charset="-122"/>
                <a:cs typeface="Calibri" pitchFamily="34" charset="-120"/>
              </a:rPr>
              <a:t>Geo-redundant storage, AKS backup, RTO/RPO targets</a:t>
            </a:r>
            <a:endParaRPr lang="en-US" sz="850" dirty="0"/>
          </a:p>
        </p:txBody>
      </p:sp>
      <p:pic>
        <p:nvPicPr>
          <p:cNvPr id="51" name="Image 6" descr="preencoded.png">    </p:cNvPr>
          <p:cNvPicPr>
            <a:picLocks noChangeAspect="1"/>
          </p:cNvPicPr>
          <p:nvPr/>
        </p:nvPicPr>
        <p:blipFill>
          <a:blip r:embed="rId7"/>
          <a:stretch>
            <a:fillRect/>
          </a:stretch>
        </p:blipFill>
        <p:spPr>
          <a:xfrm>
            <a:off x="4773168" y="4133088"/>
            <a:ext cx="256032" cy="256032"/>
          </a:xfrm>
          <a:prstGeom prst="rect">
            <a:avLst/>
          </a:prstGeom>
        </p:spPr>
      </p:pic>
      <p:sp>
        <p:nvSpPr>
          <p:cNvPr id="52" name="Text 43"/>
          <p:cNvSpPr/>
          <p:nvPr/>
        </p:nvSpPr>
        <p:spPr>
          <a:xfrm>
            <a:off x="5084064" y="4096512"/>
            <a:ext cx="1691640" cy="219456"/>
          </a:xfrm>
          <a:prstGeom prst="rect">
            <a:avLst/>
          </a:prstGeom>
          <a:noFill/>
          <a:ln/>
        </p:spPr>
        <p:txBody>
          <a:bodyPr wrap="square" lIns="0" tIns="0" rIns="0" bIns="0" rtlCol="0" anchor="ctr"/>
          <a:lstStyle/>
          <a:p>
            <a:pPr indent="0" marL="0">
              <a:buNone/>
            </a:pPr>
            <a:r>
              <a:rPr lang="en-US" sz="900" b="1" dirty="0">
                <a:solidFill>
                  <a:srgbClr val="F59E0B"/>
                </a:solidFill>
                <a:latin typeface="Calibri" pitchFamily="34" charset="0"/>
                <a:ea typeface="Calibri" pitchFamily="34" charset="-122"/>
                <a:cs typeface="Calibri" pitchFamily="34" charset="-120"/>
              </a:rPr>
              <a:t>Cost Dashboard</a:t>
            </a:r>
            <a:endParaRPr lang="en-US" sz="900" dirty="0"/>
          </a:p>
        </p:txBody>
      </p:sp>
      <p:sp>
        <p:nvSpPr>
          <p:cNvPr id="53" name="Text 44"/>
          <p:cNvSpPr/>
          <p:nvPr/>
        </p:nvSpPr>
        <p:spPr>
          <a:xfrm>
            <a:off x="5084064" y="4325112"/>
            <a:ext cx="3749040" cy="201168"/>
          </a:xfrm>
          <a:prstGeom prst="rect">
            <a:avLst/>
          </a:prstGeom>
          <a:noFill/>
          <a:ln/>
        </p:spPr>
        <p:txBody>
          <a:bodyPr wrap="square" lIns="0" tIns="0" rIns="0" bIns="0" rtlCol="0" anchor="ctr"/>
          <a:lstStyle/>
          <a:p>
            <a:pPr indent="0" marL="0">
              <a:buNone/>
            </a:pPr>
            <a:r>
              <a:rPr lang="en-US" sz="850" dirty="0">
                <a:solidFill>
                  <a:srgbClr val="7B9AB5"/>
                </a:solidFill>
                <a:latin typeface="Calibri" pitchFamily="34" charset="0"/>
                <a:ea typeface="Calibri" pitchFamily="34" charset="-122"/>
                <a:cs typeface="Calibri" pitchFamily="34" charset="-120"/>
              </a:rPr>
              <a:t>Real-time Azure cost anomaly detection and budgets</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ResolveOps AI — Cloud Native DevOps Capstone</dc:title>
  <dc:subject>PptxGenJS Presentation</dc:subject>
  <dc:creator>Sathvik</dc:creator>
  <cp:lastModifiedBy>Sathvik</cp:lastModifiedBy>
  <cp:revision>1</cp:revision>
  <dcterms:created xsi:type="dcterms:W3CDTF">2026-06-20T05:56:25Z</dcterms:created>
  <dcterms:modified xsi:type="dcterms:W3CDTF">2026-06-20T05:56:25Z</dcterms:modified>
</cp:coreProperties>
</file>